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6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Lst>
  <p:sldSz cx="12192000" cy="6858000"/>
  <p:notesSz cx="6858000" cy="9144000"/>
  <p:embeddedFontLst>
    <p:embeddedFont>
      <p:font typeface="Amatic SC" panose="00000500000000000000" pitchFamily="2" charset="-79"/>
      <p:regular r:id="rId65"/>
      <p:bold r:id="rId66"/>
    </p:embeddedFont>
    <p:embeddedFont>
      <p:font typeface="Consolas" panose="020B0609020204030204" pitchFamily="49" charset="0"/>
      <p:regular r:id="rId67"/>
      <p:bold r:id="rId68"/>
      <p:italic r:id="rId69"/>
      <p:boldItalic r:id="rId70"/>
    </p:embeddedFont>
    <p:embeddedFont>
      <p:font typeface="Play" panose="020B0604020202020204" charset="0"/>
      <p:regular r:id="rId71"/>
      <p:bold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3" roundtripDataSignature="AMtx7mgfpFa0uk1/0cX0p3BRVdUSlXNhY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6DABDC-19B1-45FA-81D7-11D77B005665}">
  <a:tblStyle styleId="{F66DABDC-19B1-45FA-81D7-11D77B00566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4660"/>
  </p:normalViewPr>
  <p:slideViewPr>
    <p:cSldViewPr snapToGrid="0">
      <p:cViewPr varScale="1">
        <p:scale>
          <a:sx n="105" d="100"/>
          <a:sy n="105" d="100"/>
        </p:scale>
        <p:origin x="76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font" Target="fonts/font4.fntdata"/><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font" Target="fonts/font2.fntdata"/><Relationship Id="rId74"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8.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font" Target="fonts/font3.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font" Target="fonts/font6.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font" Target="fonts/font1.fntdata"/><Relationship Id="rId73" Type="http://customschemas.google.com/relationships/presentationmetadata" Target="meta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font" Target="fonts/font7.fntdata"/><Relationship Id="rId2" Type="http://schemas.openxmlformats.org/officeDocument/2006/relationships/slideMaster" Target="slideMasters/slideMaster2.xml"/><Relationship Id="rId29"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l-PL"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8b89f731a7_9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38b89f731a7_9_1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Dane – opisują zjawiska ale same w sobie nic nie znaczą. Dopiero zinterpretowane dane to informacja, np. dana to temperatura = 27 stopni celcjusza, a informacja to „jest gorąco” albo „jest ciepło” -&gt; nie ma jednoznaczności.</a:t>
            </a:r>
            <a:endParaRPr/>
          </a:p>
          <a:p>
            <a:pPr marL="0" lvl="0" indent="0" algn="l" rtl="0">
              <a:spcBef>
                <a:spcPts val="0"/>
              </a:spcBef>
              <a:spcAft>
                <a:spcPts val="0"/>
              </a:spcAft>
              <a:buNone/>
            </a:pPr>
            <a:endParaRPr sz="1200"/>
          </a:p>
          <a:p>
            <a:pPr marL="0" lvl="0" indent="0" algn="l" rtl="0">
              <a:spcBef>
                <a:spcPts val="0"/>
              </a:spcBef>
              <a:spcAft>
                <a:spcPts val="0"/>
              </a:spcAft>
              <a:buNone/>
            </a:pPr>
            <a:r>
              <a:rPr lang="pl-PL" sz="1200"/>
              <a:t>Dana to zapisana w określonej formie (np. liczby, tekstu, obrazu) informacja o jakimś zjawisku, obiekcie lub procesie. Sama w sobie NIC NIE ZNACZY, musi być zinterpretowana. Możemy rozumieć trenowanie modeli jako wyciąganie informacji z danych w określonym celu</a:t>
            </a:r>
            <a:endParaRPr/>
          </a:p>
          <a:p>
            <a:pPr marL="0" lvl="0" indent="0" algn="l" rtl="0">
              <a:spcBef>
                <a:spcPts val="0"/>
              </a:spcBef>
              <a:spcAft>
                <a:spcPts val="0"/>
              </a:spcAft>
              <a:buNone/>
            </a:pPr>
            <a:endParaRPr/>
          </a:p>
        </p:txBody>
      </p:sp>
      <p:sp>
        <p:nvSpPr>
          <p:cNvPr id="206" name="Google Shape;20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Wyróżniamy modalności, czyli surowe postacie danych z którymi się spotykamy, </a:t>
            </a:r>
            <a:endParaRPr sz="1200"/>
          </a:p>
          <a:p>
            <a:pPr marL="0" lvl="0" indent="0" algn="l" rtl="0">
              <a:spcBef>
                <a:spcPts val="0"/>
              </a:spcBef>
              <a:spcAft>
                <a:spcPts val="0"/>
              </a:spcAft>
              <a:buNone/>
            </a:pPr>
            <a:endParaRPr/>
          </a:p>
        </p:txBody>
      </p:sp>
      <p:sp>
        <p:nvSpPr>
          <p:cNvPr id="217" name="Google Shape;21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Dane – opisują zjawiska ale same w sobie nic nie znaczą. Dopiero zinterpretowane dane to informacja, np. dana to temperatura = 27 stopni celcjusza, a informacja to „jest gorąco” albo „jest ciepło” -&gt; nie ma jednoznaczności.</a:t>
            </a:r>
            <a:endParaRPr/>
          </a:p>
          <a:p>
            <a:pPr marL="0" lvl="0" indent="0" algn="l" rtl="0">
              <a:spcBef>
                <a:spcPts val="0"/>
              </a:spcBef>
              <a:spcAft>
                <a:spcPts val="0"/>
              </a:spcAft>
              <a:buNone/>
            </a:pPr>
            <a:endParaRPr sz="1200"/>
          </a:p>
          <a:p>
            <a:pPr marL="0" lvl="0" indent="0" algn="l" rtl="0">
              <a:spcBef>
                <a:spcPts val="0"/>
              </a:spcBef>
              <a:spcAft>
                <a:spcPts val="0"/>
              </a:spcAft>
              <a:buNone/>
            </a:pPr>
            <a:r>
              <a:rPr lang="pl-PL" sz="1200"/>
              <a:t>Dana to zapisana w określonej formie (np. liczby, tekstu, obrazu) informacja o jakimś zjawisku, obiekcie lub procesie. Sama w sobie NIC NIE ZNACZY, musi być zinterpretowana. Możemy rozumieć trenowanie modeli jako wyciąganie informacji z danych w określonym celu</a:t>
            </a:r>
            <a:endParaRPr/>
          </a:p>
          <a:p>
            <a:pPr marL="0" lvl="0" indent="0" algn="l" rtl="0">
              <a:spcBef>
                <a:spcPts val="0"/>
              </a:spcBef>
              <a:spcAft>
                <a:spcPts val="0"/>
              </a:spcAft>
              <a:buNone/>
            </a:pPr>
            <a:endParaRPr/>
          </a:p>
        </p:txBody>
      </p:sp>
      <p:sp>
        <p:nvSpPr>
          <p:cNvPr id="236" name="Google Shape;23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Wspomnieć, że to dane na temat pingwinów</a:t>
            </a:r>
            <a:endParaRPr/>
          </a:p>
          <a:p>
            <a:pPr marL="0" lvl="0" indent="0" algn="l" rtl="0">
              <a:spcBef>
                <a:spcPts val="0"/>
              </a:spcBef>
              <a:spcAft>
                <a:spcPts val="0"/>
              </a:spcAft>
              <a:buNone/>
            </a:pPr>
            <a:r>
              <a:rPr lang="pl-PL"/>
              <a:t>Przykład danych, jak wyglądają, co możemy zrobić z nimi</a:t>
            </a:r>
            <a:endParaRPr/>
          </a:p>
          <a:p>
            <a:pPr marL="0" lvl="0" indent="0" algn="l" rtl="0">
              <a:spcBef>
                <a:spcPts val="0"/>
              </a:spcBef>
              <a:spcAft>
                <a:spcPts val="0"/>
              </a:spcAft>
              <a:buNone/>
            </a:pPr>
            <a:r>
              <a:rPr lang="pl-PL"/>
              <a:t>Wymiar, predyktor, wielkość, podkreślić brakujące dane</a:t>
            </a:r>
            <a:endParaRPr/>
          </a:p>
          <a:p>
            <a:pPr marL="0" lvl="0" indent="0" algn="l" rtl="0">
              <a:spcBef>
                <a:spcPts val="0"/>
              </a:spcBef>
              <a:spcAft>
                <a:spcPts val="0"/>
              </a:spcAft>
              <a:buNone/>
            </a:pPr>
            <a:endParaRPr/>
          </a:p>
          <a:p>
            <a:pPr marL="0" lvl="0" indent="0" algn="l" rtl="0">
              <a:spcBef>
                <a:spcPts val="0"/>
              </a:spcBef>
              <a:spcAft>
                <a:spcPts val="0"/>
              </a:spcAft>
              <a:buNone/>
            </a:pPr>
            <a:r>
              <a:rPr lang="pl-PL"/>
              <a:t>Co jest celem analizy danych? Praktyczne przykłady</a:t>
            </a:r>
            <a:endParaRPr/>
          </a:p>
          <a:p>
            <a:pPr marL="0" lvl="0" indent="0" algn="l" rtl="0">
              <a:spcBef>
                <a:spcPts val="0"/>
              </a:spcBef>
              <a:spcAft>
                <a:spcPts val="0"/>
              </a:spcAft>
              <a:buNone/>
            </a:pPr>
            <a:endParaRPr/>
          </a:p>
        </p:txBody>
      </p:sp>
      <p:sp>
        <p:nvSpPr>
          <p:cNvPr id="262" name="Google Shape;26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Wspomnieć, że to dane na temat pingwinów</a:t>
            </a:r>
            <a:endParaRPr/>
          </a:p>
          <a:p>
            <a:pPr marL="0" lvl="0" indent="0" algn="l" rtl="0">
              <a:spcBef>
                <a:spcPts val="0"/>
              </a:spcBef>
              <a:spcAft>
                <a:spcPts val="0"/>
              </a:spcAft>
              <a:buNone/>
            </a:pPr>
            <a:r>
              <a:rPr lang="pl-PL"/>
              <a:t>Przykład danych, jak wyglądają, co możemy zrobić z nimi</a:t>
            </a:r>
            <a:endParaRPr/>
          </a:p>
          <a:p>
            <a:pPr marL="0" lvl="0" indent="0" algn="l" rtl="0">
              <a:spcBef>
                <a:spcPts val="0"/>
              </a:spcBef>
              <a:spcAft>
                <a:spcPts val="0"/>
              </a:spcAft>
              <a:buNone/>
            </a:pPr>
            <a:r>
              <a:rPr lang="pl-PL"/>
              <a:t>Wymiar, predyktor, wielkość, podkreślić brakujące dane</a:t>
            </a:r>
            <a:endParaRPr/>
          </a:p>
          <a:p>
            <a:pPr marL="0" lvl="0" indent="0" algn="l" rtl="0">
              <a:spcBef>
                <a:spcPts val="0"/>
              </a:spcBef>
              <a:spcAft>
                <a:spcPts val="0"/>
              </a:spcAft>
              <a:buNone/>
            </a:pPr>
            <a:endParaRPr/>
          </a:p>
          <a:p>
            <a:pPr marL="0" lvl="0" indent="0" algn="l" rtl="0">
              <a:spcBef>
                <a:spcPts val="0"/>
              </a:spcBef>
              <a:spcAft>
                <a:spcPts val="0"/>
              </a:spcAft>
              <a:buNone/>
            </a:pPr>
            <a:r>
              <a:rPr lang="pl-PL"/>
              <a:t>Co jest celem analizy danych? Praktyczne przykłady</a:t>
            </a:r>
            <a:endParaRPr/>
          </a:p>
          <a:p>
            <a:pPr marL="0" lvl="0" indent="0" algn="l" rtl="0">
              <a:spcBef>
                <a:spcPts val="0"/>
              </a:spcBef>
              <a:spcAft>
                <a:spcPts val="0"/>
              </a:spcAft>
              <a:buNone/>
            </a:pPr>
            <a:endParaRPr/>
          </a:p>
        </p:txBody>
      </p:sp>
      <p:sp>
        <p:nvSpPr>
          <p:cNvPr id="271" name="Google Shape;271;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Wspomnieć, że to dane na temat pingwinów</a:t>
            </a:r>
            <a:endParaRPr/>
          </a:p>
          <a:p>
            <a:pPr marL="0" lvl="0" indent="0" algn="l" rtl="0">
              <a:spcBef>
                <a:spcPts val="0"/>
              </a:spcBef>
              <a:spcAft>
                <a:spcPts val="0"/>
              </a:spcAft>
              <a:buNone/>
            </a:pPr>
            <a:r>
              <a:rPr lang="pl-PL"/>
              <a:t>Przykład danych, jak wyglądają, co możemy zrobić z nimi</a:t>
            </a:r>
            <a:endParaRPr/>
          </a:p>
          <a:p>
            <a:pPr marL="0" lvl="0" indent="0" algn="l" rtl="0">
              <a:spcBef>
                <a:spcPts val="0"/>
              </a:spcBef>
              <a:spcAft>
                <a:spcPts val="0"/>
              </a:spcAft>
              <a:buNone/>
            </a:pPr>
            <a:r>
              <a:rPr lang="pl-PL"/>
              <a:t>Wymiar, predyktor, wielkość, podkreślić brakujące dane</a:t>
            </a:r>
            <a:endParaRPr/>
          </a:p>
          <a:p>
            <a:pPr marL="0" lvl="0" indent="0" algn="l" rtl="0">
              <a:spcBef>
                <a:spcPts val="0"/>
              </a:spcBef>
              <a:spcAft>
                <a:spcPts val="0"/>
              </a:spcAft>
              <a:buNone/>
            </a:pPr>
            <a:endParaRPr/>
          </a:p>
          <a:p>
            <a:pPr marL="0" lvl="0" indent="0" algn="l" rtl="0">
              <a:spcBef>
                <a:spcPts val="0"/>
              </a:spcBef>
              <a:spcAft>
                <a:spcPts val="0"/>
              </a:spcAft>
              <a:buNone/>
            </a:pPr>
            <a:r>
              <a:rPr lang="pl-PL"/>
              <a:t>Co jest celem analizy danych? Praktyczne przykłady</a:t>
            </a:r>
            <a:endParaRPr/>
          </a:p>
          <a:p>
            <a:pPr marL="0" lvl="0" indent="0" algn="l" rtl="0">
              <a:spcBef>
                <a:spcPts val="0"/>
              </a:spcBef>
              <a:spcAft>
                <a:spcPts val="0"/>
              </a:spcAft>
              <a:buNone/>
            </a:pPr>
            <a:endParaRPr/>
          </a:p>
        </p:txBody>
      </p:sp>
      <p:sp>
        <p:nvSpPr>
          <p:cNvPr id="282" name="Google Shape;282;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Wspomnieć, że to dane na temat pingwinów</a:t>
            </a:r>
            <a:endParaRPr/>
          </a:p>
          <a:p>
            <a:pPr marL="0" lvl="0" indent="0" algn="l" rtl="0">
              <a:spcBef>
                <a:spcPts val="0"/>
              </a:spcBef>
              <a:spcAft>
                <a:spcPts val="0"/>
              </a:spcAft>
              <a:buNone/>
            </a:pPr>
            <a:r>
              <a:rPr lang="pl-PL"/>
              <a:t>Przykład danych, jak wyglądają, co możemy zrobić z nimi</a:t>
            </a:r>
            <a:endParaRPr/>
          </a:p>
          <a:p>
            <a:pPr marL="0" lvl="0" indent="0" algn="l" rtl="0">
              <a:spcBef>
                <a:spcPts val="0"/>
              </a:spcBef>
              <a:spcAft>
                <a:spcPts val="0"/>
              </a:spcAft>
              <a:buNone/>
            </a:pPr>
            <a:r>
              <a:rPr lang="pl-PL"/>
              <a:t>Wymiar, predyktor, wielkość, podkreślić brakujące dane</a:t>
            </a:r>
            <a:endParaRPr/>
          </a:p>
          <a:p>
            <a:pPr marL="0" lvl="0" indent="0" algn="l" rtl="0">
              <a:spcBef>
                <a:spcPts val="0"/>
              </a:spcBef>
              <a:spcAft>
                <a:spcPts val="0"/>
              </a:spcAft>
              <a:buNone/>
            </a:pPr>
            <a:endParaRPr/>
          </a:p>
          <a:p>
            <a:pPr marL="0" lvl="0" indent="0" algn="l" rtl="0">
              <a:spcBef>
                <a:spcPts val="0"/>
              </a:spcBef>
              <a:spcAft>
                <a:spcPts val="0"/>
              </a:spcAft>
              <a:buNone/>
            </a:pPr>
            <a:r>
              <a:rPr lang="pl-PL"/>
              <a:t>Co jest celem analizy danych? Praktyczne przykłady</a:t>
            </a:r>
            <a:endParaRPr/>
          </a:p>
          <a:p>
            <a:pPr marL="0" lvl="0" indent="0" algn="l" rtl="0">
              <a:spcBef>
                <a:spcPts val="0"/>
              </a:spcBef>
              <a:spcAft>
                <a:spcPts val="0"/>
              </a:spcAft>
              <a:buNone/>
            </a:pPr>
            <a:endParaRPr/>
          </a:p>
        </p:txBody>
      </p:sp>
      <p:sp>
        <p:nvSpPr>
          <p:cNvPr id="296" name="Google Shape;296;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Przykład danych, jak wyglądają, co możemy zrobić z nimi</a:t>
            </a:r>
            <a:endParaRPr/>
          </a:p>
          <a:p>
            <a:pPr marL="0" lvl="0" indent="0" algn="l" rtl="0">
              <a:spcBef>
                <a:spcPts val="0"/>
              </a:spcBef>
              <a:spcAft>
                <a:spcPts val="0"/>
              </a:spcAft>
              <a:buNone/>
            </a:pPr>
            <a:r>
              <a:rPr lang="pl-PL"/>
              <a:t>Wymiar, predyktor, wielkość, podkreślić brakujące dane</a:t>
            </a:r>
            <a:endParaRPr/>
          </a:p>
          <a:p>
            <a:pPr marL="0" lvl="0" indent="0" algn="l" rtl="0">
              <a:spcBef>
                <a:spcPts val="0"/>
              </a:spcBef>
              <a:spcAft>
                <a:spcPts val="0"/>
              </a:spcAft>
              <a:buNone/>
            </a:pPr>
            <a:endParaRPr/>
          </a:p>
          <a:p>
            <a:pPr marL="0" lvl="0" indent="0" algn="l" rtl="0">
              <a:spcBef>
                <a:spcPts val="0"/>
              </a:spcBef>
              <a:spcAft>
                <a:spcPts val="0"/>
              </a:spcAft>
              <a:buNone/>
            </a:pPr>
            <a:r>
              <a:rPr lang="pl-PL"/>
              <a:t>Co jest celem analizy danych? Praktyczne przykłady</a:t>
            </a:r>
            <a:endParaRPr/>
          </a:p>
          <a:p>
            <a:pPr marL="0" lvl="0" indent="0" algn="l" rtl="0">
              <a:spcBef>
                <a:spcPts val="0"/>
              </a:spcBef>
              <a:spcAft>
                <a:spcPts val="0"/>
              </a:spcAft>
              <a:buNone/>
            </a:pPr>
            <a:endParaRPr/>
          </a:p>
        </p:txBody>
      </p:sp>
      <p:sp>
        <p:nvSpPr>
          <p:cNvPr id="311" name="Google Shape;31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Przykład z przewidywaniem ludzi -&gt; nie będzie danych na temat wszystkich</a:t>
            </a:r>
            <a:endParaRPr/>
          </a:p>
        </p:txBody>
      </p:sp>
      <p:sp>
        <p:nvSpPr>
          <p:cNvPr id="321" name="Google Shape;321;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8b89f731a7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g38b89f731a7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Przykład z przewidywaniem ludzi -&gt; nie będzie danych na temat wszystkich</a:t>
            </a:r>
            <a:endParaRPr/>
          </a:p>
        </p:txBody>
      </p:sp>
      <p:sp>
        <p:nvSpPr>
          <p:cNvPr id="336" name="Google Shape;336;g38b89f731a7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Predykcja wyników studentów ~ 1,000 obserwacji</a:t>
            </a:r>
            <a:endParaRPr/>
          </a:p>
          <a:p>
            <a:pPr marL="0" lvl="0" indent="0" algn="l" rtl="0">
              <a:spcBef>
                <a:spcPts val="0"/>
              </a:spcBef>
              <a:spcAft>
                <a:spcPts val="0"/>
              </a:spcAft>
              <a:buNone/>
            </a:pPr>
            <a:r>
              <a:rPr lang="pl-PL"/>
              <a:t>Klasyfikacja obrazków ~ 10,000 obrazków</a:t>
            </a:r>
            <a:endParaRPr/>
          </a:p>
          <a:p>
            <a:pPr marL="0" lvl="0" indent="0" algn="l" rtl="0">
              <a:spcBef>
                <a:spcPts val="0"/>
              </a:spcBef>
              <a:spcAft>
                <a:spcPts val="0"/>
              </a:spcAft>
              <a:buNone/>
            </a:pPr>
            <a:r>
              <a:rPr lang="pl-PL"/>
              <a:t>Analiza sentymentu modelem językowym ~ 1 000 000 000 słów</a:t>
            </a:r>
            <a:endParaRPr/>
          </a:p>
          <a:p>
            <a:pPr marL="0" lvl="0" indent="0" algn="l" rtl="0">
              <a:spcBef>
                <a:spcPts val="0"/>
              </a:spcBef>
              <a:spcAft>
                <a:spcPts val="0"/>
              </a:spcAft>
              <a:buNone/>
            </a:pPr>
            <a:r>
              <a:rPr lang="pl-PL"/>
              <a:t>Dodać odnośniki tutaj</a:t>
            </a:r>
            <a:endParaRPr/>
          </a:p>
        </p:txBody>
      </p:sp>
      <p:sp>
        <p:nvSpPr>
          <p:cNvPr id="353" name="Google Shape;353;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sz="1200"/>
              <a:t>Najpierw slajd z wyjaśnieniem, dlaczego zrozumienie danych jest ważne</a:t>
            </a:r>
            <a:endParaRPr/>
          </a:p>
          <a:p>
            <a:pPr marL="0" lvl="0" indent="0" algn="l" rtl="0">
              <a:spcBef>
                <a:spcPts val="0"/>
              </a:spcBef>
              <a:spcAft>
                <a:spcPts val="0"/>
              </a:spcAft>
              <a:buNone/>
            </a:pPr>
            <a:endParaRPr sz="1200"/>
          </a:p>
          <a:p>
            <a:pPr marL="0" lvl="0" indent="0" algn="l" rtl="0">
              <a:spcBef>
                <a:spcPts val="0"/>
              </a:spcBef>
              <a:spcAft>
                <a:spcPts val="0"/>
              </a:spcAft>
              <a:buNone/>
            </a:pPr>
            <a:r>
              <a:rPr lang="pl-PL" sz="1200"/>
              <a:t>Co prawda używa, ale możemy rozumieć analizę danych jako podejście, którego celem jest odkrycie struktury i modelu w danych.</a:t>
            </a:r>
            <a:endParaRPr/>
          </a:p>
          <a:p>
            <a:pPr marL="0" lvl="0" indent="0" algn="l" rtl="0">
              <a:spcBef>
                <a:spcPts val="0"/>
              </a:spcBef>
              <a:spcAft>
                <a:spcPts val="0"/>
              </a:spcAft>
              <a:buNone/>
            </a:pPr>
            <a:endParaRPr sz="1200"/>
          </a:p>
          <a:p>
            <a:pPr marL="0" lvl="0" indent="0" algn="l" rtl="0">
              <a:spcBef>
                <a:spcPts val="0"/>
              </a:spcBef>
              <a:spcAft>
                <a:spcPts val="0"/>
              </a:spcAft>
              <a:buNone/>
            </a:pPr>
            <a:r>
              <a:rPr lang="pl-PL" sz="1200"/>
              <a:t>Przykłady technik </a:t>
            </a:r>
            <a:endParaRPr/>
          </a:p>
        </p:txBody>
      </p:sp>
      <p:sp>
        <p:nvSpPr>
          <p:cNvPr id="368" name="Google Shape;368;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pl-PL"/>
              <a:t>Pytanie główne: W jaki sposób zachęcić użytkowników do subskrypcji?</a:t>
            </a:r>
            <a:endParaRPr/>
          </a:p>
          <a:p>
            <a:pPr marL="0" lvl="0" indent="0" algn="l" rtl="0">
              <a:spcBef>
                <a:spcPts val="0"/>
              </a:spcBef>
              <a:spcAft>
                <a:spcPts val="0"/>
              </a:spcAft>
              <a:buClr>
                <a:schemeClr val="dk1"/>
              </a:buClr>
              <a:buFont typeface="Arial"/>
              <a:buNone/>
            </a:pPr>
            <a:r>
              <a:rPr lang="pl-PL"/>
              <a:t>Pytania poboczne: jaki jest profil subskrybentów, czy dana strona byłaby bardziej odpowiednia dla konkretnej grupy, które cechy są skorelowane ze subskrypcją? Jaki jest średni wiek subskrybentów? (pokazać agregację/grupowanie)</a:t>
            </a:r>
            <a:endParaRPr/>
          </a:p>
          <a:p>
            <a:pPr marL="0" lvl="0" indent="0" algn="l" rtl="0">
              <a:spcBef>
                <a:spcPts val="0"/>
              </a:spcBef>
              <a:spcAft>
                <a:spcPts val="0"/>
              </a:spcAft>
              <a:buClr>
                <a:schemeClr val="dk1"/>
              </a:buClr>
              <a:buFont typeface="Arial"/>
              <a:buNone/>
            </a:pPr>
            <a:endParaRPr/>
          </a:p>
          <a:p>
            <a:pPr marL="0" lvl="0" indent="0" algn="l" rtl="0">
              <a:spcBef>
                <a:spcPts val="0"/>
              </a:spcBef>
              <a:spcAft>
                <a:spcPts val="0"/>
              </a:spcAft>
              <a:buClr>
                <a:schemeClr val="dk1"/>
              </a:buClr>
              <a:buFont typeface="Arial"/>
              <a:buNone/>
            </a:pPr>
            <a:r>
              <a:rPr lang="pl-PL"/>
              <a:t>Detektyw danych </a:t>
            </a:r>
            <a:endParaRPr/>
          </a:p>
          <a:p>
            <a:pPr marL="0" lvl="0" indent="0" algn="l" rtl="0">
              <a:spcBef>
                <a:spcPts val="0"/>
              </a:spcBef>
              <a:spcAft>
                <a:spcPts val="0"/>
              </a:spcAft>
              <a:buNone/>
            </a:pPr>
            <a:endParaRPr/>
          </a:p>
        </p:txBody>
      </p:sp>
      <p:sp>
        <p:nvSpPr>
          <p:cNvPr id="379" name="Google Shape;37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Pytanie główne: W jaki sposób zachęcić użytkowników do subskrypcji?</a:t>
            </a:r>
            <a:endParaRPr/>
          </a:p>
          <a:p>
            <a:pPr marL="0" lvl="0" indent="0" algn="l" rtl="0">
              <a:spcBef>
                <a:spcPts val="0"/>
              </a:spcBef>
              <a:spcAft>
                <a:spcPts val="0"/>
              </a:spcAft>
              <a:buNone/>
            </a:pPr>
            <a:r>
              <a:rPr lang="pl-PL"/>
              <a:t>Pytania poboczne: jaki jest profil subskrybentów, czy dana strona byłaby bardziej odpowiednia dla konkretnej grupy, które cechy są skorelowane ze subskrypcją? Jaki jest średni wiek subskrybentów? (pokazać agregację/grupowanie)</a:t>
            </a:r>
            <a:endParaRPr/>
          </a:p>
          <a:p>
            <a:pPr marL="0" lvl="0" indent="0" algn="l" rtl="0">
              <a:spcBef>
                <a:spcPts val="0"/>
              </a:spcBef>
              <a:spcAft>
                <a:spcPts val="0"/>
              </a:spcAft>
              <a:buNone/>
            </a:pPr>
            <a:endParaRPr/>
          </a:p>
          <a:p>
            <a:pPr marL="0" lvl="0" indent="0" algn="l" rtl="0">
              <a:spcBef>
                <a:spcPts val="0"/>
              </a:spcBef>
              <a:spcAft>
                <a:spcPts val="0"/>
              </a:spcAft>
              <a:buNone/>
            </a:pPr>
            <a:r>
              <a:rPr lang="pl-PL"/>
              <a:t>Wyjaśnić, dlaczego dodaliśmy kolumne</a:t>
            </a:r>
            <a:endParaRPr/>
          </a:p>
          <a:p>
            <a:pPr marL="0" lvl="0" indent="0" algn="l" rtl="0">
              <a:spcBef>
                <a:spcPts val="0"/>
              </a:spcBef>
              <a:spcAft>
                <a:spcPts val="0"/>
              </a:spcAft>
              <a:buNone/>
            </a:pPr>
            <a:endParaRPr/>
          </a:p>
        </p:txBody>
      </p:sp>
      <p:sp>
        <p:nvSpPr>
          <p:cNvPr id="391" name="Google Shape;39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Pytanie główne: W jaki sposób zachęcić użytkowników do subskrypcji?</a:t>
            </a:r>
            <a:endParaRPr/>
          </a:p>
          <a:p>
            <a:pPr marL="0" lvl="0" indent="0" algn="l" rtl="0">
              <a:spcBef>
                <a:spcPts val="0"/>
              </a:spcBef>
              <a:spcAft>
                <a:spcPts val="0"/>
              </a:spcAft>
              <a:buNone/>
            </a:pPr>
            <a:r>
              <a:rPr lang="pl-PL"/>
              <a:t>Pytania poboczne: jaki jest profil subskrybentów, czy dana strona byłaby bardziej odpowiednia dla konkretnej grupy, które cechy są skorelowane ze subskrypcją? Jaki jest średni wiek subskrybentów? (pokazać agregację/grupowanie)</a:t>
            </a:r>
            <a:endParaRPr/>
          </a:p>
          <a:p>
            <a:pPr marL="0" lvl="0" indent="0" algn="l" rtl="0">
              <a:spcBef>
                <a:spcPts val="0"/>
              </a:spcBef>
              <a:spcAft>
                <a:spcPts val="0"/>
              </a:spcAft>
              <a:buNone/>
            </a:pPr>
            <a:endParaRPr/>
          </a:p>
          <a:p>
            <a:pPr marL="0" lvl="0" indent="0" algn="l" rtl="0">
              <a:spcBef>
                <a:spcPts val="0"/>
              </a:spcBef>
              <a:spcAft>
                <a:spcPts val="0"/>
              </a:spcAft>
              <a:buNone/>
            </a:pPr>
            <a:r>
              <a:rPr lang="pl-PL"/>
              <a:t>Wyjaśnić, dlaczego dodaliśmy kolumne</a:t>
            </a:r>
            <a:endParaRPr/>
          </a:p>
          <a:p>
            <a:pPr marL="0" lvl="0" indent="0" algn="l" rtl="0">
              <a:spcBef>
                <a:spcPts val="0"/>
              </a:spcBef>
              <a:spcAft>
                <a:spcPts val="0"/>
              </a:spcAft>
              <a:buNone/>
            </a:pPr>
            <a:endParaRPr/>
          </a:p>
        </p:txBody>
      </p:sp>
      <p:sp>
        <p:nvSpPr>
          <p:cNvPr id="402" name="Google Shape;402;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Pytanie główne: W jaki sposób zachęcić użytkowników do subskrypcji?</a:t>
            </a:r>
            <a:endParaRPr/>
          </a:p>
          <a:p>
            <a:pPr marL="0" lvl="0" indent="0" algn="l" rtl="0">
              <a:spcBef>
                <a:spcPts val="0"/>
              </a:spcBef>
              <a:spcAft>
                <a:spcPts val="0"/>
              </a:spcAft>
              <a:buNone/>
            </a:pPr>
            <a:r>
              <a:rPr lang="pl-PL"/>
              <a:t>Pytania poboczne: jaki jest profil subskrybentów, czy dana strona byłaby bardziej odpowiednia dla konkretnej grupy, które cechy są skorelowane ze subskrypcją? Jaki jest średni wiek subskrybentów? (pokazać agregację/grupowanie)</a:t>
            </a:r>
            <a:endParaRPr/>
          </a:p>
          <a:p>
            <a:pPr marL="0" lvl="0" indent="0" algn="l" rtl="0">
              <a:spcBef>
                <a:spcPts val="0"/>
              </a:spcBef>
              <a:spcAft>
                <a:spcPts val="0"/>
              </a:spcAft>
              <a:buNone/>
            </a:pPr>
            <a:endParaRPr/>
          </a:p>
          <a:p>
            <a:pPr marL="0" lvl="0" indent="0" algn="l" rtl="0">
              <a:spcBef>
                <a:spcPts val="0"/>
              </a:spcBef>
              <a:spcAft>
                <a:spcPts val="0"/>
              </a:spcAft>
              <a:buNone/>
            </a:pPr>
            <a:r>
              <a:rPr lang="pl-PL"/>
              <a:t>Wyjaśnić, dlaczego dodaliśmy kolumne</a:t>
            </a:r>
            <a:endParaRPr/>
          </a:p>
          <a:p>
            <a:pPr marL="0" lvl="0" indent="0" algn="l" rtl="0">
              <a:spcBef>
                <a:spcPts val="0"/>
              </a:spcBef>
              <a:spcAft>
                <a:spcPts val="0"/>
              </a:spcAft>
              <a:buNone/>
            </a:pPr>
            <a:endParaRPr/>
          </a:p>
        </p:txBody>
      </p:sp>
      <p:sp>
        <p:nvSpPr>
          <p:cNvPr id="417" name="Google Shape;417;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3" name="Google Shape;43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Pytanie główne: W jaki sposób zachęcić użytkowników do subskrypcji?</a:t>
            </a:r>
            <a:endParaRPr/>
          </a:p>
          <a:p>
            <a:pPr marL="0" lvl="0" indent="0" algn="l" rtl="0">
              <a:spcBef>
                <a:spcPts val="0"/>
              </a:spcBef>
              <a:spcAft>
                <a:spcPts val="0"/>
              </a:spcAft>
              <a:buNone/>
            </a:pPr>
            <a:r>
              <a:rPr lang="pl-PL"/>
              <a:t>Pytania poboczne: jaki jest profil subskrybentów, czy dana strona byłaby bardziej odpowiednia dla konkretnej grupy, które cechy są skorelowane ze subskrypcją? Jaki jest średni wiek subskrybentów? (pokazać agregację/grupowanie)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pl-PL"/>
              <a:t>DLA NICH – NIECH ZAJRZĄ DO NOTATNIKA</a:t>
            </a:r>
            <a:endParaRPr/>
          </a:p>
        </p:txBody>
      </p:sp>
      <p:sp>
        <p:nvSpPr>
          <p:cNvPr id="434" name="Google Shape;434;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1" name="Google Shape;441;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pl-PL"/>
              <a:t>Tutaj to co w notatniku mniej więcej, po co to się robi i do czego można wykorzystać</a:t>
            </a:r>
            <a:endParaRPr/>
          </a:p>
          <a:p>
            <a:pPr marL="0" lvl="0" indent="0" algn="l" rtl="0">
              <a:spcBef>
                <a:spcPts val="0"/>
              </a:spcBef>
              <a:spcAft>
                <a:spcPts val="0"/>
              </a:spcAft>
              <a:buClr>
                <a:schemeClr val="dk1"/>
              </a:buClr>
              <a:buSzPts val="1200"/>
              <a:buFont typeface="Arial"/>
              <a:buNone/>
            </a:pPr>
            <a:endParaRPr/>
          </a:p>
        </p:txBody>
      </p:sp>
      <p:sp>
        <p:nvSpPr>
          <p:cNvPr id="442" name="Google Shape;442;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Najpierw należy się przyjrzeć jakie w ogóle mamy zmienne – jaki typ, jaki rozkład, co dana zmienna tak naprawdę znaczy</a:t>
            </a:r>
            <a:endParaRPr/>
          </a:p>
          <a:p>
            <a:pPr marL="0" lvl="0" indent="0" algn="l" rtl="0">
              <a:spcBef>
                <a:spcPts val="0"/>
              </a:spcBef>
              <a:spcAft>
                <a:spcPts val="0"/>
              </a:spcAft>
              <a:buNone/>
            </a:pPr>
            <a:r>
              <a:rPr lang="pl-PL"/>
              <a:t>Na danych „zmiennych” budujemy model</a:t>
            </a:r>
            <a:endParaRPr/>
          </a:p>
          <a:p>
            <a:pPr marL="0" lvl="0" indent="0" algn="l" rtl="0">
              <a:spcBef>
                <a:spcPts val="0"/>
              </a:spcBef>
              <a:spcAft>
                <a:spcPts val="0"/>
              </a:spcAft>
              <a:buNone/>
            </a:pPr>
            <a:r>
              <a:rPr lang="pl-PL"/>
              <a:t>Aby wejrzeć w zmienną musimy sprawdzić jej rozkład, nie każdy rozkład nadaje się do każdego modelu</a:t>
            </a:r>
            <a:endParaRPr/>
          </a:p>
        </p:txBody>
      </p:sp>
      <p:sp>
        <p:nvSpPr>
          <p:cNvPr id="464" name="Google Shape;464;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8b89f731a7_1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8b89f731a7_1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g38b89f731a7_1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Jak outlier wpływa na model?</a:t>
            </a:r>
            <a:endParaRPr/>
          </a:p>
          <a:p>
            <a:pPr marL="0" lvl="0" indent="0" algn="l" rtl="0">
              <a:spcBef>
                <a:spcPts val="0"/>
              </a:spcBef>
              <a:spcAft>
                <a:spcPts val="0"/>
              </a:spcAft>
              <a:buNone/>
            </a:pPr>
            <a:r>
              <a:rPr lang="pl-PL"/>
              <a:t>Co jest outlierem, mogą wyglądać różnie</a:t>
            </a:r>
            <a:endParaRPr/>
          </a:p>
          <a:p>
            <a:pPr marL="0" lvl="0" indent="0" algn="l" rtl="0">
              <a:spcBef>
                <a:spcPts val="0"/>
              </a:spcBef>
              <a:spcAft>
                <a:spcPts val="0"/>
              </a:spcAft>
              <a:buNone/>
            </a:pPr>
            <a:r>
              <a:rPr lang="pl-PL"/>
              <a:t>Dlaczego coś jest outlierem</a:t>
            </a:r>
            <a:endParaRPr/>
          </a:p>
        </p:txBody>
      </p:sp>
      <p:sp>
        <p:nvSpPr>
          <p:cNvPr id="483" name="Google Shape;483;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0" name="Google Shape;490;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Nie zawsze scattera zrobimy, musimy mieć wartość x i y</a:t>
            </a:r>
            <a:endParaRPr/>
          </a:p>
          <a:p>
            <a:pPr marL="0" lvl="0" indent="0" algn="l" rtl="0">
              <a:spcBef>
                <a:spcPts val="0"/>
              </a:spcBef>
              <a:spcAft>
                <a:spcPts val="0"/>
              </a:spcAft>
              <a:buNone/>
            </a:pPr>
            <a:r>
              <a:rPr lang="pl-PL"/>
              <a:t>Dla pojedynczej zmiennej najlepiej zrobić boxplot</a:t>
            </a:r>
            <a:endParaRPr/>
          </a:p>
        </p:txBody>
      </p:sp>
      <p:sp>
        <p:nvSpPr>
          <p:cNvPr id="491" name="Google Shape;491;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8b89f731a7_9_2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8b89f731a7_9_2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9" name="Google Shape;539;g38b89f731a7_9_2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l-PL"/>
              <a:t>Wspomnieć ze dane kategorialne można przedstawiać tak o a nie histogramem</a:t>
            </a:r>
            <a:endParaRPr/>
          </a:p>
          <a:p>
            <a:pPr marL="0" lvl="0" indent="0" algn="l" rtl="0">
              <a:spcBef>
                <a:spcPts val="0"/>
              </a:spcBef>
              <a:spcAft>
                <a:spcPts val="0"/>
              </a:spcAft>
              <a:buNone/>
            </a:pPr>
            <a:r>
              <a:rPr lang="pl-PL"/>
              <a:t>Dodac wykres kiedy chcemy pokazac ze smoker i age na jednym wykresie</a:t>
            </a:r>
            <a:endParaRPr/>
          </a:p>
        </p:txBody>
      </p:sp>
      <p:sp>
        <p:nvSpPr>
          <p:cNvPr id="551" name="Google Shape;551;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3" name="Google Shape;573;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9" name="Google Shape;57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8b89f731a7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8b89f731a7_0_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g38b89f731a7_0_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8b89f731a7_2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38b89f731a7_2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3" name="Google Shape;593;g38b89f731a7_2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8b89f731a7_2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38b89f731a7_2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0" name="Google Shape;600;g38b89f731a7_2_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38b89f731a7_2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38b89f731a7_2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g38b89f731a7_2_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38b89f731a7_2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38b89f731a7_2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g38b89f731a7_2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38b89f731a7_2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38b89f731a7_2_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g38b89f731a7_2_5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38b89f731a7_2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38b89f731a7_2_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7" name="Google Shape;627;g38b89f731a7_2_5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38b89f731a7_2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4" name="Google Shape;634;g38b89f731a7_2_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5" name="Google Shape;635;g38b89f731a7_2_6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8b89f731a7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38b89f731a7_0_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g38b89f731a7_0_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38b89f731a7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38b89f731a7_0_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g38b89f731a7_0_7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l-PL"/>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8b89f731a7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8b89f731a7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g38b89f731a7_0_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8b89f731a7_0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38b89f731a7_0_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2" name="Google Shape;662;g38b89f731a7_0_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38b89f731a7_0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38b89f731a7_0_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g38b89f731a7_0_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38b89f731a7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38b89f731a7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g38b89f731a7_0_6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f61d2940f9_1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3f61d2940f9_1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2" name="Google Shape;682;g3f61d2940f9_1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8b89f731a7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38b89f731a7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8" name="Google Shape;688;g38b89f731a7_1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3f61d2940f9_1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3f61d2940f9_1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5" name="Google Shape;695;g3f61d2940f9_1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38b89f731a7_1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38b89f731a7_1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g38b89f731a7_1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38b89f731a7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38b89f731a7_1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9" name="Google Shape;709;g38b89f731a7_1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38b89f731a7_2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38b89f731a7_2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g38b89f731a7_2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8b89f731a7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38b89f731a7_0_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1" name="Google Shape;721;g38b89f731a7_0_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8b89f731a7_2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38b89f731a7_2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g38b89f731a7_2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2" name="Google Shape;732;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50"/>
          <p:cNvSpPr txBox="1">
            <a:spLocks noGrp="1"/>
          </p:cNvSpPr>
          <p:nvPr>
            <p:ph type="ctrTitle"/>
          </p:nvPr>
        </p:nvSpPr>
        <p:spPr>
          <a:xfrm>
            <a:off x="415611" y="992767"/>
            <a:ext cx="11360800" cy="27368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a:endParaRPr/>
          </a:p>
        </p:txBody>
      </p:sp>
      <p:sp>
        <p:nvSpPr>
          <p:cNvPr id="15" name="Google Shape;15;p50"/>
          <p:cNvSpPr txBox="1">
            <a:spLocks noGrp="1"/>
          </p:cNvSpPr>
          <p:nvPr>
            <p:ph type="subTitle" idx="1"/>
          </p:nvPr>
        </p:nvSpPr>
        <p:spPr>
          <a:xfrm>
            <a:off x="415600" y="3778833"/>
            <a:ext cx="11360800" cy="10568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6" name="Google Shape;16;p5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b="0" i="0" u="none" strike="noStrike" cap="none">
                <a:solidFill>
                  <a:schemeClr val="dk2"/>
                </a:solidFill>
                <a:latin typeface="Arial"/>
                <a:ea typeface="Arial"/>
                <a:cs typeface="Arial"/>
                <a:sym typeface="Arial"/>
              </a:defRPr>
            </a:lvl1pPr>
            <a:lvl2pPr marL="0" lvl="1" indent="0" algn="r">
              <a:buClr>
                <a:schemeClr val="dk2"/>
              </a:buClr>
              <a:buSzPts val="1333"/>
              <a:buFont typeface="Arial"/>
              <a:buNone/>
              <a:defRPr sz="1333" b="0" i="0" u="none" strike="noStrike" cap="none">
                <a:solidFill>
                  <a:schemeClr val="dk2"/>
                </a:solidFill>
                <a:latin typeface="Arial"/>
                <a:ea typeface="Arial"/>
                <a:cs typeface="Arial"/>
                <a:sym typeface="Arial"/>
              </a:defRPr>
            </a:lvl2pPr>
            <a:lvl3pPr marL="0" lvl="2" indent="0" algn="r">
              <a:buClr>
                <a:schemeClr val="dk2"/>
              </a:buClr>
              <a:buSzPts val="1333"/>
              <a:buFont typeface="Arial"/>
              <a:buNone/>
              <a:defRPr sz="1333" b="0" i="0" u="none" strike="noStrike" cap="none">
                <a:solidFill>
                  <a:schemeClr val="dk2"/>
                </a:solidFill>
                <a:latin typeface="Arial"/>
                <a:ea typeface="Arial"/>
                <a:cs typeface="Arial"/>
                <a:sym typeface="Arial"/>
              </a:defRPr>
            </a:lvl3pPr>
            <a:lvl4pPr marL="0" lvl="3" indent="0" algn="r">
              <a:buClr>
                <a:schemeClr val="dk2"/>
              </a:buClr>
              <a:buSzPts val="1333"/>
              <a:buFont typeface="Arial"/>
              <a:buNone/>
              <a:defRPr sz="1333" b="0" i="0" u="none" strike="noStrike" cap="none">
                <a:solidFill>
                  <a:schemeClr val="dk2"/>
                </a:solidFill>
                <a:latin typeface="Arial"/>
                <a:ea typeface="Arial"/>
                <a:cs typeface="Arial"/>
                <a:sym typeface="Arial"/>
              </a:defRPr>
            </a:lvl4pPr>
            <a:lvl5pPr marL="0" lvl="4" indent="0" algn="r">
              <a:buClr>
                <a:schemeClr val="dk2"/>
              </a:buClr>
              <a:buSzPts val="1333"/>
              <a:buFont typeface="Arial"/>
              <a:buNone/>
              <a:defRPr sz="1333" b="0" i="0" u="none" strike="noStrike" cap="none">
                <a:solidFill>
                  <a:schemeClr val="dk2"/>
                </a:solidFill>
                <a:latin typeface="Arial"/>
                <a:ea typeface="Arial"/>
                <a:cs typeface="Arial"/>
                <a:sym typeface="Arial"/>
              </a:defRPr>
            </a:lvl5pPr>
            <a:lvl6pPr marL="0" lvl="5" indent="0" algn="r">
              <a:buClr>
                <a:schemeClr val="dk2"/>
              </a:buClr>
              <a:buSzPts val="1333"/>
              <a:buFont typeface="Arial"/>
              <a:buNone/>
              <a:defRPr sz="1333" b="0" i="0" u="none" strike="noStrike" cap="none">
                <a:solidFill>
                  <a:schemeClr val="dk2"/>
                </a:solidFill>
                <a:latin typeface="Arial"/>
                <a:ea typeface="Arial"/>
                <a:cs typeface="Arial"/>
                <a:sym typeface="Arial"/>
              </a:defRPr>
            </a:lvl6pPr>
            <a:lvl7pPr marL="0" lvl="6" indent="0" algn="r">
              <a:buClr>
                <a:schemeClr val="dk2"/>
              </a:buClr>
              <a:buSzPts val="1333"/>
              <a:buFont typeface="Arial"/>
              <a:buNone/>
              <a:defRPr sz="1333" b="0" i="0" u="none" strike="noStrike" cap="none">
                <a:solidFill>
                  <a:schemeClr val="dk2"/>
                </a:solidFill>
                <a:latin typeface="Arial"/>
                <a:ea typeface="Arial"/>
                <a:cs typeface="Arial"/>
                <a:sym typeface="Arial"/>
              </a:defRPr>
            </a:lvl7pPr>
            <a:lvl8pPr marL="0" lvl="7" indent="0" algn="r">
              <a:buClr>
                <a:schemeClr val="dk2"/>
              </a:buClr>
              <a:buSzPts val="1333"/>
              <a:buFont typeface="Arial"/>
              <a:buNone/>
              <a:defRPr sz="1333" b="0" i="0" u="none" strike="noStrike" cap="none">
                <a:solidFill>
                  <a:schemeClr val="dk2"/>
                </a:solidFill>
                <a:latin typeface="Arial"/>
                <a:ea typeface="Arial"/>
                <a:cs typeface="Arial"/>
                <a:sym typeface="Arial"/>
              </a:defRPr>
            </a:lvl8pPr>
            <a:lvl9pPr marL="0" lvl="8" indent="0" algn="r">
              <a:buClr>
                <a:schemeClr val="dk2"/>
              </a:buClr>
              <a:buSzPts val="1333"/>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63"/>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a:endParaRPr/>
          </a:p>
        </p:txBody>
      </p:sp>
      <p:sp>
        <p:nvSpPr>
          <p:cNvPr id="19" name="Google Shape;19;p6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6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3" name="Google Shape;23;p6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65"/>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 name="Google Shape;26;p65"/>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0"/>
              </a:spcBef>
              <a:spcAft>
                <a:spcPts val="0"/>
              </a:spcAft>
              <a:buSzPts val="1200"/>
              <a:buChar char="○"/>
              <a:defRPr sz="1600"/>
            </a:lvl2pPr>
            <a:lvl3pPr marL="1371600" lvl="2" indent="-304800" algn="l">
              <a:lnSpc>
                <a:spcPct val="115000"/>
              </a:lnSpc>
              <a:spcBef>
                <a:spcPts val="0"/>
              </a:spcBef>
              <a:spcAft>
                <a:spcPts val="0"/>
              </a:spcAft>
              <a:buSzPts val="1200"/>
              <a:buChar char="■"/>
              <a:defRPr sz="1600"/>
            </a:lvl3pPr>
            <a:lvl4pPr marL="1828800" lvl="3" indent="-304800" algn="l">
              <a:lnSpc>
                <a:spcPct val="115000"/>
              </a:lnSpc>
              <a:spcBef>
                <a:spcPts val="0"/>
              </a:spcBef>
              <a:spcAft>
                <a:spcPts val="0"/>
              </a:spcAft>
              <a:buSzPts val="1200"/>
              <a:buChar char="●"/>
              <a:defRPr sz="1600"/>
            </a:lvl4pPr>
            <a:lvl5pPr marL="2286000" lvl="4" indent="-304800" algn="l">
              <a:lnSpc>
                <a:spcPct val="115000"/>
              </a:lnSpc>
              <a:spcBef>
                <a:spcPts val="0"/>
              </a:spcBef>
              <a:spcAft>
                <a:spcPts val="0"/>
              </a:spcAft>
              <a:buSzPts val="1200"/>
              <a:buChar char="○"/>
              <a:defRPr sz="1600"/>
            </a:lvl5pPr>
            <a:lvl6pPr marL="2743200" lvl="5" indent="-304800" algn="l">
              <a:lnSpc>
                <a:spcPct val="115000"/>
              </a:lnSpc>
              <a:spcBef>
                <a:spcPts val="0"/>
              </a:spcBef>
              <a:spcAft>
                <a:spcPts val="0"/>
              </a:spcAft>
              <a:buSzPts val="1200"/>
              <a:buChar char="■"/>
              <a:defRPr sz="1600"/>
            </a:lvl6pPr>
            <a:lvl7pPr marL="3200400" lvl="6" indent="-304800" algn="l">
              <a:lnSpc>
                <a:spcPct val="115000"/>
              </a:lnSpc>
              <a:spcBef>
                <a:spcPts val="0"/>
              </a:spcBef>
              <a:spcAft>
                <a:spcPts val="0"/>
              </a:spcAft>
              <a:buSzPts val="1200"/>
              <a:buChar char="●"/>
              <a:defRPr sz="1600"/>
            </a:lvl7pPr>
            <a:lvl8pPr marL="3657600" lvl="7" indent="-304800" algn="l">
              <a:lnSpc>
                <a:spcPct val="115000"/>
              </a:lnSpc>
              <a:spcBef>
                <a:spcPts val="0"/>
              </a:spcBef>
              <a:spcAft>
                <a:spcPts val="0"/>
              </a:spcAft>
              <a:buSzPts val="1200"/>
              <a:buChar char="○"/>
              <a:defRPr sz="1600"/>
            </a:lvl8pPr>
            <a:lvl9pPr marL="4114800" lvl="8" indent="-304800" algn="l">
              <a:lnSpc>
                <a:spcPct val="115000"/>
              </a:lnSpc>
              <a:spcBef>
                <a:spcPts val="0"/>
              </a:spcBef>
              <a:spcAft>
                <a:spcPts val="0"/>
              </a:spcAft>
              <a:buSzPts val="1200"/>
              <a:buChar char="■"/>
              <a:defRPr sz="1600"/>
            </a:lvl9pPr>
          </a:lstStyle>
          <a:p>
            <a:endParaRPr/>
          </a:p>
        </p:txBody>
      </p:sp>
      <p:sp>
        <p:nvSpPr>
          <p:cNvPr id="27" name="Google Shape;27;p65"/>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0"/>
              </a:spcBef>
              <a:spcAft>
                <a:spcPts val="0"/>
              </a:spcAft>
              <a:buSzPts val="1200"/>
              <a:buChar char="○"/>
              <a:defRPr sz="1600"/>
            </a:lvl2pPr>
            <a:lvl3pPr marL="1371600" lvl="2" indent="-304800" algn="l">
              <a:lnSpc>
                <a:spcPct val="115000"/>
              </a:lnSpc>
              <a:spcBef>
                <a:spcPts val="0"/>
              </a:spcBef>
              <a:spcAft>
                <a:spcPts val="0"/>
              </a:spcAft>
              <a:buSzPts val="1200"/>
              <a:buChar char="■"/>
              <a:defRPr sz="1600"/>
            </a:lvl3pPr>
            <a:lvl4pPr marL="1828800" lvl="3" indent="-304800" algn="l">
              <a:lnSpc>
                <a:spcPct val="115000"/>
              </a:lnSpc>
              <a:spcBef>
                <a:spcPts val="0"/>
              </a:spcBef>
              <a:spcAft>
                <a:spcPts val="0"/>
              </a:spcAft>
              <a:buSzPts val="1200"/>
              <a:buChar char="●"/>
              <a:defRPr sz="1600"/>
            </a:lvl4pPr>
            <a:lvl5pPr marL="2286000" lvl="4" indent="-304800" algn="l">
              <a:lnSpc>
                <a:spcPct val="115000"/>
              </a:lnSpc>
              <a:spcBef>
                <a:spcPts val="0"/>
              </a:spcBef>
              <a:spcAft>
                <a:spcPts val="0"/>
              </a:spcAft>
              <a:buSzPts val="1200"/>
              <a:buChar char="○"/>
              <a:defRPr sz="1600"/>
            </a:lvl5pPr>
            <a:lvl6pPr marL="2743200" lvl="5" indent="-304800" algn="l">
              <a:lnSpc>
                <a:spcPct val="115000"/>
              </a:lnSpc>
              <a:spcBef>
                <a:spcPts val="0"/>
              </a:spcBef>
              <a:spcAft>
                <a:spcPts val="0"/>
              </a:spcAft>
              <a:buSzPts val="1200"/>
              <a:buChar char="■"/>
              <a:defRPr sz="1600"/>
            </a:lvl6pPr>
            <a:lvl7pPr marL="3200400" lvl="6" indent="-304800" algn="l">
              <a:lnSpc>
                <a:spcPct val="115000"/>
              </a:lnSpc>
              <a:spcBef>
                <a:spcPts val="0"/>
              </a:spcBef>
              <a:spcAft>
                <a:spcPts val="0"/>
              </a:spcAft>
              <a:buSzPts val="1200"/>
              <a:buChar char="●"/>
              <a:defRPr sz="1600"/>
            </a:lvl7pPr>
            <a:lvl8pPr marL="3657600" lvl="7" indent="-304800" algn="l">
              <a:lnSpc>
                <a:spcPct val="115000"/>
              </a:lnSpc>
              <a:spcBef>
                <a:spcPts val="0"/>
              </a:spcBef>
              <a:spcAft>
                <a:spcPts val="0"/>
              </a:spcAft>
              <a:buSzPts val="1200"/>
              <a:buChar char="○"/>
              <a:defRPr sz="1600"/>
            </a:lvl8pPr>
            <a:lvl9pPr marL="4114800" lvl="8" indent="-304800" algn="l">
              <a:lnSpc>
                <a:spcPct val="115000"/>
              </a:lnSpc>
              <a:spcBef>
                <a:spcPts val="0"/>
              </a:spcBef>
              <a:spcAft>
                <a:spcPts val="0"/>
              </a:spcAft>
              <a:buSzPts val="1200"/>
              <a:buChar char="■"/>
              <a:defRPr sz="1600"/>
            </a:lvl9pPr>
          </a:lstStyle>
          <a:p>
            <a:endParaRPr/>
          </a:p>
        </p:txBody>
      </p:sp>
      <p:sp>
        <p:nvSpPr>
          <p:cNvPr id="28" name="Google Shape;28;p6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6"/>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 name="Google Shape;31;p6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
        <p:cNvGrpSpPr/>
        <p:nvPr/>
      </p:nvGrpSpPr>
      <p:grpSpPr>
        <a:xfrm>
          <a:off x="0" y="0"/>
          <a:ext cx="0" cy="0"/>
          <a:chOff x="0" y="0"/>
          <a:chExt cx="0" cy="0"/>
        </a:xfrm>
      </p:grpSpPr>
      <p:sp>
        <p:nvSpPr>
          <p:cNvPr id="33" name="Google Shape;33;p67"/>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4" name="Google Shape;34;p67"/>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600"/>
            </a:lvl1pPr>
            <a:lvl2pPr marL="914400" lvl="1" indent="-304800" algn="l">
              <a:lnSpc>
                <a:spcPct val="115000"/>
              </a:lnSpc>
              <a:spcBef>
                <a:spcPts val="0"/>
              </a:spcBef>
              <a:spcAft>
                <a:spcPts val="0"/>
              </a:spcAft>
              <a:buSzPts val="1200"/>
              <a:buChar char="○"/>
              <a:defRPr sz="1600"/>
            </a:lvl2pPr>
            <a:lvl3pPr marL="1371600" lvl="2" indent="-304800" algn="l">
              <a:lnSpc>
                <a:spcPct val="115000"/>
              </a:lnSpc>
              <a:spcBef>
                <a:spcPts val="0"/>
              </a:spcBef>
              <a:spcAft>
                <a:spcPts val="0"/>
              </a:spcAft>
              <a:buSzPts val="1200"/>
              <a:buChar char="■"/>
              <a:defRPr sz="1600"/>
            </a:lvl3pPr>
            <a:lvl4pPr marL="1828800" lvl="3" indent="-304800" algn="l">
              <a:lnSpc>
                <a:spcPct val="115000"/>
              </a:lnSpc>
              <a:spcBef>
                <a:spcPts val="0"/>
              </a:spcBef>
              <a:spcAft>
                <a:spcPts val="0"/>
              </a:spcAft>
              <a:buSzPts val="1200"/>
              <a:buChar char="●"/>
              <a:defRPr sz="1600"/>
            </a:lvl4pPr>
            <a:lvl5pPr marL="2286000" lvl="4" indent="-304800" algn="l">
              <a:lnSpc>
                <a:spcPct val="115000"/>
              </a:lnSpc>
              <a:spcBef>
                <a:spcPts val="0"/>
              </a:spcBef>
              <a:spcAft>
                <a:spcPts val="0"/>
              </a:spcAft>
              <a:buSzPts val="1200"/>
              <a:buChar char="○"/>
              <a:defRPr sz="1600"/>
            </a:lvl5pPr>
            <a:lvl6pPr marL="2743200" lvl="5" indent="-304800" algn="l">
              <a:lnSpc>
                <a:spcPct val="115000"/>
              </a:lnSpc>
              <a:spcBef>
                <a:spcPts val="0"/>
              </a:spcBef>
              <a:spcAft>
                <a:spcPts val="0"/>
              </a:spcAft>
              <a:buSzPts val="1200"/>
              <a:buChar char="■"/>
              <a:defRPr sz="1600"/>
            </a:lvl6pPr>
            <a:lvl7pPr marL="3200400" lvl="6" indent="-304800" algn="l">
              <a:lnSpc>
                <a:spcPct val="115000"/>
              </a:lnSpc>
              <a:spcBef>
                <a:spcPts val="0"/>
              </a:spcBef>
              <a:spcAft>
                <a:spcPts val="0"/>
              </a:spcAft>
              <a:buSzPts val="1200"/>
              <a:buChar char="●"/>
              <a:defRPr sz="1600"/>
            </a:lvl7pPr>
            <a:lvl8pPr marL="3657600" lvl="7" indent="-304800" algn="l">
              <a:lnSpc>
                <a:spcPct val="115000"/>
              </a:lnSpc>
              <a:spcBef>
                <a:spcPts val="0"/>
              </a:spcBef>
              <a:spcAft>
                <a:spcPts val="0"/>
              </a:spcAft>
              <a:buSzPts val="1200"/>
              <a:buChar char="○"/>
              <a:defRPr sz="1600"/>
            </a:lvl8pPr>
            <a:lvl9pPr marL="4114800" lvl="8" indent="-304800" algn="l">
              <a:lnSpc>
                <a:spcPct val="115000"/>
              </a:lnSpc>
              <a:spcBef>
                <a:spcPts val="0"/>
              </a:spcBef>
              <a:spcAft>
                <a:spcPts val="0"/>
              </a:spcAft>
              <a:buSzPts val="1200"/>
              <a:buChar char="■"/>
              <a:defRPr sz="1600"/>
            </a:lvl9pPr>
          </a:lstStyle>
          <a:p>
            <a:endParaRPr/>
          </a:p>
        </p:txBody>
      </p:sp>
      <p:sp>
        <p:nvSpPr>
          <p:cNvPr id="35" name="Google Shape;35;p6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6"/>
        <p:cNvGrpSpPr/>
        <p:nvPr/>
      </p:nvGrpSpPr>
      <p:grpSpPr>
        <a:xfrm>
          <a:off x="0" y="0"/>
          <a:ext cx="0" cy="0"/>
          <a:chOff x="0" y="0"/>
          <a:chExt cx="0" cy="0"/>
        </a:xfrm>
      </p:grpSpPr>
      <p:sp>
        <p:nvSpPr>
          <p:cNvPr id="37" name="Google Shape;37;p68"/>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8" name="Google Shape;38;p6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6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spcBef>
                <a:spcPts val="0"/>
              </a:spcBef>
              <a:spcAft>
                <a:spcPts val="0"/>
              </a:spcAft>
              <a:buClr>
                <a:schemeClr val="dk1"/>
              </a:buClr>
              <a:buSzPts val="2400"/>
              <a:buFont typeface="Arial"/>
              <a:buNone/>
            </a:pPr>
            <a:endParaRPr sz="2400">
              <a:solidFill>
                <a:schemeClr val="dk1"/>
              </a:solidFill>
              <a:latin typeface="Arial"/>
              <a:ea typeface="Arial"/>
              <a:cs typeface="Arial"/>
              <a:sym typeface="Arial"/>
            </a:endParaRPr>
          </a:p>
        </p:txBody>
      </p:sp>
      <p:sp>
        <p:nvSpPr>
          <p:cNvPr id="41" name="Google Shape;41;p69"/>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2" name="Google Shape;42;p69"/>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3" name="Google Shape;43;p69"/>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4" name="Google Shape;44;p6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5"/>
        <p:cNvGrpSpPr/>
        <p:nvPr/>
      </p:nvGrpSpPr>
      <p:grpSpPr>
        <a:xfrm>
          <a:off x="0" y="0"/>
          <a:ext cx="0" cy="0"/>
          <a:chOff x="0" y="0"/>
          <a:chExt cx="0" cy="0"/>
        </a:xfrm>
      </p:grpSpPr>
      <p:sp>
        <p:nvSpPr>
          <p:cNvPr id="46" name="Google Shape;46;p70"/>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7" name="Google Shape;47;p7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8"/>
        <p:cNvGrpSpPr/>
        <p:nvPr/>
      </p:nvGrpSpPr>
      <p:grpSpPr>
        <a:xfrm>
          <a:off x="0" y="0"/>
          <a:ext cx="0" cy="0"/>
          <a:chOff x="0" y="0"/>
          <a:chExt cx="0" cy="0"/>
        </a:xfrm>
      </p:grpSpPr>
      <p:sp>
        <p:nvSpPr>
          <p:cNvPr id="49" name="Google Shape;49;p71"/>
          <p:cNvSpPr txBox="1">
            <a:spLocks noGrp="1"/>
          </p:cNvSpPr>
          <p:nvPr>
            <p:ph type="title"/>
          </p:nvPr>
        </p:nvSpPr>
        <p:spPr>
          <a:xfrm>
            <a:off x="415600" y="1474833"/>
            <a:ext cx="11360800" cy="2618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endParaRPr/>
          </a:p>
        </p:txBody>
      </p:sp>
      <p:sp>
        <p:nvSpPr>
          <p:cNvPr id="50" name="Google Shape;50;p71"/>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1" name="Google Shape;51;p7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7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0"/>
        <p:cNvGrpSpPr/>
        <p:nvPr/>
      </p:nvGrpSpPr>
      <p:grpSpPr>
        <a:xfrm>
          <a:off x="0" y="0"/>
          <a:ext cx="0" cy="0"/>
          <a:chOff x="0" y="0"/>
          <a:chExt cx="0" cy="0"/>
        </a:xfrm>
      </p:grpSpPr>
      <p:sp>
        <p:nvSpPr>
          <p:cNvPr id="61" name="Google Shape;61;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5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5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9" name="Google Shape;69;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5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75" name="Google Shape;75;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5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5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5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5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0" name="Google Shape;90;p5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3"/>
        <p:cNvGrpSpPr/>
        <p:nvPr/>
      </p:nvGrpSpPr>
      <p:grpSpPr>
        <a:xfrm>
          <a:off x="0" y="0"/>
          <a:ext cx="0" cy="0"/>
          <a:chOff x="0" y="0"/>
          <a:chExt cx="0" cy="0"/>
        </a:xfrm>
      </p:grpSpPr>
      <p:sp>
        <p:nvSpPr>
          <p:cNvPr id="104" name="Google Shape;104;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5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6" name="Google Shape;106;p5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7" name="Google Shape;107;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0"/>
        <p:cNvGrpSpPr/>
        <p:nvPr/>
      </p:nvGrpSpPr>
      <p:grpSpPr>
        <a:xfrm>
          <a:off x="0" y="0"/>
          <a:ext cx="0" cy="0"/>
          <a:chOff x="0" y="0"/>
          <a:chExt cx="0" cy="0"/>
        </a:xfrm>
      </p:grpSpPr>
      <p:sp>
        <p:nvSpPr>
          <p:cNvPr id="111" name="Google Shape;111;p6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2" name="Google Shape;112;p60"/>
          <p:cNvSpPr>
            <a:spLocks noGrp="1"/>
          </p:cNvSpPr>
          <p:nvPr>
            <p:ph type="pic" idx="2"/>
          </p:nvPr>
        </p:nvSpPr>
        <p:spPr>
          <a:xfrm>
            <a:off x="5183188" y="987425"/>
            <a:ext cx="6172200" cy="4873625"/>
          </a:xfrm>
          <a:prstGeom prst="rect">
            <a:avLst/>
          </a:prstGeom>
          <a:noFill/>
          <a:ln>
            <a:noFill/>
          </a:ln>
        </p:spPr>
      </p:sp>
      <p:sp>
        <p:nvSpPr>
          <p:cNvPr id="113" name="Google Shape;113;p6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4" name="Google Shape;114;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7"/>
        <p:cNvGrpSpPr/>
        <p:nvPr/>
      </p:nvGrpSpPr>
      <p:grpSpPr>
        <a:xfrm>
          <a:off x="0" y="0"/>
          <a:ext cx="0" cy="0"/>
          <a:chOff x="0" y="0"/>
          <a:chExt cx="0" cy="0"/>
        </a:xfrm>
      </p:grpSpPr>
      <p:sp>
        <p:nvSpPr>
          <p:cNvPr id="118" name="Google Shape;118;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6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3"/>
        <p:cNvGrpSpPr/>
        <p:nvPr/>
      </p:nvGrpSpPr>
      <p:grpSpPr>
        <a:xfrm>
          <a:off x="0" y="0"/>
          <a:ext cx="0" cy="0"/>
          <a:chOff x="0" y="0"/>
          <a:chExt cx="0" cy="0"/>
        </a:xfrm>
      </p:grpSpPr>
      <p:sp>
        <p:nvSpPr>
          <p:cNvPr id="124" name="Google Shape;124;p6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6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3"/>
        <p:cNvGrpSpPr/>
        <p:nvPr/>
      </p:nvGrpSpPr>
      <p:grpSpPr>
        <a:xfrm>
          <a:off x="0" y="0"/>
          <a:ext cx="0" cy="0"/>
          <a:chOff x="0" y="0"/>
          <a:chExt cx="0" cy="0"/>
        </a:xfrm>
      </p:grpSpPr>
      <p:sp>
        <p:nvSpPr>
          <p:cNvPr id="134" name="Google Shape;134;g38b89f731a7_9_165"/>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135" name="Google Shape;135;g38b89f731a7_9_165"/>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36" name="Google Shape;136;g38b89f731a7_9_16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7"/>
        <p:cNvGrpSpPr/>
        <p:nvPr/>
      </p:nvGrpSpPr>
      <p:grpSpPr>
        <a:xfrm>
          <a:off x="0" y="0"/>
          <a:ext cx="0" cy="0"/>
          <a:chOff x="0" y="0"/>
          <a:chExt cx="0" cy="0"/>
        </a:xfrm>
      </p:grpSpPr>
      <p:sp>
        <p:nvSpPr>
          <p:cNvPr id="138" name="Google Shape;138;g38b89f731a7_9_16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39" name="Google Shape;139;g38b89f731a7_9_169"/>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40" name="Google Shape;140;g38b89f731a7_9_169"/>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1"/>
        <p:cNvGrpSpPr/>
        <p:nvPr/>
      </p:nvGrpSpPr>
      <p:grpSpPr>
        <a:xfrm>
          <a:off x="0" y="0"/>
          <a:ext cx="0" cy="0"/>
          <a:chOff x="0" y="0"/>
          <a:chExt cx="0" cy="0"/>
        </a:xfrm>
      </p:grpSpPr>
      <p:sp>
        <p:nvSpPr>
          <p:cNvPr id="142" name="Google Shape;142;g38b89f731a7_9_173"/>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143" name="Google Shape;143;g38b89f731a7_9_173"/>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4"/>
        <p:cNvGrpSpPr/>
        <p:nvPr/>
      </p:nvGrpSpPr>
      <p:grpSpPr>
        <a:xfrm>
          <a:off x="0" y="0"/>
          <a:ext cx="0" cy="0"/>
          <a:chOff x="0" y="0"/>
          <a:chExt cx="0" cy="0"/>
        </a:xfrm>
      </p:grpSpPr>
      <p:sp>
        <p:nvSpPr>
          <p:cNvPr id="145" name="Google Shape;145;g38b89f731a7_9_176"/>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46" name="Google Shape;146;g38b89f731a7_9_176"/>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47" name="Google Shape;147;g38b89f731a7_9_176"/>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48" name="Google Shape;148;g38b89f731a7_9_176"/>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9"/>
        <p:cNvGrpSpPr/>
        <p:nvPr/>
      </p:nvGrpSpPr>
      <p:grpSpPr>
        <a:xfrm>
          <a:off x="0" y="0"/>
          <a:ext cx="0" cy="0"/>
          <a:chOff x="0" y="0"/>
          <a:chExt cx="0" cy="0"/>
        </a:xfrm>
      </p:grpSpPr>
      <p:sp>
        <p:nvSpPr>
          <p:cNvPr id="150" name="Google Shape;150;g38b89f731a7_9_18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51" name="Google Shape;151;g38b89f731a7_9_18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2"/>
        <p:cNvGrpSpPr/>
        <p:nvPr/>
      </p:nvGrpSpPr>
      <p:grpSpPr>
        <a:xfrm>
          <a:off x="0" y="0"/>
          <a:ext cx="0" cy="0"/>
          <a:chOff x="0" y="0"/>
          <a:chExt cx="0" cy="0"/>
        </a:xfrm>
      </p:grpSpPr>
      <p:sp>
        <p:nvSpPr>
          <p:cNvPr id="153" name="Google Shape;153;g38b89f731a7_9_184"/>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154" name="Google Shape;154;g38b89f731a7_9_184"/>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55" name="Google Shape;155;g38b89f731a7_9_18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6"/>
        <p:cNvGrpSpPr/>
        <p:nvPr/>
      </p:nvGrpSpPr>
      <p:grpSpPr>
        <a:xfrm>
          <a:off x="0" y="0"/>
          <a:ext cx="0" cy="0"/>
          <a:chOff x="0" y="0"/>
          <a:chExt cx="0" cy="0"/>
        </a:xfrm>
      </p:grpSpPr>
      <p:sp>
        <p:nvSpPr>
          <p:cNvPr id="157" name="Google Shape;157;g38b89f731a7_9_188"/>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158" name="Google Shape;158;g38b89f731a7_9_18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9"/>
        <p:cNvGrpSpPr/>
        <p:nvPr/>
      </p:nvGrpSpPr>
      <p:grpSpPr>
        <a:xfrm>
          <a:off x="0" y="0"/>
          <a:ext cx="0" cy="0"/>
          <a:chOff x="0" y="0"/>
          <a:chExt cx="0" cy="0"/>
        </a:xfrm>
      </p:grpSpPr>
      <p:sp>
        <p:nvSpPr>
          <p:cNvPr id="160" name="Google Shape;160;g38b89f731a7_9_191"/>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1" name="Google Shape;161;g38b89f731a7_9_191"/>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62" name="Google Shape;162;g38b89f731a7_9_191"/>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3" name="Google Shape;163;g38b89f731a7_9_191"/>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64" name="Google Shape;164;g38b89f731a7_9_19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5"/>
        <p:cNvGrpSpPr/>
        <p:nvPr/>
      </p:nvGrpSpPr>
      <p:grpSpPr>
        <a:xfrm>
          <a:off x="0" y="0"/>
          <a:ext cx="0" cy="0"/>
          <a:chOff x="0" y="0"/>
          <a:chExt cx="0" cy="0"/>
        </a:xfrm>
      </p:grpSpPr>
      <p:sp>
        <p:nvSpPr>
          <p:cNvPr id="166" name="Google Shape;166;g38b89f731a7_9_197"/>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167" name="Google Shape;167;g38b89f731a7_9_19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8"/>
        <p:cNvGrpSpPr/>
        <p:nvPr/>
      </p:nvGrpSpPr>
      <p:grpSpPr>
        <a:xfrm>
          <a:off x="0" y="0"/>
          <a:ext cx="0" cy="0"/>
          <a:chOff x="0" y="0"/>
          <a:chExt cx="0" cy="0"/>
        </a:xfrm>
      </p:grpSpPr>
      <p:sp>
        <p:nvSpPr>
          <p:cNvPr id="169" name="Google Shape;169;g38b89f731a7_9_200"/>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70" name="Google Shape;170;g38b89f731a7_9_200"/>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171" name="Google Shape;171;g38b89f731a7_9_200"/>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2"/>
        <p:cNvGrpSpPr/>
        <p:nvPr/>
      </p:nvGrpSpPr>
      <p:grpSpPr>
        <a:xfrm>
          <a:off x="0" y="0"/>
          <a:ext cx="0" cy="0"/>
          <a:chOff x="0" y="0"/>
          <a:chExt cx="0" cy="0"/>
        </a:xfrm>
      </p:grpSpPr>
      <p:sp>
        <p:nvSpPr>
          <p:cNvPr id="173" name="Google Shape;173;g38b89f731a7_9_20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49"/>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endParaRPr/>
          </a:p>
        </p:txBody>
      </p:sp>
      <p:sp>
        <p:nvSpPr>
          <p:cNvPr id="12" name="Google Shape;12;p4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rtl="0">
              <a:buClr>
                <a:schemeClr val="dk2"/>
              </a:buClr>
              <a:buSzPts val="1333"/>
              <a:buFont typeface="Arial"/>
              <a:buNone/>
              <a:defRPr sz="1333" b="0" i="0" u="none" strike="noStrike" cap="none">
                <a:solidFill>
                  <a:schemeClr val="dk2"/>
                </a:solidFill>
                <a:latin typeface="Arial"/>
                <a:ea typeface="Arial"/>
                <a:cs typeface="Arial"/>
                <a:sym typeface="Arial"/>
              </a:defRPr>
            </a:lvl1pPr>
            <a:lvl2pPr marL="0" marR="0" lvl="1" indent="0" algn="r" rtl="0">
              <a:buClr>
                <a:schemeClr val="dk2"/>
              </a:buClr>
              <a:buSzPts val="1333"/>
              <a:buFont typeface="Arial"/>
              <a:buNone/>
              <a:defRPr sz="1333" b="0" i="0" u="none" strike="noStrike" cap="none">
                <a:solidFill>
                  <a:schemeClr val="dk2"/>
                </a:solidFill>
                <a:latin typeface="Arial"/>
                <a:ea typeface="Arial"/>
                <a:cs typeface="Arial"/>
                <a:sym typeface="Arial"/>
              </a:defRPr>
            </a:lvl2pPr>
            <a:lvl3pPr marL="0" marR="0" lvl="2" indent="0" algn="r" rtl="0">
              <a:buClr>
                <a:schemeClr val="dk2"/>
              </a:buClr>
              <a:buSzPts val="1333"/>
              <a:buFont typeface="Arial"/>
              <a:buNone/>
              <a:defRPr sz="1333" b="0" i="0" u="none" strike="noStrike" cap="none">
                <a:solidFill>
                  <a:schemeClr val="dk2"/>
                </a:solidFill>
                <a:latin typeface="Arial"/>
                <a:ea typeface="Arial"/>
                <a:cs typeface="Arial"/>
                <a:sym typeface="Arial"/>
              </a:defRPr>
            </a:lvl3pPr>
            <a:lvl4pPr marL="0" marR="0" lvl="3" indent="0" algn="r" rtl="0">
              <a:buClr>
                <a:schemeClr val="dk2"/>
              </a:buClr>
              <a:buSzPts val="1333"/>
              <a:buFont typeface="Arial"/>
              <a:buNone/>
              <a:defRPr sz="1333" b="0" i="0" u="none" strike="noStrike" cap="none">
                <a:solidFill>
                  <a:schemeClr val="dk2"/>
                </a:solidFill>
                <a:latin typeface="Arial"/>
                <a:ea typeface="Arial"/>
                <a:cs typeface="Arial"/>
                <a:sym typeface="Arial"/>
              </a:defRPr>
            </a:lvl4pPr>
            <a:lvl5pPr marL="0" marR="0" lvl="4" indent="0" algn="r" rtl="0">
              <a:buClr>
                <a:schemeClr val="dk2"/>
              </a:buClr>
              <a:buSzPts val="1333"/>
              <a:buFont typeface="Arial"/>
              <a:buNone/>
              <a:defRPr sz="1333" b="0" i="0" u="none" strike="noStrike" cap="none">
                <a:solidFill>
                  <a:schemeClr val="dk2"/>
                </a:solidFill>
                <a:latin typeface="Arial"/>
                <a:ea typeface="Arial"/>
                <a:cs typeface="Arial"/>
                <a:sym typeface="Arial"/>
              </a:defRPr>
            </a:lvl5pPr>
            <a:lvl6pPr marL="0" marR="0" lvl="5" indent="0" algn="r" rtl="0">
              <a:buClr>
                <a:schemeClr val="dk2"/>
              </a:buClr>
              <a:buSzPts val="1333"/>
              <a:buFont typeface="Arial"/>
              <a:buNone/>
              <a:defRPr sz="1333" b="0" i="0" u="none" strike="noStrike" cap="none">
                <a:solidFill>
                  <a:schemeClr val="dk2"/>
                </a:solidFill>
                <a:latin typeface="Arial"/>
                <a:ea typeface="Arial"/>
                <a:cs typeface="Arial"/>
                <a:sym typeface="Arial"/>
              </a:defRPr>
            </a:lvl6pPr>
            <a:lvl7pPr marL="0" marR="0" lvl="6" indent="0" algn="r" rtl="0">
              <a:buClr>
                <a:schemeClr val="dk2"/>
              </a:buClr>
              <a:buSzPts val="1333"/>
              <a:buFont typeface="Arial"/>
              <a:buNone/>
              <a:defRPr sz="1333" b="0" i="0" u="none" strike="noStrike" cap="none">
                <a:solidFill>
                  <a:schemeClr val="dk2"/>
                </a:solidFill>
                <a:latin typeface="Arial"/>
                <a:ea typeface="Arial"/>
                <a:cs typeface="Arial"/>
                <a:sym typeface="Arial"/>
              </a:defRPr>
            </a:lvl7pPr>
            <a:lvl8pPr marL="0" marR="0" lvl="7" indent="0" algn="r" rtl="0">
              <a:buClr>
                <a:schemeClr val="dk2"/>
              </a:buClr>
              <a:buSzPts val="1333"/>
              <a:buFont typeface="Arial"/>
              <a:buNone/>
              <a:defRPr sz="1333" b="0" i="0" u="none" strike="noStrike" cap="none">
                <a:solidFill>
                  <a:schemeClr val="dk2"/>
                </a:solidFill>
                <a:latin typeface="Arial"/>
                <a:ea typeface="Arial"/>
                <a:cs typeface="Arial"/>
                <a:sym typeface="Arial"/>
              </a:defRPr>
            </a:lvl8pPr>
            <a:lvl9pPr marL="0" marR="0" lvl="8" indent="0" algn="r" rtl="0">
              <a:buClr>
                <a:schemeClr val="dk2"/>
              </a:buClr>
              <a:buSzPts val="1333"/>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7" name="Google Shape;57;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129"/>
        <p:cNvGrpSpPr/>
        <p:nvPr/>
      </p:nvGrpSpPr>
      <p:grpSpPr>
        <a:xfrm>
          <a:off x="0" y="0"/>
          <a:ext cx="0" cy="0"/>
          <a:chOff x="0" y="0"/>
          <a:chExt cx="0" cy="0"/>
        </a:xfrm>
      </p:grpSpPr>
      <p:sp>
        <p:nvSpPr>
          <p:cNvPr id="130" name="Google Shape;130;g38b89f731a7_9_16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31" name="Google Shape;131;g38b89f731a7_9_16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132" name="Google Shape;132;g38b89f731a7_9_16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t>‹#›</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jp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48.jp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66.png"/></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3.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g38b89f731a7_9_156"/>
          <p:cNvPicPr preferRelativeResize="0"/>
          <p:nvPr/>
        </p:nvPicPr>
        <p:blipFill>
          <a:blip r:embed="rId3">
            <a:alphaModFix/>
          </a:blip>
          <a:stretch>
            <a:fillRect/>
          </a:stretch>
        </p:blipFill>
        <p:spPr>
          <a:xfrm>
            <a:off x="6499200" y="1216625"/>
            <a:ext cx="5692801" cy="5641375"/>
          </a:xfrm>
          <a:prstGeom prst="rect">
            <a:avLst/>
          </a:prstGeom>
          <a:noFill/>
          <a:ln>
            <a:noFill/>
          </a:ln>
        </p:spPr>
      </p:pic>
      <p:sp>
        <p:nvSpPr>
          <p:cNvPr id="179" name="Google Shape;179;g38b89f731a7_9_156"/>
          <p:cNvSpPr txBox="1">
            <a:spLocks noGrp="1"/>
          </p:cNvSpPr>
          <p:nvPr>
            <p:ph type="title"/>
          </p:nvPr>
        </p:nvSpPr>
        <p:spPr>
          <a:xfrm>
            <a:off x="339200" y="1594940"/>
            <a:ext cx="11360700" cy="2148000"/>
          </a:xfrm>
          <a:prstGeom prst="rect">
            <a:avLst/>
          </a:prstGeom>
          <a:noFill/>
          <a:ln>
            <a:noFill/>
          </a:ln>
        </p:spPr>
        <p:txBody>
          <a:bodyPr spcFirstLastPara="1" wrap="square" lIns="121900" tIns="121900" rIns="121900" bIns="121900" anchor="t" anchorCtr="0">
            <a:normAutofit fontScale="90000"/>
          </a:bodyPr>
          <a:lstStyle/>
          <a:p>
            <a:pPr marL="0" lvl="0" indent="0" algn="ctr" rtl="0">
              <a:spcBef>
                <a:spcPts val="0"/>
              </a:spcBef>
              <a:spcAft>
                <a:spcPts val="0"/>
              </a:spcAft>
              <a:buClr>
                <a:schemeClr val="dk1"/>
              </a:buClr>
              <a:buSzPct val="78788"/>
              <a:buFont typeface="Arial"/>
              <a:buNone/>
            </a:pPr>
            <a:r>
              <a:rPr lang="pl-PL" sz="6600">
                <a:solidFill>
                  <a:schemeClr val="lt1"/>
                </a:solidFill>
              </a:rPr>
              <a:t>Przetwarzanie i wizualizacja danych</a:t>
            </a:r>
            <a:endParaRPr sz="6600" b="1">
              <a:solidFill>
                <a:schemeClr val="lt1"/>
              </a:solidFill>
              <a:latin typeface="Amatic SC"/>
              <a:ea typeface="Amatic SC"/>
              <a:cs typeface="Amatic SC"/>
              <a:sym typeface="Amatic SC"/>
            </a:endParaRPr>
          </a:p>
          <a:p>
            <a:pPr marL="0" lvl="0" indent="0" algn="l" rtl="0">
              <a:lnSpc>
                <a:spcPct val="100000"/>
              </a:lnSpc>
              <a:spcBef>
                <a:spcPts val="0"/>
              </a:spcBef>
              <a:spcAft>
                <a:spcPts val="0"/>
              </a:spcAft>
              <a:buSzPct val="110811"/>
              <a:buNone/>
            </a:pPr>
            <a:endParaRPr>
              <a:solidFill>
                <a:schemeClr val="lt1"/>
              </a:solidFill>
            </a:endParaRPr>
          </a:p>
        </p:txBody>
      </p:sp>
      <p:sp>
        <p:nvSpPr>
          <p:cNvPr id="180" name="Google Shape;180;g38b89f731a7_9_156"/>
          <p:cNvSpPr txBox="1">
            <a:spLocks noGrp="1"/>
          </p:cNvSpPr>
          <p:nvPr>
            <p:ph type="body" idx="1"/>
          </p:nvPr>
        </p:nvSpPr>
        <p:spPr>
          <a:xfrm>
            <a:off x="2076950" y="4617250"/>
            <a:ext cx="7885200" cy="1092600"/>
          </a:xfrm>
          <a:prstGeom prst="rect">
            <a:avLst/>
          </a:prstGeom>
          <a:noFill/>
          <a:ln>
            <a:noFill/>
          </a:ln>
        </p:spPr>
        <p:txBody>
          <a:bodyPr spcFirstLastPara="1" wrap="square" lIns="121900" tIns="121900" rIns="121900" bIns="121900" anchor="t" anchorCtr="0">
            <a:normAutofit/>
          </a:bodyPr>
          <a:lstStyle/>
          <a:p>
            <a:pPr marL="457200" lvl="0" indent="-342900" algn="ctr" rtl="0">
              <a:lnSpc>
                <a:spcPct val="100000"/>
              </a:lnSpc>
              <a:spcBef>
                <a:spcPts val="0"/>
              </a:spcBef>
              <a:spcAft>
                <a:spcPts val="0"/>
              </a:spcAft>
              <a:buClr>
                <a:schemeClr val="dk1"/>
              </a:buClr>
              <a:buSzPts val="2800"/>
              <a:buFont typeface="Arial"/>
              <a:buNone/>
            </a:pPr>
            <a:r>
              <a:rPr lang="pl-PL" sz="3733"/>
              <a:t>05.08.2026</a:t>
            </a:r>
            <a:endParaRPr sz="3733"/>
          </a:p>
          <a:p>
            <a:pPr marL="0" lvl="0" indent="0" algn="l" rtl="0">
              <a:lnSpc>
                <a:spcPct val="115000"/>
              </a:lnSpc>
              <a:spcBef>
                <a:spcPts val="0"/>
              </a:spcBef>
              <a:spcAft>
                <a:spcPts val="1600"/>
              </a:spcAft>
              <a:buSzPts val="2400"/>
              <a:buNone/>
            </a:pPr>
            <a:endParaRPr/>
          </a:p>
        </p:txBody>
      </p:sp>
      <p:sp>
        <p:nvSpPr>
          <p:cNvPr id="181" name="Google Shape;181;g38b89f731a7_9_156"/>
          <p:cNvSpPr/>
          <p:nvPr/>
        </p:nvSpPr>
        <p:spPr>
          <a:xfrm>
            <a:off x="7505850" y="2762250"/>
            <a:ext cx="211500" cy="223200"/>
          </a:xfrm>
          <a:prstGeom prst="rect">
            <a:avLst/>
          </a:prstGeom>
          <a:solidFill>
            <a:srgbClr val="86C2FD"/>
          </a:solidFill>
          <a:ln w="9525" cap="flat" cmpd="sng">
            <a:solidFill>
              <a:srgbClr val="86C2F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8" descr="Two men sitting on a stage&#10;&#10;AI-generated content may be incorrect."/>
          <p:cNvPicPr preferRelativeResize="0"/>
          <p:nvPr/>
        </p:nvPicPr>
        <p:blipFill rotWithShape="1">
          <a:blip r:embed="rId3">
            <a:alphaModFix/>
          </a:blip>
          <a:srcRect t="72733"/>
          <a:stretch/>
        </p:blipFill>
        <p:spPr>
          <a:xfrm>
            <a:off x="2190713" y="2719098"/>
            <a:ext cx="7810573" cy="1419803"/>
          </a:xfrm>
          <a:prstGeom prst="rect">
            <a:avLst/>
          </a:prstGeom>
          <a:noFill/>
          <a:ln>
            <a:noFill/>
          </a:ln>
        </p:spPr>
      </p:pic>
      <p:sp>
        <p:nvSpPr>
          <p:cNvPr id="188" name="Google Shape;188;p8"/>
          <p:cNvSpPr txBox="1"/>
          <p:nvPr/>
        </p:nvSpPr>
        <p:spPr>
          <a:xfrm>
            <a:off x="10228456" y="2921167"/>
            <a:ext cx="620357"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6000">
                <a:solidFill>
                  <a:schemeClr val="dk1"/>
                </a:solidFill>
                <a:latin typeface="Arial"/>
                <a:ea typeface="Arial"/>
                <a:cs typeface="Arial"/>
                <a:sym typeface="Arial"/>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Tradycyjne programowanie</a:t>
            </a:r>
            <a:endParaRPr/>
          </a:p>
        </p:txBody>
      </p:sp>
      <p:pic>
        <p:nvPicPr>
          <p:cNvPr id="194" name="Google Shape;194;p10" descr="Images"/>
          <p:cNvPicPr preferRelativeResize="0"/>
          <p:nvPr/>
        </p:nvPicPr>
        <p:blipFill rotWithShape="1">
          <a:blip r:embed="rId3">
            <a:alphaModFix/>
          </a:blip>
          <a:srcRect l="1780" t="-114" r="1884" b="55361"/>
          <a:stretch/>
        </p:blipFill>
        <p:spPr>
          <a:xfrm>
            <a:off x="1621519" y="2320383"/>
            <a:ext cx="8038097" cy="1061428"/>
          </a:xfrm>
          <a:prstGeom prst="rect">
            <a:avLst/>
          </a:prstGeom>
          <a:noFill/>
          <a:ln>
            <a:noFill/>
          </a:ln>
        </p:spPr>
      </p:pic>
      <p:sp>
        <p:nvSpPr>
          <p:cNvPr id="195" name="Google Shape;195;p10"/>
          <p:cNvSpPr txBox="1"/>
          <p:nvPr/>
        </p:nvSpPr>
        <p:spPr>
          <a:xfrm>
            <a:off x="3774089" y="4096183"/>
            <a:ext cx="4643821"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400">
                <a:solidFill>
                  <a:schemeClr val="dk1"/>
                </a:solidFill>
                <a:latin typeface="Consolas"/>
                <a:ea typeface="Consolas"/>
                <a:cs typeface="Consolas"/>
                <a:sym typeface="Consolas"/>
              </a:rPr>
              <a:t>funkcja klasyfikuj_email(tresc_emaila):</a:t>
            </a:r>
            <a:endParaRPr/>
          </a:p>
          <a:p>
            <a:pPr marL="0" marR="0" lvl="0" indent="0" algn="l" rtl="0">
              <a:spcBef>
                <a:spcPts val="0"/>
              </a:spcBef>
              <a:spcAft>
                <a:spcPts val="0"/>
              </a:spcAft>
              <a:buNone/>
            </a:pPr>
            <a:r>
              <a:rPr lang="pl-PL" sz="1400">
                <a:solidFill>
                  <a:schemeClr val="dk1"/>
                </a:solidFill>
                <a:latin typeface="Consolas"/>
                <a:ea typeface="Consolas"/>
                <a:cs typeface="Consolas"/>
                <a:sym typeface="Consolas"/>
              </a:rPr>
              <a:t>    </a:t>
            </a:r>
            <a:r>
              <a:rPr lang="pl-PL" sz="1400">
                <a:solidFill>
                  <a:srgbClr val="BF4F14"/>
                </a:solidFill>
                <a:latin typeface="Consolas"/>
                <a:ea typeface="Consolas"/>
                <a:cs typeface="Consolas"/>
                <a:sym typeface="Consolas"/>
              </a:rPr>
              <a:t>jeśli</a:t>
            </a:r>
            <a:r>
              <a:rPr lang="pl-PL" sz="1400">
                <a:solidFill>
                  <a:schemeClr val="dk1"/>
                </a:solidFill>
                <a:latin typeface="Consolas"/>
                <a:ea typeface="Consolas"/>
                <a:cs typeface="Consolas"/>
                <a:sym typeface="Consolas"/>
              </a:rPr>
              <a:t> "darmowy" w tresc_emaila:</a:t>
            </a:r>
            <a:endParaRPr/>
          </a:p>
          <a:p>
            <a:pPr marL="0" marR="0" lvl="0" indent="0" algn="l" rtl="0">
              <a:spcBef>
                <a:spcPts val="0"/>
              </a:spcBef>
              <a:spcAft>
                <a:spcPts val="0"/>
              </a:spcAft>
              <a:buNone/>
            </a:pPr>
            <a:r>
              <a:rPr lang="pl-PL" sz="1400">
                <a:solidFill>
                  <a:schemeClr val="dk1"/>
                </a:solidFill>
                <a:latin typeface="Consolas"/>
                <a:ea typeface="Consolas"/>
                <a:cs typeface="Consolas"/>
                <a:sym typeface="Consolas"/>
              </a:rPr>
              <a:t>        zwróć "spam"</a:t>
            </a:r>
            <a:endParaRPr/>
          </a:p>
          <a:p>
            <a:pPr marL="0" marR="0" lvl="0" indent="0" algn="l" rtl="0">
              <a:spcBef>
                <a:spcPts val="0"/>
              </a:spcBef>
              <a:spcAft>
                <a:spcPts val="0"/>
              </a:spcAft>
              <a:buNone/>
            </a:pPr>
            <a:r>
              <a:rPr lang="pl-PL" sz="1400">
                <a:solidFill>
                  <a:schemeClr val="dk1"/>
                </a:solidFill>
                <a:latin typeface="Consolas"/>
                <a:ea typeface="Consolas"/>
                <a:cs typeface="Consolas"/>
                <a:sym typeface="Consolas"/>
              </a:rPr>
              <a:t>    </a:t>
            </a:r>
            <a:r>
              <a:rPr lang="pl-PL" sz="1400">
                <a:solidFill>
                  <a:srgbClr val="BF4F14"/>
                </a:solidFill>
                <a:latin typeface="Consolas"/>
                <a:ea typeface="Consolas"/>
                <a:cs typeface="Consolas"/>
                <a:sym typeface="Consolas"/>
              </a:rPr>
              <a:t>jeśli</a:t>
            </a:r>
            <a:r>
              <a:rPr lang="pl-PL" sz="1400">
                <a:solidFill>
                  <a:schemeClr val="dk1"/>
                </a:solidFill>
                <a:latin typeface="Consolas"/>
                <a:ea typeface="Consolas"/>
                <a:cs typeface="Consolas"/>
                <a:sym typeface="Consolas"/>
              </a:rPr>
              <a:t> "wygraj nagrodę" w tresc_emaila:</a:t>
            </a:r>
            <a:endParaRPr/>
          </a:p>
          <a:p>
            <a:pPr marL="0" marR="0" lvl="0" indent="0" algn="l" rtl="0">
              <a:spcBef>
                <a:spcPts val="0"/>
              </a:spcBef>
              <a:spcAft>
                <a:spcPts val="0"/>
              </a:spcAft>
              <a:buNone/>
            </a:pPr>
            <a:r>
              <a:rPr lang="pl-PL" sz="1400">
                <a:solidFill>
                  <a:schemeClr val="dk1"/>
                </a:solidFill>
                <a:latin typeface="Consolas"/>
                <a:ea typeface="Consolas"/>
                <a:cs typeface="Consolas"/>
                <a:sym typeface="Consolas"/>
              </a:rPr>
              <a:t>        zwróć "spam"</a:t>
            </a:r>
            <a:endParaRPr/>
          </a:p>
          <a:p>
            <a:pPr marL="0" marR="0" lvl="0" indent="0" algn="l" rtl="0">
              <a:spcBef>
                <a:spcPts val="0"/>
              </a:spcBef>
              <a:spcAft>
                <a:spcPts val="0"/>
              </a:spcAft>
              <a:buNone/>
            </a:pPr>
            <a:r>
              <a:rPr lang="pl-PL" sz="1400">
                <a:solidFill>
                  <a:schemeClr val="dk1"/>
                </a:solidFill>
                <a:latin typeface="Consolas"/>
                <a:ea typeface="Consolas"/>
                <a:cs typeface="Consolas"/>
                <a:sym typeface="Consolas"/>
              </a:rPr>
              <a:t>    </a:t>
            </a:r>
            <a:r>
              <a:rPr lang="pl-PL" sz="1400">
                <a:solidFill>
                  <a:srgbClr val="BF4F14"/>
                </a:solidFill>
                <a:latin typeface="Consolas"/>
                <a:ea typeface="Consolas"/>
                <a:cs typeface="Consolas"/>
                <a:sym typeface="Consolas"/>
              </a:rPr>
              <a:t>jeśli</a:t>
            </a:r>
            <a:r>
              <a:rPr lang="pl-PL" sz="1400">
                <a:solidFill>
                  <a:schemeClr val="dk1"/>
                </a:solidFill>
                <a:latin typeface="Consolas"/>
                <a:ea typeface="Consolas"/>
                <a:cs typeface="Consolas"/>
                <a:sym typeface="Consolas"/>
              </a:rPr>
              <a:t> "kliknij tutaj" w tresc_emaila:</a:t>
            </a:r>
            <a:endParaRPr/>
          </a:p>
          <a:p>
            <a:pPr marL="0" marR="0" lvl="0" indent="0" algn="l" rtl="0">
              <a:spcBef>
                <a:spcPts val="0"/>
              </a:spcBef>
              <a:spcAft>
                <a:spcPts val="0"/>
              </a:spcAft>
              <a:buNone/>
            </a:pPr>
            <a:r>
              <a:rPr lang="pl-PL" sz="1400">
                <a:solidFill>
                  <a:schemeClr val="dk1"/>
                </a:solidFill>
                <a:latin typeface="Consolas"/>
                <a:ea typeface="Consolas"/>
                <a:cs typeface="Consolas"/>
                <a:sym typeface="Consolas"/>
              </a:rPr>
              <a:t>        zwróć "spam"</a:t>
            </a:r>
            <a:endParaRPr/>
          </a:p>
          <a:p>
            <a:pPr marL="0" marR="0" lvl="0" indent="0" algn="l" rtl="0">
              <a:spcBef>
                <a:spcPts val="0"/>
              </a:spcBef>
              <a:spcAft>
                <a:spcPts val="0"/>
              </a:spcAft>
              <a:buNone/>
            </a:pPr>
            <a:r>
              <a:rPr lang="pl-PL" sz="1400">
                <a:solidFill>
                  <a:schemeClr val="dk1"/>
                </a:solidFill>
                <a:latin typeface="Consolas"/>
                <a:ea typeface="Consolas"/>
                <a:cs typeface="Consolas"/>
                <a:sym typeface="Consolas"/>
              </a:rPr>
              <a:t>    </a:t>
            </a:r>
            <a:r>
              <a:rPr lang="pl-PL" sz="1400">
                <a:solidFill>
                  <a:srgbClr val="BF4F14"/>
                </a:solidFill>
                <a:latin typeface="Consolas"/>
                <a:ea typeface="Consolas"/>
                <a:cs typeface="Consolas"/>
                <a:sym typeface="Consolas"/>
              </a:rPr>
              <a:t>w przeciwnym razie</a:t>
            </a:r>
            <a:r>
              <a:rPr lang="pl-PL" sz="1400">
                <a:solidFill>
                  <a:schemeClr val="dk1"/>
                </a:solidFill>
                <a:latin typeface="Consolas"/>
                <a:ea typeface="Consolas"/>
                <a:cs typeface="Consolas"/>
                <a:sym typeface="Consolas"/>
              </a:rPr>
              <a:t>:</a:t>
            </a:r>
            <a:endParaRPr/>
          </a:p>
          <a:p>
            <a:pPr marL="0" marR="0" lvl="0" indent="0" algn="l" rtl="0">
              <a:spcBef>
                <a:spcPts val="0"/>
              </a:spcBef>
              <a:spcAft>
                <a:spcPts val="0"/>
              </a:spcAft>
              <a:buNone/>
            </a:pPr>
            <a:r>
              <a:rPr lang="pl-PL" sz="1400">
                <a:solidFill>
                  <a:schemeClr val="dk1"/>
                </a:solidFill>
                <a:latin typeface="Consolas"/>
                <a:ea typeface="Consolas"/>
                <a:cs typeface="Consolas"/>
                <a:sym typeface="Consolas"/>
              </a:rPr>
              <a:t>        zwróć "nie-spam"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Uczenie maszynowe</a:t>
            </a:r>
            <a:endParaRPr/>
          </a:p>
        </p:txBody>
      </p:sp>
      <p:sp>
        <p:nvSpPr>
          <p:cNvPr id="201" name="Google Shape;201;p11"/>
          <p:cNvSpPr txBox="1"/>
          <p:nvPr/>
        </p:nvSpPr>
        <p:spPr>
          <a:xfrm>
            <a:off x="3059722" y="3776053"/>
            <a:ext cx="5744309"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200">
                <a:solidFill>
                  <a:schemeClr val="dk1"/>
                </a:solidFill>
                <a:latin typeface="Consolas"/>
                <a:ea typeface="Consolas"/>
                <a:cs typeface="Consolas"/>
                <a:sym typeface="Consolas"/>
              </a:rPr>
              <a:t># Trening modelu</a:t>
            </a:r>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DANE_TRENINGOWE = zbiór e-maili oznaczonych jako SPAM lub NIE_SPAM</a:t>
            </a:r>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MODEL = NAUCZ(NaiwnyBayes, DANE_TRENINGOWE)</a:t>
            </a:r>
            <a:endParaRPr/>
          </a:p>
          <a:p>
            <a:pPr marL="0" marR="0" lvl="0" indent="0" algn="l" rtl="0">
              <a:spcBef>
                <a:spcPts val="0"/>
              </a:spcBef>
              <a:spcAft>
                <a:spcPts val="0"/>
              </a:spcAft>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 Predykcja dla nowej wiadomości</a:t>
            </a:r>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NOWY_EMAIL = "Otrzymałeś darmowy bilet, kliknij tutaj!"</a:t>
            </a:r>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KLASA = MODEL.PREDYKCJA(NOWY_EMAIL)</a:t>
            </a:r>
            <a:endParaRPr/>
          </a:p>
          <a:p>
            <a:pPr marL="0" marR="0" lvl="0" indent="0" algn="l" rtl="0">
              <a:spcBef>
                <a:spcPts val="0"/>
              </a:spcBef>
              <a:spcAft>
                <a:spcPts val="0"/>
              </a:spcAft>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jeśli KLASA == SPAM:</a:t>
            </a:r>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    oznacz jako spam</a:t>
            </a:r>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inaczej:</a:t>
            </a:r>
            <a:endParaRPr/>
          </a:p>
          <a:p>
            <a:pPr marL="0" marR="0" lvl="0" indent="0" algn="l" rtl="0">
              <a:spcBef>
                <a:spcPts val="0"/>
              </a:spcBef>
              <a:spcAft>
                <a:spcPts val="0"/>
              </a:spcAft>
              <a:buNone/>
            </a:pPr>
            <a:r>
              <a:rPr lang="pl-PL" sz="1200">
                <a:solidFill>
                  <a:schemeClr val="dk1"/>
                </a:solidFill>
                <a:latin typeface="Consolas"/>
                <a:ea typeface="Consolas"/>
                <a:cs typeface="Consolas"/>
                <a:sym typeface="Consolas"/>
              </a:rPr>
              <a:t>    zostaw w skrzynce odbiorczej</a:t>
            </a:r>
            <a:endParaRPr/>
          </a:p>
        </p:txBody>
      </p:sp>
      <p:pic>
        <p:nvPicPr>
          <p:cNvPr id="202" name="Google Shape;202;p11" descr="Images"/>
          <p:cNvPicPr preferRelativeResize="0"/>
          <p:nvPr/>
        </p:nvPicPr>
        <p:blipFill rotWithShape="1">
          <a:blip r:embed="rId3">
            <a:alphaModFix/>
          </a:blip>
          <a:srcRect t="57991"/>
          <a:stretch/>
        </p:blipFill>
        <p:spPr>
          <a:xfrm>
            <a:off x="1924050" y="2262748"/>
            <a:ext cx="8343900" cy="99633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3"/>
          <p:cNvSpPr txBox="1">
            <a:spLocks noGrp="1"/>
          </p:cNvSpPr>
          <p:nvPr>
            <p:ph type="title"/>
          </p:nvPr>
        </p:nvSpPr>
        <p:spPr>
          <a:xfrm>
            <a:off x="838200" y="557188"/>
            <a:ext cx="10515600" cy="113349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5200"/>
              <a:buFont typeface="Play"/>
              <a:buNone/>
            </a:pPr>
            <a:r>
              <a:rPr lang="pl-PL" sz="5200"/>
              <a:t>A co to są dane?</a:t>
            </a:r>
            <a:endParaRPr/>
          </a:p>
        </p:txBody>
      </p:sp>
      <p:sp>
        <p:nvSpPr>
          <p:cNvPr id="209" name="Google Shape;209;p13"/>
          <p:cNvSpPr txBox="1"/>
          <p:nvPr/>
        </p:nvSpPr>
        <p:spPr>
          <a:xfrm>
            <a:off x="1602153" y="1577495"/>
            <a:ext cx="89876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Dana to zapisana w określonej formie informacja o jakimś zjawisku, obiekcie lub procesie</a:t>
            </a:r>
            <a:endParaRPr sz="1800">
              <a:solidFill>
                <a:schemeClr val="dk1"/>
              </a:solidFill>
              <a:latin typeface="Arial"/>
              <a:ea typeface="Arial"/>
              <a:cs typeface="Arial"/>
              <a:sym typeface="Arial"/>
            </a:endParaRPr>
          </a:p>
        </p:txBody>
      </p:sp>
      <p:pic>
        <p:nvPicPr>
          <p:cNvPr id="210" name="Google Shape;210;p13"/>
          <p:cNvPicPr preferRelativeResize="0"/>
          <p:nvPr/>
        </p:nvPicPr>
        <p:blipFill rotWithShape="1">
          <a:blip r:embed="rId3">
            <a:alphaModFix/>
          </a:blip>
          <a:srcRect/>
          <a:stretch/>
        </p:blipFill>
        <p:spPr>
          <a:xfrm>
            <a:off x="1871274" y="2354913"/>
            <a:ext cx="3292501" cy="2556261"/>
          </a:xfrm>
          <a:prstGeom prst="rect">
            <a:avLst/>
          </a:prstGeom>
          <a:noFill/>
          <a:ln>
            <a:noFill/>
          </a:ln>
        </p:spPr>
      </p:pic>
      <p:pic>
        <p:nvPicPr>
          <p:cNvPr id="211" name="Google Shape;211;p13"/>
          <p:cNvPicPr preferRelativeResize="0"/>
          <p:nvPr/>
        </p:nvPicPr>
        <p:blipFill rotWithShape="1">
          <a:blip r:embed="rId4">
            <a:alphaModFix/>
          </a:blip>
          <a:srcRect/>
          <a:stretch/>
        </p:blipFill>
        <p:spPr>
          <a:xfrm>
            <a:off x="7445828" y="2227799"/>
            <a:ext cx="2331311" cy="2556262"/>
          </a:xfrm>
          <a:prstGeom prst="rect">
            <a:avLst/>
          </a:prstGeom>
          <a:noFill/>
          <a:ln>
            <a:noFill/>
          </a:ln>
        </p:spPr>
      </p:pic>
      <p:sp>
        <p:nvSpPr>
          <p:cNvPr id="212" name="Google Shape;212;p13"/>
          <p:cNvSpPr txBox="1"/>
          <p:nvPr/>
        </p:nvSpPr>
        <p:spPr>
          <a:xfrm>
            <a:off x="1796191" y="5065034"/>
            <a:ext cx="284799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b="1">
                <a:solidFill>
                  <a:schemeClr val="dk1"/>
                </a:solidFill>
                <a:latin typeface="Arial"/>
                <a:ea typeface="Arial"/>
                <a:cs typeface="Arial"/>
                <a:sym typeface="Arial"/>
              </a:rPr>
              <a:t>Wypożyczenie książki </a:t>
            </a:r>
            <a:endParaRPr/>
          </a:p>
          <a:p>
            <a:pPr marL="0" marR="0" lvl="0" indent="0" algn="l" rtl="0">
              <a:spcBef>
                <a:spcPts val="0"/>
              </a:spcBef>
              <a:spcAft>
                <a:spcPts val="0"/>
              </a:spcAft>
              <a:buNone/>
            </a:pPr>
            <a:r>
              <a:rPr lang="pl-PL" sz="1800">
                <a:solidFill>
                  <a:schemeClr val="dk1"/>
                </a:solidFill>
                <a:latin typeface="Arial"/>
                <a:ea typeface="Arial"/>
                <a:cs typeface="Arial"/>
                <a:sym typeface="Arial"/>
              </a:rPr>
              <a:t>- tytuł, data, kod biblioteczny</a:t>
            </a:r>
            <a:endParaRPr/>
          </a:p>
        </p:txBody>
      </p:sp>
      <p:sp>
        <p:nvSpPr>
          <p:cNvPr id="213" name="Google Shape;213;p13"/>
          <p:cNvSpPr txBox="1"/>
          <p:nvPr/>
        </p:nvSpPr>
        <p:spPr>
          <a:xfrm>
            <a:off x="7250086" y="5065033"/>
            <a:ext cx="326551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b="1">
                <a:solidFill>
                  <a:schemeClr val="dk1"/>
                </a:solidFill>
                <a:latin typeface="Arial"/>
                <a:ea typeface="Arial"/>
                <a:cs typeface="Arial"/>
                <a:sym typeface="Arial"/>
              </a:rPr>
              <a:t>Post na social media</a:t>
            </a:r>
            <a:endParaRPr/>
          </a:p>
          <a:p>
            <a:pPr marL="0" marR="0" lvl="0" indent="0" algn="l" rtl="0">
              <a:spcBef>
                <a:spcPts val="0"/>
              </a:spcBef>
              <a:spcAft>
                <a:spcPts val="0"/>
              </a:spcAft>
              <a:buNone/>
            </a:pPr>
            <a:r>
              <a:rPr lang="pl-PL" sz="1800">
                <a:solidFill>
                  <a:schemeClr val="dk1"/>
                </a:solidFill>
                <a:latin typeface="Arial"/>
                <a:ea typeface="Arial"/>
                <a:cs typeface="Arial"/>
                <a:sym typeface="Arial"/>
              </a:rPr>
              <a:t>- treść, tagi, nazwa użytkownika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4"/>
          <p:cNvSpPr txBox="1">
            <a:spLocks noGrp="1"/>
          </p:cNvSpPr>
          <p:nvPr>
            <p:ph type="title"/>
          </p:nvPr>
        </p:nvSpPr>
        <p:spPr>
          <a:xfrm>
            <a:off x="838200" y="557188"/>
            <a:ext cx="10515600" cy="113349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5200"/>
              <a:buFont typeface="Play"/>
              <a:buNone/>
            </a:pPr>
            <a:r>
              <a:rPr lang="pl-PL" sz="5200"/>
              <a:t>Modalności AI</a:t>
            </a:r>
            <a:endParaRPr/>
          </a:p>
        </p:txBody>
      </p:sp>
      <p:sp>
        <p:nvSpPr>
          <p:cNvPr id="220" name="Google Shape;220;p14"/>
          <p:cNvSpPr txBox="1"/>
          <p:nvPr/>
        </p:nvSpPr>
        <p:spPr>
          <a:xfrm>
            <a:off x="1938389" y="3404217"/>
            <a:ext cx="13144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audio</a:t>
            </a:r>
            <a:endParaRPr/>
          </a:p>
        </p:txBody>
      </p:sp>
      <p:sp>
        <p:nvSpPr>
          <p:cNvPr id="221" name="Google Shape;221;p14"/>
          <p:cNvSpPr txBox="1"/>
          <p:nvPr/>
        </p:nvSpPr>
        <p:spPr>
          <a:xfrm>
            <a:off x="9015728" y="3254802"/>
            <a:ext cx="6730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tekst</a:t>
            </a:r>
            <a:endParaRPr/>
          </a:p>
        </p:txBody>
      </p:sp>
      <p:sp>
        <p:nvSpPr>
          <p:cNvPr id="222" name="Google Shape;222;p14"/>
          <p:cNvSpPr txBox="1"/>
          <p:nvPr/>
        </p:nvSpPr>
        <p:spPr>
          <a:xfrm>
            <a:off x="5600883" y="3773549"/>
            <a:ext cx="7524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video</a:t>
            </a:r>
            <a:endParaRPr/>
          </a:p>
        </p:txBody>
      </p:sp>
      <p:sp>
        <p:nvSpPr>
          <p:cNvPr id="223" name="Google Shape;223;p14"/>
          <p:cNvSpPr txBox="1"/>
          <p:nvPr/>
        </p:nvSpPr>
        <p:spPr>
          <a:xfrm>
            <a:off x="7353107" y="5794270"/>
            <a:ext cx="84049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tabela</a:t>
            </a:r>
            <a:endParaRPr/>
          </a:p>
        </p:txBody>
      </p:sp>
      <p:sp>
        <p:nvSpPr>
          <p:cNvPr id="224" name="Google Shape;224;p14"/>
          <p:cNvSpPr txBox="1"/>
          <p:nvPr/>
        </p:nvSpPr>
        <p:spPr>
          <a:xfrm>
            <a:off x="2951847" y="5487080"/>
            <a:ext cx="100012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obrazki</a:t>
            </a:r>
            <a:endParaRPr/>
          </a:p>
        </p:txBody>
      </p:sp>
      <p:sp>
        <p:nvSpPr>
          <p:cNvPr id="225" name="Google Shape;225;p14"/>
          <p:cNvSpPr txBox="1"/>
          <p:nvPr/>
        </p:nvSpPr>
        <p:spPr>
          <a:xfrm>
            <a:off x="10290395" y="5050776"/>
            <a:ext cx="5599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3D</a:t>
            </a:r>
            <a:endParaRPr/>
          </a:p>
        </p:txBody>
      </p:sp>
      <p:sp>
        <p:nvSpPr>
          <p:cNvPr id="226" name="Google Shape;226;p14"/>
          <p:cNvSpPr txBox="1"/>
          <p:nvPr/>
        </p:nvSpPr>
        <p:spPr>
          <a:xfrm>
            <a:off x="5128509" y="1586744"/>
            <a:ext cx="16682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„surowe” dane</a:t>
            </a:r>
            <a:endParaRPr/>
          </a:p>
        </p:txBody>
      </p:sp>
      <p:pic>
        <p:nvPicPr>
          <p:cNvPr id="227" name="Google Shape;227;p14"/>
          <p:cNvPicPr preferRelativeResize="0"/>
          <p:nvPr/>
        </p:nvPicPr>
        <p:blipFill>
          <a:blip r:embed="rId3">
            <a:alphaModFix/>
          </a:blip>
          <a:stretch>
            <a:fillRect/>
          </a:stretch>
        </p:blipFill>
        <p:spPr>
          <a:xfrm>
            <a:off x="1938400" y="2604137"/>
            <a:ext cx="800100" cy="800100"/>
          </a:xfrm>
          <a:prstGeom prst="rect">
            <a:avLst/>
          </a:prstGeom>
          <a:noFill/>
          <a:ln>
            <a:noFill/>
          </a:ln>
        </p:spPr>
      </p:pic>
      <p:pic>
        <p:nvPicPr>
          <p:cNvPr id="228" name="Google Shape;228;p14"/>
          <p:cNvPicPr preferRelativeResize="0"/>
          <p:nvPr/>
        </p:nvPicPr>
        <p:blipFill>
          <a:blip r:embed="rId4">
            <a:alphaModFix/>
          </a:blip>
          <a:stretch>
            <a:fillRect/>
          </a:stretch>
        </p:blipFill>
        <p:spPr>
          <a:xfrm>
            <a:off x="5502450" y="2706746"/>
            <a:ext cx="1066800" cy="1066800"/>
          </a:xfrm>
          <a:prstGeom prst="rect">
            <a:avLst/>
          </a:prstGeom>
          <a:noFill/>
          <a:ln>
            <a:noFill/>
          </a:ln>
        </p:spPr>
      </p:pic>
      <p:pic>
        <p:nvPicPr>
          <p:cNvPr id="229" name="Google Shape;229;p14"/>
          <p:cNvPicPr preferRelativeResize="0"/>
          <p:nvPr/>
        </p:nvPicPr>
        <p:blipFill>
          <a:blip r:embed="rId5">
            <a:alphaModFix/>
          </a:blip>
          <a:stretch>
            <a:fillRect/>
          </a:stretch>
        </p:blipFill>
        <p:spPr>
          <a:xfrm>
            <a:off x="8952200" y="2454712"/>
            <a:ext cx="800100" cy="800100"/>
          </a:xfrm>
          <a:prstGeom prst="rect">
            <a:avLst/>
          </a:prstGeom>
          <a:noFill/>
          <a:ln>
            <a:noFill/>
          </a:ln>
        </p:spPr>
      </p:pic>
      <p:pic>
        <p:nvPicPr>
          <p:cNvPr id="230" name="Google Shape;230;p14"/>
          <p:cNvPicPr preferRelativeResize="0"/>
          <p:nvPr/>
        </p:nvPicPr>
        <p:blipFill>
          <a:blip r:embed="rId6">
            <a:alphaModFix/>
          </a:blip>
          <a:stretch>
            <a:fillRect/>
          </a:stretch>
        </p:blipFill>
        <p:spPr>
          <a:xfrm>
            <a:off x="10227488" y="4364987"/>
            <a:ext cx="685800" cy="685800"/>
          </a:xfrm>
          <a:prstGeom prst="rect">
            <a:avLst/>
          </a:prstGeom>
          <a:noFill/>
          <a:ln>
            <a:noFill/>
          </a:ln>
        </p:spPr>
      </p:pic>
      <p:pic>
        <p:nvPicPr>
          <p:cNvPr id="231" name="Google Shape;231;p14"/>
          <p:cNvPicPr preferRelativeResize="0"/>
          <p:nvPr/>
        </p:nvPicPr>
        <p:blipFill>
          <a:blip r:embed="rId7">
            <a:alphaModFix/>
          </a:blip>
          <a:stretch>
            <a:fillRect/>
          </a:stretch>
        </p:blipFill>
        <p:spPr>
          <a:xfrm>
            <a:off x="7354245" y="4956081"/>
            <a:ext cx="838200" cy="838200"/>
          </a:xfrm>
          <a:prstGeom prst="rect">
            <a:avLst/>
          </a:prstGeom>
          <a:noFill/>
          <a:ln>
            <a:noFill/>
          </a:ln>
        </p:spPr>
      </p:pic>
      <p:pic>
        <p:nvPicPr>
          <p:cNvPr id="232" name="Google Shape;232;p14"/>
          <p:cNvPicPr preferRelativeResize="0"/>
          <p:nvPr/>
        </p:nvPicPr>
        <p:blipFill>
          <a:blip r:embed="rId8">
            <a:alphaModFix/>
          </a:blip>
          <a:stretch>
            <a:fillRect/>
          </a:stretch>
        </p:blipFill>
        <p:spPr>
          <a:xfrm>
            <a:off x="3109013" y="4801287"/>
            <a:ext cx="685800" cy="68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5"/>
          <p:cNvSpPr txBox="1">
            <a:spLocks noGrp="1"/>
          </p:cNvSpPr>
          <p:nvPr>
            <p:ph type="title"/>
          </p:nvPr>
        </p:nvSpPr>
        <p:spPr>
          <a:xfrm>
            <a:off x="838200" y="557188"/>
            <a:ext cx="10515600" cy="113349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5200"/>
              <a:buFont typeface="Play"/>
              <a:buNone/>
            </a:pPr>
            <a:r>
              <a:rPr lang="pl-PL" sz="5200"/>
              <a:t>Modalności AI</a:t>
            </a:r>
            <a:endParaRPr/>
          </a:p>
        </p:txBody>
      </p:sp>
      <p:sp>
        <p:nvSpPr>
          <p:cNvPr id="239" name="Google Shape;239;p15"/>
          <p:cNvSpPr txBox="1"/>
          <p:nvPr/>
        </p:nvSpPr>
        <p:spPr>
          <a:xfrm>
            <a:off x="1938389" y="3404217"/>
            <a:ext cx="13144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audio</a:t>
            </a:r>
            <a:endParaRPr/>
          </a:p>
        </p:txBody>
      </p:sp>
      <p:sp>
        <p:nvSpPr>
          <p:cNvPr id="240" name="Google Shape;240;p15"/>
          <p:cNvSpPr txBox="1"/>
          <p:nvPr/>
        </p:nvSpPr>
        <p:spPr>
          <a:xfrm>
            <a:off x="9015728" y="3254802"/>
            <a:ext cx="6730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tekst</a:t>
            </a:r>
            <a:endParaRPr/>
          </a:p>
        </p:txBody>
      </p:sp>
      <p:sp>
        <p:nvSpPr>
          <p:cNvPr id="241" name="Google Shape;241;p15"/>
          <p:cNvSpPr txBox="1"/>
          <p:nvPr/>
        </p:nvSpPr>
        <p:spPr>
          <a:xfrm>
            <a:off x="5600883" y="3773549"/>
            <a:ext cx="7524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video</a:t>
            </a:r>
            <a:endParaRPr/>
          </a:p>
        </p:txBody>
      </p:sp>
      <p:sp>
        <p:nvSpPr>
          <p:cNvPr id="242" name="Google Shape;242;p15"/>
          <p:cNvSpPr txBox="1"/>
          <p:nvPr/>
        </p:nvSpPr>
        <p:spPr>
          <a:xfrm>
            <a:off x="7353107" y="5794270"/>
            <a:ext cx="84049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tabela</a:t>
            </a:r>
            <a:endParaRPr/>
          </a:p>
        </p:txBody>
      </p:sp>
      <p:sp>
        <p:nvSpPr>
          <p:cNvPr id="243" name="Google Shape;243;p15"/>
          <p:cNvSpPr txBox="1"/>
          <p:nvPr/>
        </p:nvSpPr>
        <p:spPr>
          <a:xfrm>
            <a:off x="2951847" y="5487080"/>
            <a:ext cx="100012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obrazki</a:t>
            </a:r>
            <a:endParaRPr/>
          </a:p>
        </p:txBody>
      </p:sp>
      <p:sp>
        <p:nvSpPr>
          <p:cNvPr id="244" name="Google Shape;244;p15"/>
          <p:cNvSpPr txBox="1"/>
          <p:nvPr/>
        </p:nvSpPr>
        <p:spPr>
          <a:xfrm>
            <a:off x="10290395" y="5050776"/>
            <a:ext cx="5599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3D</a:t>
            </a:r>
            <a:endParaRPr/>
          </a:p>
        </p:txBody>
      </p:sp>
      <p:sp>
        <p:nvSpPr>
          <p:cNvPr id="245" name="Google Shape;245;p15"/>
          <p:cNvSpPr txBox="1"/>
          <p:nvPr/>
        </p:nvSpPr>
        <p:spPr>
          <a:xfrm>
            <a:off x="3113744" y="1594832"/>
            <a:ext cx="596451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Więcej struktury ~ mniej wysiłku w przygotowanie danych</a:t>
            </a:r>
            <a:endParaRPr/>
          </a:p>
        </p:txBody>
      </p:sp>
      <p:sp>
        <p:nvSpPr>
          <p:cNvPr id="246" name="Google Shape;246;p15"/>
          <p:cNvSpPr txBox="1"/>
          <p:nvPr/>
        </p:nvSpPr>
        <p:spPr>
          <a:xfrm>
            <a:off x="4551581" y="6273966"/>
            <a:ext cx="21279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ustrukturyzowane</a:t>
            </a:r>
            <a:endParaRPr/>
          </a:p>
        </p:txBody>
      </p:sp>
      <p:cxnSp>
        <p:nvCxnSpPr>
          <p:cNvPr id="247" name="Google Shape;247;p15"/>
          <p:cNvCxnSpPr/>
          <p:nvPr/>
        </p:nvCxnSpPr>
        <p:spPr>
          <a:xfrm rot="10800000" flipH="1">
            <a:off x="5820813" y="5712594"/>
            <a:ext cx="858728" cy="469291"/>
          </a:xfrm>
          <a:prstGeom prst="straightConnector1">
            <a:avLst/>
          </a:prstGeom>
          <a:noFill/>
          <a:ln w="19050" cap="flat" cmpd="sng">
            <a:solidFill>
              <a:srgbClr val="FF0000"/>
            </a:solidFill>
            <a:prstDash val="solid"/>
            <a:round/>
            <a:headEnd type="none" w="sm" len="sm"/>
            <a:tailEnd type="stealth" w="med" len="med"/>
          </a:ln>
        </p:spPr>
      </p:cxnSp>
      <p:sp>
        <p:nvSpPr>
          <p:cNvPr id="248" name="Google Shape;248;p15"/>
          <p:cNvSpPr txBox="1"/>
          <p:nvPr/>
        </p:nvSpPr>
        <p:spPr>
          <a:xfrm>
            <a:off x="883824" y="3746500"/>
            <a:ext cx="12201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200">
                <a:solidFill>
                  <a:schemeClr val="dk1"/>
                </a:solidFill>
                <a:latin typeface="Arial"/>
                <a:ea typeface="Arial"/>
                <a:cs typeface="Arial"/>
                <a:sym typeface="Arial"/>
              </a:rPr>
              <a:t>Próbkowani</a:t>
            </a:r>
            <a:r>
              <a:rPr lang="pl-PL" sz="1200">
                <a:solidFill>
                  <a:schemeClr val="dk1"/>
                </a:solidFill>
              </a:rPr>
              <a:t>e</a:t>
            </a:r>
            <a:r>
              <a:rPr lang="pl-PL" sz="1200">
                <a:solidFill>
                  <a:schemeClr val="dk1"/>
                </a:solidFill>
                <a:latin typeface="Arial"/>
                <a:ea typeface="Arial"/>
                <a:cs typeface="Arial"/>
                <a:sym typeface="Arial"/>
              </a:rPr>
              <a:t>, kwantyzacja,</a:t>
            </a:r>
            <a:endParaRPr/>
          </a:p>
          <a:p>
            <a:pPr marL="0" marR="0" lvl="0" indent="0" algn="l" rtl="0">
              <a:spcBef>
                <a:spcPts val="0"/>
              </a:spcBef>
              <a:spcAft>
                <a:spcPts val="0"/>
              </a:spcAft>
              <a:buNone/>
            </a:pPr>
            <a:r>
              <a:rPr lang="pl-PL" sz="1200">
                <a:solidFill>
                  <a:schemeClr val="dk1"/>
                </a:solidFill>
                <a:latin typeface="Arial"/>
                <a:ea typeface="Arial"/>
                <a:cs typeface="Arial"/>
                <a:sym typeface="Arial"/>
              </a:rPr>
              <a:t>transformata Fouriera</a:t>
            </a:r>
            <a:endParaRPr/>
          </a:p>
        </p:txBody>
      </p:sp>
      <p:sp>
        <p:nvSpPr>
          <p:cNvPr id="249" name="Google Shape;249;p15"/>
          <p:cNvSpPr txBox="1"/>
          <p:nvPr/>
        </p:nvSpPr>
        <p:spPr>
          <a:xfrm>
            <a:off x="1918180" y="5589861"/>
            <a:ext cx="108324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200">
                <a:solidFill>
                  <a:schemeClr val="dk1"/>
                </a:solidFill>
                <a:latin typeface="Arial"/>
                <a:ea typeface="Arial"/>
                <a:cs typeface="Arial"/>
                <a:sym typeface="Arial"/>
              </a:rPr>
              <a:t>Przycięcie, zmiana skali wartości</a:t>
            </a:r>
            <a:endParaRPr/>
          </a:p>
        </p:txBody>
      </p:sp>
      <p:sp>
        <p:nvSpPr>
          <p:cNvPr id="250" name="Google Shape;250;p15"/>
          <p:cNvSpPr txBox="1"/>
          <p:nvPr/>
        </p:nvSpPr>
        <p:spPr>
          <a:xfrm>
            <a:off x="4203319" y="3671662"/>
            <a:ext cx="1083241"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200">
                <a:solidFill>
                  <a:schemeClr val="dk1"/>
                </a:solidFill>
                <a:latin typeface="Arial"/>
                <a:ea typeface="Arial"/>
                <a:cs typeface="Arial"/>
                <a:sym typeface="Arial"/>
              </a:rPr>
              <a:t>Zmiana częstości ramek, filtrowanie </a:t>
            </a:r>
            <a:endParaRPr/>
          </a:p>
        </p:txBody>
      </p:sp>
      <p:sp>
        <p:nvSpPr>
          <p:cNvPr id="251" name="Google Shape;251;p15"/>
          <p:cNvSpPr txBox="1"/>
          <p:nvPr/>
        </p:nvSpPr>
        <p:spPr>
          <a:xfrm>
            <a:off x="7773356" y="3114953"/>
            <a:ext cx="1677169"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200">
                <a:solidFill>
                  <a:schemeClr val="dk1"/>
                </a:solidFill>
                <a:latin typeface="Arial"/>
                <a:ea typeface="Arial"/>
                <a:cs typeface="Arial"/>
                <a:sym typeface="Arial"/>
              </a:rPr>
              <a:t>Zamiana na lowercase, </a:t>
            </a:r>
            <a:endParaRPr/>
          </a:p>
          <a:p>
            <a:pPr marL="0" marR="0" lvl="0" indent="0" algn="l" rtl="0">
              <a:spcBef>
                <a:spcPts val="0"/>
              </a:spcBef>
              <a:spcAft>
                <a:spcPts val="0"/>
              </a:spcAft>
              <a:buNone/>
            </a:pPr>
            <a:r>
              <a:rPr lang="pl-PL" sz="1200">
                <a:solidFill>
                  <a:schemeClr val="dk1"/>
                </a:solidFill>
                <a:latin typeface="Arial"/>
                <a:ea typeface="Arial"/>
                <a:cs typeface="Arial"/>
                <a:sym typeface="Arial"/>
              </a:rPr>
              <a:t>usuwanie „stop words”,  tokenizacja</a:t>
            </a:r>
            <a:endParaRPr sz="1200">
              <a:solidFill>
                <a:schemeClr val="dk1"/>
              </a:solidFill>
              <a:latin typeface="Arial"/>
              <a:ea typeface="Arial"/>
              <a:cs typeface="Arial"/>
              <a:sym typeface="Arial"/>
            </a:endParaRPr>
          </a:p>
        </p:txBody>
      </p:sp>
      <p:sp>
        <p:nvSpPr>
          <p:cNvPr id="252" name="Google Shape;252;p15"/>
          <p:cNvSpPr txBox="1"/>
          <p:nvPr/>
        </p:nvSpPr>
        <p:spPr>
          <a:xfrm>
            <a:off x="9616569" y="5471104"/>
            <a:ext cx="143804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200">
                <a:solidFill>
                  <a:schemeClr val="dk1"/>
                </a:solidFill>
                <a:latin typeface="Arial"/>
                <a:ea typeface="Arial"/>
                <a:cs typeface="Arial"/>
                <a:sym typeface="Arial"/>
              </a:rPr>
              <a:t>Próbkowanie, zamiana siatki na chmurę punktów</a:t>
            </a:r>
            <a:endParaRPr/>
          </a:p>
        </p:txBody>
      </p:sp>
      <p:pic>
        <p:nvPicPr>
          <p:cNvPr id="253" name="Google Shape;253;p15"/>
          <p:cNvPicPr preferRelativeResize="0"/>
          <p:nvPr/>
        </p:nvPicPr>
        <p:blipFill>
          <a:blip r:embed="rId3">
            <a:alphaModFix/>
          </a:blip>
          <a:stretch>
            <a:fillRect/>
          </a:stretch>
        </p:blipFill>
        <p:spPr>
          <a:xfrm>
            <a:off x="1938400" y="2604137"/>
            <a:ext cx="800100" cy="800100"/>
          </a:xfrm>
          <a:prstGeom prst="rect">
            <a:avLst/>
          </a:prstGeom>
          <a:noFill/>
          <a:ln>
            <a:noFill/>
          </a:ln>
        </p:spPr>
      </p:pic>
      <p:pic>
        <p:nvPicPr>
          <p:cNvPr id="254" name="Google Shape;254;p15"/>
          <p:cNvPicPr preferRelativeResize="0"/>
          <p:nvPr/>
        </p:nvPicPr>
        <p:blipFill>
          <a:blip r:embed="rId4">
            <a:alphaModFix/>
          </a:blip>
          <a:stretch>
            <a:fillRect/>
          </a:stretch>
        </p:blipFill>
        <p:spPr>
          <a:xfrm>
            <a:off x="5502450" y="2706746"/>
            <a:ext cx="1066800" cy="1066800"/>
          </a:xfrm>
          <a:prstGeom prst="rect">
            <a:avLst/>
          </a:prstGeom>
          <a:noFill/>
          <a:ln>
            <a:noFill/>
          </a:ln>
        </p:spPr>
      </p:pic>
      <p:pic>
        <p:nvPicPr>
          <p:cNvPr id="255" name="Google Shape;255;p15"/>
          <p:cNvPicPr preferRelativeResize="0"/>
          <p:nvPr/>
        </p:nvPicPr>
        <p:blipFill>
          <a:blip r:embed="rId5">
            <a:alphaModFix/>
          </a:blip>
          <a:stretch>
            <a:fillRect/>
          </a:stretch>
        </p:blipFill>
        <p:spPr>
          <a:xfrm>
            <a:off x="8952200" y="2454712"/>
            <a:ext cx="800100" cy="800100"/>
          </a:xfrm>
          <a:prstGeom prst="rect">
            <a:avLst/>
          </a:prstGeom>
          <a:noFill/>
          <a:ln>
            <a:noFill/>
          </a:ln>
        </p:spPr>
      </p:pic>
      <p:pic>
        <p:nvPicPr>
          <p:cNvPr id="256" name="Google Shape;256;p15"/>
          <p:cNvPicPr preferRelativeResize="0"/>
          <p:nvPr/>
        </p:nvPicPr>
        <p:blipFill>
          <a:blip r:embed="rId6">
            <a:alphaModFix/>
          </a:blip>
          <a:stretch>
            <a:fillRect/>
          </a:stretch>
        </p:blipFill>
        <p:spPr>
          <a:xfrm>
            <a:off x="3109013" y="4801287"/>
            <a:ext cx="685800" cy="685800"/>
          </a:xfrm>
          <a:prstGeom prst="rect">
            <a:avLst/>
          </a:prstGeom>
          <a:noFill/>
          <a:ln>
            <a:noFill/>
          </a:ln>
        </p:spPr>
      </p:pic>
      <p:pic>
        <p:nvPicPr>
          <p:cNvPr id="257" name="Google Shape;257;p15"/>
          <p:cNvPicPr preferRelativeResize="0"/>
          <p:nvPr/>
        </p:nvPicPr>
        <p:blipFill>
          <a:blip r:embed="rId7">
            <a:alphaModFix/>
          </a:blip>
          <a:stretch>
            <a:fillRect/>
          </a:stretch>
        </p:blipFill>
        <p:spPr>
          <a:xfrm>
            <a:off x="7354245" y="4956081"/>
            <a:ext cx="838200" cy="838200"/>
          </a:xfrm>
          <a:prstGeom prst="rect">
            <a:avLst/>
          </a:prstGeom>
          <a:noFill/>
          <a:ln>
            <a:noFill/>
          </a:ln>
        </p:spPr>
      </p:pic>
      <p:pic>
        <p:nvPicPr>
          <p:cNvPr id="258" name="Google Shape;258;p15"/>
          <p:cNvPicPr preferRelativeResize="0"/>
          <p:nvPr/>
        </p:nvPicPr>
        <p:blipFill>
          <a:blip r:embed="rId8">
            <a:alphaModFix/>
          </a:blip>
          <a:stretch>
            <a:fillRect/>
          </a:stretch>
        </p:blipFill>
        <p:spPr>
          <a:xfrm>
            <a:off x="10227488" y="4364987"/>
            <a:ext cx="685800" cy="685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16"/>
          <p:cNvPicPr preferRelativeResize="0"/>
          <p:nvPr/>
        </p:nvPicPr>
        <p:blipFill rotWithShape="1">
          <a:blip r:embed="rId3">
            <a:alphaModFix/>
          </a:blip>
          <a:srcRect r="8299"/>
          <a:stretch/>
        </p:blipFill>
        <p:spPr>
          <a:xfrm>
            <a:off x="3395841" y="2228863"/>
            <a:ext cx="5400316" cy="2515379"/>
          </a:xfrm>
          <a:prstGeom prst="rect">
            <a:avLst/>
          </a:prstGeom>
          <a:noFill/>
          <a:ln>
            <a:noFill/>
          </a:ln>
        </p:spPr>
      </p:pic>
      <p:sp>
        <p:nvSpPr>
          <p:cNvPr id="265" name="Google Shape;265;p16"/>
          <p:cNvSpPr txBox="1"/>
          <p:nvPr/>
        </p:nvSpPr>
        <p:spPr>
          <a:xfrm>
            <a:off x="480848" y="3429000"/>
            <a:ext cx="23096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Wielkość: Mamy 10 </a:t>
            </a:r>
            <a:r>
              <a:rPr lang="pl-PL" sz="1800" b="1">
                <a:solidFill>
                  <a:schemeClr val="dk1"/>
                </a:solidFill>
                <a:latin typeface="Arial"/>
                <a:ea typeface="Arial"/>
                <a:cs typeface="Arial"/>
                <a:sym typeface="Arial"/>
              </a:rPr>
              <a:t>obserwacji (próbek)</a:t>
            </a:r>
            <a:endParaRPr/>
          </a:p>
        </p:txBody>
      </p:sp>
      <p:sp>
        <p:nvSpPr>
          <p:cNvPr id="266" name="Google Shape;266;p16"/>
          <p:cNvSpPr txBox="1"/>
          <p:nvPr/>
        </p:nvSpPr>
        <p:spPr>
          <a:xfrm>
            <a:off x="2690648" y="1497748"/>
            <a:ext cx="68107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Wymiarowość : Każda obserwacja opisana jest przez 6 </a:t>
            </a:r>
            <a:r>
              <a:rPr lang="pl-PL" sz="1800" b="1">
                <a:solidFill>
                  <a:schemeClr val="dk1"/>
                </a:solidFill>
                <a:latin typeface="Arial"/>
                <a:ea typeface="Arial"/>
                <a:cs typeface="Arial"/>
                <a:sym typeface="Arial"/>
              </a:rPr>
              <a:t>zmiennych</a:t>
            </a:r>
            <a:r>
              <a:rPr lang="pl-PL" sz="1800">
                <a:solidFill>
                  <a:schemeClr val="dk1"/>
                </a:solidFill>
                <a:latin typeface="Arial"/>
                <a:ea typeface="Arial"/>
                <a:cs typeface="Arial"/>
                <a:sym typeface="Arial"/>
              </a:rPr>
              <a:t> </a:t>
            </a:r>
            <a:endParaRPr/>
          </a:p>
        </p:txBody>
      </p:sp>
      <p:sp>
        <p:nvSpPr>
          <p:cNvPr id="267" name="Google Shape;267;p16"/>
          <p:cNvSpPr txBox="1"/>
          <p:nvPr/>
        </p:nvSpPr>
        <p:spPr>
          <a:xfrm>
            <a:off x="638503" y="386468"/>
            <a:ext cx="581747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3200">
                <a:solidFill>
                  <a:schemeClr val="dk1"/>
                </a:solidFill>
                <a:latin typeface="Play"/>
                <a:ea typeface="Play"/>
                <a:cs typeface="Play"/>
                <a:sym typeface="Play"/>
              </a:rPr>
              <a:t>Pierwsze zapoznanie z danymi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17"/>
          <p:cNvPicPr preferRelativeResize="0"/>
          <p:nvPr/>
        </p:nvPicPr>
        <p:blipFill rotWithShape="1">
          <a:blip r:embed="rId3">
            <a:alphaModFix/>
          </a:blip>
          <a:srcRect r="8299"/>
          <a:stretch/>
        </p:blipFill>
        <p:spPr>
          <a:xfrm>
            <a:off x="3395841" y="2228863"/>
            <a:ext cx="5400316" cy="2515379"/>
          </a:xfrm>
          <a:prstGeom prst="rect">
            <a:avLst/>
          </a:prstGeom>
          <a:noFill/>
          <a:ln>
            <a:noFill/>
          </a:ln>
        </p:spPr>
      </p:pic>
      <p:sp>
        <p:nvSpPr>
          <p:cNvPr id="274" name="Google Shape;274;p17"/>
          <p:cNvSpPr txBox="1"/>
          <p:nvPr/>
        </p:nvSpPr>
        <p:spPr>
          <a:xfrm>
            <a:off x="480848" y="3429000"/>
            <a:ext cx="23096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Wielkość: Mamy 10 </a:t>
            </a:r>
            <a:r>
              <a:rPr lang="pl-PL" sz="1800" b="1">
                <a:solidFill>
                  <a:srgbClr val="747474"/>
                </a:solidFill>
                <a:latin typeface="Arial"/>
                <a:ea typeface="Arial"/>
                <a:cs typeface="Arial"/>
                <a:sym typeface="Arial"/>
              </a:rPr>
              <a:t>obserwacji (próbek)</a:t>
            </a:r>
            <a:endParaRPr/>
          </a:p>
        </p:txBody>
      </p:sp>
      <p:sp>
        <p:nvSpPr>
          <p:cNvPr id="275" name="Google Shape;275;p17"/>
          <p:cNvSpPr txBox="1"/>
          <p:nvPr/>
        </p:nvSpPr>
        <p:spPr>
          <a:xfrm>
            <a:off x="2690648" y="1497748"/>
            <a:ext cx="68107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Wymiarowość : Każda obserwacja opisana jest przez 6 </a:t>
            </a:r>
            <a:r>
              <a:rPr lang="pl-PL" sz="1800" b="1">
                <a:solidFill>
                  <a:srgbClr val="747474"/>
                </a:solidFill>
                <a:latin typeface="Arial"/>
                <a:ea typeface="Arial"/>
                <a:cs typeface="Arial"/>
                <a:sym typeface="Arial"/>
              </a:rPr>
              <a:t>zmiennych</a:t>
            </a:r>
            <a:r>
              <a:rPr lang="pl-PL" sz="1800">
                <a:solidFill>
                  <a:srgbClr val="747474"/>
                </a:solidFill>
                <a:latin typeface="Arial"/>
                <a:ea typeface="Arial"/>
                <a:cs typeface="Arial"/>
                <a:sym typeface="Arial"/>
              </a:rPr>
              <a:t> </a:t>
            </a:r>
            <a:endParaRPr/>
          </a:p>
        </p:txBody>
      </p:sp>
      <p:sp>
        <p:nvSpPr>
          <p:cNvPr id="276" name="Google Shape;276;p17"/>
          <p:cNvSpPr txBox="1"/>
          <p:nvPr/>
        </p:nvSpPr>
        <p:spPr>
          <a:xfrm>
            <a:off x="2402615" y="5133566"/>
            <a:ext cx="305851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i="1">
                <a:solidFill>
                  <a:schemeClr val="dk1"/>
                </a:solidFill>
                <a:latin typeface="Arial"/>
                <a:ea typeface="Arial"/>
                <a:cs typeface="Arial"/>
                <a:sym typeface="Arial"/>
              </a:rPr>
              <a:t>species i island </a:t>
            </a:r>
            <a:r>
              <a:rPr lang="pl-PL" sz="1800">
                <a:solidFill>
                  <a:schemeClr val="dk1"/>
                </a:solidFill>
                <a:latin typeface="Arial"/>
                <a:ea typeface="Arial"/>
                <a:cs typeface="Arial"/>
                <a:sym typeface="Arial"/>
              </a:rPr>
              <a:t>to zmienne </a:t>
            </a:r>
            <a:r>
              <a:rPr lang="pl-PL" sz="1800" b="1">
                <a:solidFill>
                  <a:schemeClr val="dk1"/>
                </a:solidFill>
                <a:latin typeface="Arial"/>
                <a:ea typeface="Arial"/>
                <a:cs typeface="Arial"/>
                <a:sym typeface="Arial"/>
              </a:rPr>
              <a:t>kategorialne</a:t>
            </a:r>
            <a:endParaRPr/>
          </a:p>
        </p:txBody>
      </p:sp>
      <p:sp>
        <p:nvSpPr>
          <p:cNvPr id="277" name="Google Shape;277;p17"/>
          <p:cNvSpPr txBox="1"/>
          <p:nvPr/>
        </p:nvSpPr>
        <p:spPr>
          <a:xfrm>
            <a:off x="7491249" y="4995067"/>
            <a:ext cx="377321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i="1">
                <a:solidFill>
                  <a:schemeClr val="dk1"/>
                </a:solidFill>
                <a:latin typeface="Arial"/>
                <a:ea typeface="Arial"/>
                <a:cs typeface="Arial"/>
                <a:sym typeface="Arial"/>
              </a:rPr>
              <a:t>bill_length_mm, bill_depth_mm, flipper_length_mm, body_mass_g </a:t>
            </a:r>
            <a:r>
              <a:rPr lang="pl-PL" sz="1800">
                <a:solidFill>
                  <a:schemeClr val="dk1"/>
                </a:solidFill>
                <a:latin typeface="Arial"/>
                <a:ea typeface="Arial"/>
                <a:cs typeface="Arial"/>
                <a:sym typeface="Arial"/>
              </a:rPr>
              <a:t>to zmienne </a:t>
            </a:r>
            <a:r>
              <a:rPr lang="pl-PL" sz="1800" b="1">
                <a:solidFill>
                  <a:schemeClr val="dk1"/>
                </a:solidFill>
                <a:latin typeface="Arial"/>
                <a:ea typeface="Arial"/>
                <a:cs typeface="Arial"/>
                <a:sym typeface="Arial"/>
              </a:rPr>
              <a:t>numeryczne</a:t>
            </a:r>
            <a:endParaRPr/>
          </a:p>
        </p:txBody>
      </p:sp>
      <p:sp>
        <p:nvSpPr>
          <p:cNvPr id="278" name="Google Shape;278;p17"/>
          <p:cNvSpPr txBox="1"/>
          <p:nvPr/>
        </p:nvSpPr>
        <p:spPr>
          <a:xfrm>
            <a:off x="638503" y="386468"/>
            <a:ext cx="581747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3200">
                <a:solidFill>
                  <a:schemeClr val="dk1"/>
                </a:solidFill>
                <a:latin typeface="Play"/>
                <a:ea typeface="Play"/>
                <a:cs typeface="Play"/>
                <a:sym typeface="Play"/>
              </a:rPr>
              <a:t>Pierwsze zapoznanie z danymi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18"/>
          <p:cNvPicPr preferRelativeResize="0"/>
          <p:nvPr/>
        </p:nvPicPr>
        <p:blipFill rotWithShape="1">
          <a:blip r:embed="rId3">
            <a:alphaModFix/>
          </a:blip>
          <a:srcRect r="8299"/>
          <a:stretch/>
        </p:blipFill>
        <p:spPr>
          <a:xfrm>
            <a:off x="3395841" y="2228863"/>
            <a:ext cx="5400316" cy="2515379"/>
          </a:xfrm>
          <a:prstGeom prst="rect">
            <a:avLst/>
          </a:prstGeom>
          <a:noFill/>
          <a:ln>
            <a:noFill/>
          </a:ln>
        </p:spPr>
      </p:pic>
      <p:sp>
        <p:nvSpPr>
          <p:cNvPr id="285" name="Google Shape;285;p18"/>
          <p:cNvSpPr txBox="1"/>
          <p:nvPr/>
        </p:nvSpPr>
        <p:spPr>
          <a:xfrm>
            <a:off x="480848" y="3429000"/>
            <a:ext cx="23096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Wielkość: Mamy 10 </a:t>
            </a:r>
            <a:r>
              <a:rPr lang="pl-PL" sz="1800" b="1">
                <a:solidFill>
                  <a:srgbClr val="747474"/>
                </a:solidFill>
                <a:latin typeface="Arial"/>
                <a:ea typeface="Arial"/>
                <a:cs typeface="Arial"/>
                <a:sym typeface="Arial"/>
              </a:rPr>
              <a:t>obserwacji (próbek)</a:t>
            </a:r>
            <a:endParaRPr/>
          </a:p>
        </p:txBody>
      </p:sp>
      <p:sp>
        <p:nvSpPr>
          <p:cNvPr id="286" name="Google Shape;286;p18"/>
          <p:cNvSpPr txBox="1"/>
          <p:nvPr/>
        </p:nvSpPr>
        <p:spPr>
          <a:xfrm>
            <a:off x="2690648" y="1497748"/>
            <a:ext cx="68107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Wymiarowość : Każda obserwacja opisana jest przez 6 </a:t>
            </a:r>
            <a:r>
              <a:rPr lang="pl-PL" sz="1800" b="1">
                <a:solidFill>
                  <a:srgbClr val="747474"/>
                </a:solidFill>
                <a:latin typeface="Arial"/>
                <a:ea typeface="Arial"/>
                <a:cs typeface="Arial"/>
                <a:sym typeface="Arial"/>
              </a:rPr>
              <a:t>zmiennych</a:t>
            </a:r>
            <a:r>
              <a:rPr lang="pl-PL" sz="1800">
                <a:solidFill>
                  <a:srgbClr val="747474"/>
                </a:solidFill>
                <a:latin typeface="Arial"/>
                <a:ea typeface="Arial"/>
                <a:cs typeface="Arial"/>
                <a:sym typeface="Arial"/>
              </a:rPr>
              <a:t> </a:t>
            </a:r>
            <a:endParaRPr/>
          </a:p>
        </p:txBody>
      </p:sp>
      <p:sp>
        <p:nvSpPr>
          <p:cNvPr id="287" name="Google Shape;287;p18"/>
          <p:cNvSpPr txBox="1"/>
          <p:nvPr/>
        </p:nvSpPr>
        <p:spPr>
          <a:xfrm>
            <a:off x="2402615" y="5133566"/>
            <a:ext cx="305851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i="1">
                <a:solidFill>
                  <a:schemeClr val="dk1"/>
                </a:solidFill>
                <a:latin typeface="Arial"/>
                <a:ea typeface="Arial"/>
                <a:cs typeface="Arial"/>
                <a:sym typeface="Arial"/>
              </a:rPr>
              <a:t>species i island </a:t>
            </a:r>
            <a:r>
              <a:rPr lang="pl-PL" sz="1800">
                <a:solidFill>
                  <a:schemeClr val="dk1"/>
                </a:solidFill>
                <a:latin typeface="Arial"/>
                <a:ea typeface="Arial"/>
                <a:cs typeface="Arial"/>
                <a:sym typeface="Arial"/>
              </a:rPr>
              <a:t>to zmienne </a:t>
            </a:r>
            <a:r>
              <a:rPr lang="pl-PL" sz="1800" b="1">
                <a:solidFill>
                  <a:schemeClr val="dk1"/>
                </a:solidFill>
                <a:latin typeface="Arial"/>
                <a:ea typeface="Arial"/>
                <a:cs typeface="Arial"/>
                <a:sym typeface="Arial"/>
              </a:rPr>
              <a:t>kategorialne</a:t>
            </a:r>
            <a:endParaRPr/>
          </a:p>
        </p:txBody>
      </p:sp>
      <p:sp>
        <p:nvSpPr>
          <p:cNvPr id="288" name="Google Shape;288;p18"/>
          <p:cNvSpPr txBox="1"/>
          <p:nvPr/>
        </p:nvSpPr>
        <p:spPr>
          <a:xfrm>
            <a:off x="7491249" y="4995067"/>
            <a:ext cx="377321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i="1">
                <a:solidFill>
                  <a:schemeClr val="dk1"/>
                </a:solidFill>
                <a:latin typeface="Arial"/>
                <a:ea typeface="Arial"/>
                <a:cs typeface="Arial"/>
                <a:sym typeface="Arial"/>
              </a:rPr>
              <a:t>bill_length_mm, bill_depth_mm, flipper_length_mm, body_mass_g </a:t>
            </a:r>
            <a:r>
              <a:rPr lang="pl-PL" sz="1800">
                <a:solidFill>
                  <a:schemeClr val="dk1"/>
                </a:solidFill>
                <a:latin typeface="Arial"/>
                <a:ea typeface="Arial"/>
                <a:cs typeface="Arial"/>
                <a:sym typeface="Arial"/>
              </a:rPr>
              <a:t>to zmienne </a:t>
            </a:r>
            <a:r>
              <a:rPr lang="pl-PL" sz="1800" b="1">
                <a:solidFill>
                  <a:schemeClr val="dk1"/>
                </a:solidFill>
                <a:latin typeface="Arial"/>
                <a:ea typeface="Arial"/>
                <a:cs typeface="Arial"/>
                <a:sym typeface="Arial"/>
              </a:rPr>
              <a:t>numeryczne</a:t>
            </a:r>
            <a:endParaRPr/>
          </a:p>
        </p:txBody>
      </p:sp>
      <p:sp>
        <p:nvSpPr>
          <p:cNvPr id="289" name="Google Shape;289;p18"/>
          <p:cNvSpPr txBox="1"/>
          <p:nvPr/>
        </p:nvSpPr>
        <p:spPr>
          <a:xfrm>
            <a:off x="638503" y="386468"/>
            <a:ext cx="581747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3200">
                <a:solidFill>
                  <a:schemeClr val="dk1"/>
                </a:solidFill>
                <a:latin typeface="Play"/>
                <a:ea typeface="Play"/>
                <a:cs typeface="Play"/>
                <a:sym typeface="Play"/>
              </a:rPr>
              <a:t>Pierwsze zapoznanie z danymi</a:t>
            </a:r>
            <a:endParaRPr/>
          </a:p>
        </p:txBody>
      </p:sp>
      <p:pic>
        <p:nvPicPr>
          <p:cNvPr id="290" name="Google Shape;290;p18"/>
          <p:cNvPicPr preferRelativeResize="0"/>
          <p:nvPr/>
        </p:nvPicPr>
        <p:blipFill rotWithShape="1">
          <a:blip r:embed="rId4">
            <a:alphaModFix/>
          </a:blip>
          <a:srcRect/>
          <a:stretch/>
        </p:blipFill>
        <p:spPr>
          <a:xfrm>
            <a:off x="480848" y="4539527"/>
            <a:ext cx="1647842" cy="867573"/>
          </a:xfrm>
          <a:prstGeom prst="rect">
            <a:avLst/>
          </a:prstGeom>
          <a:noFill/>
          <a:ln w="9525" cap="flat" cmpd="sng">
            <a:solidFill>
              <a:schemeClr val="dk1"/>
            </a:solidFill>
            <a:prstDash val="solid"/>
            <a:round/>
            <a:headEnd type="none" w="sm" len="sm"/>
            <a:tailEnd type="none" w="sm" len="sm"/>
          </a:ln>
        </p:spPr>
      </p:pic>
      <p:pic>
        <p:nvPicPr>
          <p:cNvPr id="291" name="Google Shape;291;p18"/>
          <p:cNvPicPr preferRelativeResize="0"/>
          <p:nvPr/>
        </p:nvPicPr>
        <p:blipFill rotWithShape="1">
          <a:blip r:embed="rId5">
            <a:alphaModFix/>
          </a:blip>
          <a:srcRect/>
          <a:stretch/>
        </p:blipFill>
        <p:spPr>
          <a:xfrm>
            <a:off x="480848" y="5484610"/>
            <a:ext cx="1515639" cy="867573"/>
          </a:xfrm>
          <a:prstGeom prst="rect">
            <a:avLst/>
          </a:prstGeom>
          <a:noFill/>
          <a:ln w="9525" cap="flat" cmpd="sng">
            <a:solidFill>
              <a:schemeClr val="dk1"/>
            </a:solidFill>
            <a:prstDash val="solid"/>
            <a:round/>
            <a:headEnd type="none" w="sm" len="sm"/>
            <a:tailEnd type="none" w="sm" len="sm"/>
          </a:ln>
        </p:spPr>
      </p:pic>
      <p:pic>
        <p:nvPicPr>
          <p:cNvPr id="292" name="Google Shape;292;p18"/>
          <p:cNvPicPr preferRelativeResize="0"/>
          <p:nvPr/>
        </p:nvPicPr>
        <p:blipFill rotWithShape="1">
          <a:blip r:embed="rId6">
            <a:alphaModFix/>
          </a:blip>
          <a:srcRect/>
          <a:stretch/>
        </p:blipFill>
        <p:spPr>
          <a:xfrm>
            <a:off x="7137674" y="5989933"/>
            <a:ext cx="4727354" cy="724499"/>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19"/>
          <p:cNvPicPr preferRelativeResize="0"/>
          <p:nvPr/>
        </p:nvPicPr>
        <p:blipFill rotWithShape="1">
          <a:blip r:embed="rId3">
            <a:alphaModFix/>
          </a:blip>
          <a:srcRect r="8299"/>
          <a:stretch/>
        </p:blipFill>
        <p:spPr>
          <a:xfrm>
            <a:off x="3395841" y="2228863"/>
            <a:ext cx="5400316" cy="2515379"/>
          </a:xfrm>
          <a:prstGeom prst="rect">
            <a:avLst/>
          </a:prstGeom>
          <a:noFill/>
          <a:ln>
            <a:noFill/>
          </a:ln>
        </p:spPr>
      </p:pic>
      <p:sp>
        <p:nvSpPr>
          <p:cNvPr id="299" name="Google Shape;299;p19"/>
          <p:cNvSpPr txBox="1"/>
          <p:nvPr/>
        </p:nvSpPr>
        <p:spPr>
          <a:xfrm>
            <a:off x="480848" y="3429000"/>
            <a:ext cx="23096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Wielkość: Mamy 10 </a:t>
            </a:r>
            <a:r>
              <a:rPr lang="pl-PL" sz="1800" b="1">
                <a:solidFill>
                  <a:srgbClr val="747474"/>
                </a:solidFill>
                <a:latin typeface="Arial"/>
                <a:ea typeface="Arial"/>
                <a:cs typeface="Arial"/>
                <a:sym typeface="Arial"/>
              </a:rPr>
              <a:t>obserwacji (próbek)</a:t>
            </a:r>
            <a:endParaRPr/>
          </a:p>
        </p:txBody>
      </p:sp>
      <p:sp>
        <p:nvSpPr>
          <p:cNvPr id="300" name="Google Shape;300;p19"/>
          <p:cNvSpPr txBox="1"/>
          <p:nvPr/>
        </p:nvSpPr>
        <p:spPr>
          <a:xfrm>
            <a:off x="2690648" y="1497748"/>
            <a:ext cx="68107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Wymiarowość : Każda obserwacja opisana jest przez 6 </a:t>
            </a:r>
            <a:r>
              <a:rPr lang="pl-PL" sz="1800" b="1">
                <a:solidFill>
                  <a:srgbClr val="747474"/>
                </a:solidFill>
                <a:latin typeface="Arial"/>
                <a:ea typeface="Arial"/>
                <a:cs typeface="Arial"/>
                <a:sym typeface="Arial"/>
              </a:rPr>
              <a:t>zmiennych</a:t>
            </a:r>
            <a:r>
              <a:rPr lang="pl-PL" sz="1800">
                <a:solidFill>
                  <a:srgbClr val="747474"/>
                </a:solidFill>
                <a:latin typeface="Arial"/>
                <a:ea typeface="Arial"/>
                <a:cs typeface="Arial"/>
                <a:sym typeface="Arial"/>
              </a:rPr>
              <a:t> </a:t>
            </a:r>
            <a:endParaRPr/>
          </a:p>
        </p:txBody>
      </p:sp>
      <p:sp>
        <p:nvSpPr>
          <p:cNvPr id="301" name="Google Shape;301;p19"/>
          <p:cNvSpPr txBox="1"/>
          <p:nvPr/>
        </p:nvSpPr>
        <p:spPr>
          <a:xfrm>
            <a:off x="2402615" y="5133566"/>
            <a:ext cx="305851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i="1">
                <a:solidFill>
                  <a:srgbClr val="747474"/>
                </a:solidFill>
                <a:latin typeface="Arial"/>
                <a:ea typeface="Arial"/>
                <a:cs typeface="Arial"/>
                <a:sym typeface="Arial"/>
              </a:rPr>
              <a:t>species i island </a:t>
            </a:r>
            <a:r>
              <a:rPr lang="pl-PL" sz="1800">
                <a:solidFill>
                  <a:srgbClr val="747474"/>
                </a:solidFill>
                <a:latin typeface="Arial"/>
                <a:ea typeface="Arial"/>
                <a:cs typeface="Arial"/>
                <a:sym typeface="Arial"/>
              </a:rPr>
              <a:t>to zmienne </a:t>
            </a:r>
            <a:r>
              <a:rPr lang="pl-PL" sz="1800" b="1">
                <a:solidFill>
                  <a:srgbClr val="747474"/>
                </a:solidFill>
                <a:latin typeface="Arial"/>
                <a:ea typeface="Arial"/>
                <a:cs typeface="Arial"/>
                <a:sym typeface="Arial"/>
              </a:rPr>
              <a:t>kategorialne</a:t>
            </a:r>
            <a:endParaRPr/>
          </a:p>
        </p:txBody>
      </p:sp>
      <p:sp>
        <p:nvSpPr>
          <p:cNvPr id="302" name="Google Shape;302;p19"/>
          <p:cNvSpPr txBox="1"/>
          <p:nvPr/>
        </p:nvSpPr>
        <p:spPr>
          <a:xfrm>
            <a:off x="7491249" y="4995067"/>
            <a:ext cx="377321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i="1">
                <a:solidFill>
                  <a:srgbClr val="747474"/>
                </a:solidFill>
                <a:latin typeface="Arial"/>
                <a:ea typeface="Arial"/>
                <a:cs typeface="Arial"/>
                <a:sym typeface="Arial"/>
              </a:rPr>
              <a:t>bill_length_mm, bill_depth_mm, flipper_length_mm, body_mass_g </a:t>
            </a:r>
            <a:r>
              <a:rPr lang="pl-PL" sz="1800">
                <a:solidFill>
                  <a:srgbClr val="747474"/>
                </a:solidFill>
                <a:latin typeface="Arial"/>
                <a:ea typeface="Arial"/>
                <a:cs typeface="Arial"/>
                <a:sym typeface="Arial"/>
              </a:rPr>
              <a:t>to zmienne </a:t>
            </a:r>
            <a:r>
              <a:rPr lang="pl-PL" sz="1800" b="1">
                <a:solidFill>
                  <a:srgbClr val="747474"/>
                </a:solidFill>
                <a:latin typeface="Arial"/>
                <a:ea typeface="Arial"/>
                <a:cs typeface="Arial"/>
                <a:sym typeface="Arial"/>
              </a:rPr>
              <a:t>numeryczne</a:t>
            </a:r>
            <a:endParaRPr/>
          </a:p>
        </p:txBody>
      </p:sp>
      <p:sp>
        <p:nvSpPr>
          <p:cNvPr id="303" name="Google Shape;303;p19"/>
          <p:cNvSpPr txBox="1"/>
          <p:nvPr/>
        </p:nvSpPr>
        <p:spPr>
          <a:xfrm>
            <a:off x="4540972" y="5846055"/>
            <a:ext cx="256189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Dane mają różny zakres wartości</a:t>
            </a:r>
            <a:endParaRPr/>
          </a:p>
        </p:txBody>
      </p:sp>
      <p:sp>
        <p:nvSpPr>
          <p:cNvPr id="304" name="Google Shape;304;p19"/>
          <p:cNvSpPr txBox="1"/>
          <p:nvPr/>
        </p:nvSpPr>
        <p:spPr>
          <a:xfrm>
            <a:off x="9624345" y="2650658"/>
            <a:ext cx="206578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Występują wartości brakujące</a:t>
            </a:r>
            <a:endParaRPr/>
          </a:p>
        </p:txBody>
      </p:sp>
      <p:sp>
        <p:nvSpPr>
          <p:cNvPr id="305" name="Google Shape;305;p19"/>
          <p:cNvSpPr txBox="1"/>
          <p:nvPr/>
        </p:nvSpPr>
        <p:spPr>
          <a:xfrm>
            <a:off x="638503" y="386468"/>
            <a:ext cx="581747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3200">
                <a:solidFill>
                  <a:schemeClr val="dk1"/>
                </a:solidFill>
                <a:latin typeface="Play"/>
                <a:ea typeface="Play"/>
                <a:cs typeface="Play"/>
                <a:sym typeface="Play"/>
              </a:rPr>
              <a:t>Pierwsze zapoznanie z danymi</a:t>
            </a:r>
            <a:endParaRPr/>
          </a:p>
        </p:txBody>
      </p:sp>
      <p:pic>
        <p:nvPicPr>
          <p:cNvPr id="306" name="Google Shape;306;p19"/>
          <p:cNvPicPr preferRelativeResize="0"/>
          <p:nvPr/>
        </p:nvPicPr>
        <p:blipFill rotWithShape="1">
          <a:blip r:embed="rId4">
            <a:alphaModFix/>
          </a:blip>
          <a:srcRect/>
          <a:stretch/>
        </p:blipFill>
        <p:spPr>
          <a:xfrm>
            <a:off x="7185086" y="6010190"/>
            <a:ext cx="4632530" cy="738125"/>
          </a:xfrm>
          <a:prstGeom prst="rect">
            <a:avLst/>
          </a:prstGeom>
          <a:noFill/>
          <a:ln w="9525" cap="flat" cmpd="sng">
            <a:solidFill>
              <a:schemeClr val="dk1"/>
            </a:solidFill>
            <a:prstDash val="solid"/>
            <a:round/>
            <a:headEnd type="none" w="sm" len="sm"/>
            <a:tailEnd type="none" w="sm" len="sm"/>
          </a:ln>
        </p:spPr>
      </p:pic>
      <p:cxnSp>
        <p:nvCxnSpPr>
          <p:cNvPr id="307" name="Google Shape;307;p19"/>
          <p:cNvCxnSpPr>
            <a:stCxn id="304" idx="1"/>
          </p:cNvCxnSpPr>
          <p:nvPr/>
        </p:nvCxnSpPr>
        <p:spPr>
          <a:xfrm flipH="1">
            <a:off x="9128445" y="2973824"/>
            <a:ext cx="495900" cy="203400"/>
          </a:xfrm>
          <a:prstGeom prst="straightConnector1">
            <a:avLst/>
          </a:prstGeom>
          <a:noFill/>
          <a:ln w="19050" cap="flat" cmpd="sng">
            <a:solidFill>
              <a:srgbClr val="FF0000"/>
            </a:solidFill>
            <a:prstDash val="solid"/>
            <a:miter lim="8000"/>
            <a:headEnd type="none" w="sm" len="sm"/>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0"/>
          <p:cNvSpPr txBox="1"/>
          <p:nvPr/>
        </p:nvSpPr>
        <p:spPr>
          <a:xfrm>
            <a:off x="638503" y="386468"/>
            <a:ext cx="581747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3200">
                <a:solidFill>
                  <a:schemeClr val="dk1"/>
                </a:solidFill>
                <a:latin typeface="Play"/>
                <a:ea typeface="Play"/>
                <a:cs typeface="Play"/>
                <a:sym typeface="Play"/>
              </a:rPr>
              <a:t>Pierwsze zapoznanie z danymi</a:t>
            </a:r>
            <a:endParaRPr/>
          </a:p>
        </p:txBody>
      </p:sp>
      <p:sp>
        <p:nvSpPr>
          <p:cNvPr id="314" name="Google Shape;314;p20"/>
          <p:cNvSpPr txBox="1"/>
          <p:nvPr/>
        </p:nvSpPr>
        <p:spPr>
          <a:xfrm>
            <a:off x="1091761" y="5449181"/>
            <a:ext cx="28653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Klasa (zadanie klasyfikacji)</a:t>
            </a:r>
            <a:endParaRPr/>
          </a:p>
        </p:txBody>
      </p:sp>
      <p:sp>
        <p:nvSpPr>
          <p:cNvPr id="315" name="Google Shape;315;p20"/>
          <p:cNvSpPr txBox="1"/>
          <p:nvPr/>
        </p:nvSpPr>
        <p:spPr>
          <a:xfrm>
            <a:off x="4857230" y="1673582"/>
            <a:ext cx="37554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Predyktory, zmienne objaśniające</a:t>
            </a:r>
            <a:endParaRPr/>
          </a:p>
        </p:txBody>
      </p:sp>
      <p:pic>
        <p:nvPicPr>
          <p:cNvPr id="316" name="Google Shape;316;p20"/>
          <p:cNvPicPr preferRelativeResize="0"/>
          <p:nvPr/>
        </p:nvPicPr>
        <p:blipFill rotWithShape="1">
          <a:blip r:embed="rId3">
            <a:alphaModFix/>
          </a:blip>
          <a:srcRect r="87528"/>
          <a:stretch/>
        </p:blipFill>
        <p:spPr>
          <a:xfrm>
            <a:off x="2589929" y="2171310"/>
            <a:ext cx="734457" cy="2515379"/>
          </a:xfrm>
          <a:prstGeom prst="rect">
            <a:avLst/>
          </a:prstGeom>
          <a:noFill/>
          <a:ln w="28575" cap="flat" cmpd="sng">
            <a:solidFill>
              <a:srgbClr val="78206E"/>
            </a:solidFill>
            <a:prstDash val="solid"/>
            <a:round/>
            <a:headEnd type="none" w="sm" len="sm"/>
            <a:tailEnd type="none" w="sm" len="sm"/>
          </a:ln>
        </p:spPr>
      </p:pic>
      <p:pic>
        <p:nvPicPr>
          <p:cNvPr id="317" name="Google Shape;317;p20"/>
          <p:cNvPicPr preferRelativeResize="0"/>
          <p:nvPr/>
        </p:nvPicPr>
        <p:blipFill rotWithShape="1">
          <a:blip r:embed="rId3">
            <a:alphaModFix/>
          </a:blip>
          <a:srcRect l="12515" r="8299"/>
          <a:stretch/>
        </p:blipFill>
        <p:spPr>
          <a:xfrm>
            <a:off x="4403310" y="2171309"/>
            <a:ext cx="4663275" cy="2515379"/>
          </a:xfrm>
          <a:prstGeom prst="rect">
            <a:avLst/>
          </a:prstGeom>
          <a:noFill/>
          <a:ln w="28575" cap="flat" cmpd="sng">
            <a:solidFill>
              <a:srgbClr val="00B0F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1"/>
          <p:cNvSpPr txBox="1"/>
          <p:nvPr/>
        </p:nvSpPr>
        <p:spPr>
          <a:xfrm>
            <a:off x="7613581" y="1883693"/>
            <a:ext cx="293570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Próbka powinna być reprezentatywna!</a:t>
            </a:r>
            <a:endParaRPr/>
          </a:p>
        </p:txBody>
      </p:sp>
      <p:sp>
        <p:nvSpPr>
          <p:cNvPr id="324" name="Google Shape;324;p21"/>
          <p:cNvSpPr txBox="1">
            <a:spLocks noGrp="1"/>
          </p:cNvSpPr>
          <p:nvPr>
            <p:ph type="title"/>
          </p:nvPr>
        </p:nvSpPr>
        <p:spPr>
          <a:xfrm>
            <a:off x="3563352" y="525619"/>
            <a:ext cx="5065295" cy="90220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Play"/>
              <a:buNone/>
            </a:pPr>
            <a:r>
              <a:rPr lang="pl-PL"/>
              <a:t>Ile danych potrzeba?</a:t>
            </a:r>
            <a:endParaRPr/>
          </a:p>
        </p:txBody>
      </p:sp>
      <p:sp>
        <p:nvSpPr>
          <p:cNvPr id="325" name="Google Shape;325;p21"/>
          <p:cNvSpPr txBox="1"/>
          <p:nvPr/>
        </p:nvSpPr>
        <p:spPr>
          <a:xfrm>
            <a:off x="1185884" y="2107925"/>
            <a:ext cx="2078431" cy="3825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Populacja</a:t>
            </a:r>
            <a:endParaRPr/>
          </a:p>
        </p:txBody>
      </p:sp>
      <p:sp>
        <p:nvSpPr>
          <p:cNvPr id="326" name="Google Shape;326;p21"/>
          <p:cNvSpPr txBox="1"/>
          <p:nvPr/>
        </p:nvSpPr>
        <p:spPr>
          <a:xfrm>
            <a:off x="1185884" y="4233504"/>
            <a:ext cx="2078431" cy="3825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Próbka</a:t>
            </a:r>
            <a:endParaRPr/>
          </a:p>
        </p:txBody>
      </p:sp>
      <p:pic>
        <p:nvPicPr>
          <p:cNvPr id="327" name="Google Shape;327;p21"/>
          <p:cNvPicPr preferRelativeResize="0"/>
          <p:nvPr/>
        </p:nvPicPr>
        <p:blipFill>
          <a:blip r:embed="rId3">
            <a:alphaModFix/>
          </a:blip>
          <a:stretch>
            <a:fillRect/>
          </a:stretch>
        </p:blipFill>
        <p:spPr>
          <a:xfrm>
            <a:off x="1185875" y="2526550"/>
            <a:ext cx="1490700" cy="1490700"/>
          </a:xfrm>
          <a:prstGeom prst="rect">
            <a:avLst/>
          </a:prstGeom>
          <a:noFill/>
          <a:ln>
            <a:noFill/>
          </a:ln>
        </p:spPr>
      </p:pic>
      <p:pic>
        <p:nvPicPr>
          <p:cNvPr id="328" name="Google Shape;328;p21"/>
          <p:cNvPicPr preferRelativeResize="0"/>
          <p:nvPr/>
        </p:nvPicPr>
        <p:blipFill>
          <a:blip r:embed="rId4">
            <a:alphaModFix/>
          </a:blip>
          <a:stretch>
            <a:fillRect/>
          </a:stretch>
        </p:blipFill>
        <p:spPr>
          <a:xfrm>
            <a:off x="2616475" y="2533600"/>
            <a:ext cx="1490700" cy="1490700"/>
          </a:xfrm>
          <a:prstGeom prst="rect">
            <a:avLst/>
          </a:prstGeom>
          <a:noFill/>
          <a:ln>
            <a:noFill/>
          </a:ln>
        </p:spPr>
      </p:pic>
      <p:pic>
        <p:nvPicPr>
          <p:cNvPr id="329" name="Google Shape;329;p21"/>
          <p:cNvPicPr preferRelativeResize="0"/>
          <p:nvPr/>
        </p:nvPicPr>
        <p:blipFill>
          <a:blip r:embed="rId5">
            <a:alphaModFix/>
          </a:blip>
          <a:stretch>
            <a:fillRect/>
          </a:stretch>
        </p:blipFill>
        <p:spPr>
          <a:xfrm>
            <a:off x="4033025" y="2526550"/>
            <a:ext cx="1490700" cy="1490700"/>
          </a:xfrm>
          <a:prstGeom prst="rect">
            <a:avLst/>
          </a:prstGeom>
          <a:noFill/>
          <a:ln>
            <a:noFill/>
          </a:ln>
        </p:spPr>
      </p:pic>
      <p:pic>
        <p:nvPicPr>
          <p:cNvPr id="330" name="Google Shape;330;p21"/>
          <p:cNvPicPr preferRelativeResize="0"/>
          <p:nvPr/>
        </p:nvPicPr>
        <p:blipFill>
          <a:blip r:embed="rId6">
            <a:alphaModFix/>
          </a:blip>
          <a:stretch>
            <a:fillRect/>
          </a:stretch>
        </p:blipFill>
        <p:spPr>
          <a:xfrm>
            <a:off x="1024375" y="4749027"/>
            <a:ext cx="984475" cy="984475"/>
          </a:xfrm>
          <a:prstGeom prst="rect">
            <a:avLst/>
          </a:prstGeom>
          <a:noFill/>
          <a:ln>
            <a:noFill/>
          </a:ln>
        </p:spPr>
      </p:pic>
      <p:pic>
        <p:nvPicPr>
          <p:cNvPr id="331" name="Google Shape;331;p21"/>
          <p:cNvPicPr preferRelativeResize="0"/>
          <p:nvPr/>
        </p:nvPicPr>
        <p:blipFill>
          <a:blip r:embed="rId7">
            <a:alphaModFix/>
          </a:blip>
          <a:stretch>
            <a:fillRect/>
          </a:stretch>
        </p:blipFill>
        <p:spPr>
          <a:xfrm>
            <a:off x="1686524" y="4738572"/>
            <a:ext cx="984475" cy="995928"/>
          </a:xfrm>
          <a:prstGeom prst="rect">
            <a:avLst/>
          </a:prstGeom>
          <a:noFill/>
          <a:ln>
            <a:noFill/>
          </a:ln>
        </p:spPr>
      </p:pic>
      <p:pic>
        <p:nvPicPr>
          <p:cNvPr id="332" name="Google Shape;332;p21"/>
          <p:cNvPicPr preferRelativeResize="0"/>
          <p:nvPr/>
        </p:nvPicPr>
        <p:blipFill>
          <a:blip r:embed="rId8">
            <a:alphaModFix/>
          </a:blip>
          <a:stretch>
            <a:fillRect/>
          </a:stretch>
        </p:blipFill>
        <p:spPr>
          <a:xfrm>
            <a:off x="2361650" y="4743302"/>
            <a:ext cx="984475" cy="99592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38b89f731a7_0_19"/>
          <p:cNvSpPr txBox="1"/>
          <p:nvPr/>
        </p:nvSpPr>
        <p:spPr>
          <a:xfrm>
            <a:off x="7613581" y="1883693"/>
            <a:ext cx="29358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Próbka powinna być reprezentatywna!</a:t>
            </a:r>
            <a:endParaRPr/>
          </a:p>
        </p:txBody>
      </p:sp>
      <p:sp>
        <p:nvSpPr>
          <p:cNvPr id="339" name="Google Shape;339;g38b89f731a7_0_19"/>
          <p:cNvSpPr txBox="1">
            <a:spLocks noGrp="1"/>
          </p:cNvSpPr>
          <p:nvPr>
            <p:ph type="title"/>
          </p:nvPr>
        </p:nvSpPr>
        <p:spPr>
          <a:xfrm>
            <a:off x="3563352" y="525619"/>
            <a:ext cx="5065200" cy="9021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pl-PL"/>
              <a:t>Ile danych potrzeba?</a:t>
            </a:r>
            <a:endParaRPr/>
          </a:p>
        </p:txBody>
      </p:sp>
      <p:sp>
        <p:nvSpPr>
          <p:cNvPr id="340" name="Google Shape;340;g38b89f731a7_0_19"/>
          <p:cNvSpPr txBox="1"/>
          <p:nvPr/>
        </p:nvSpPr>
        <p:spPr>
          <a:xfrm>
            <a:off x="1185884" y="2107925"/>
            <a:ext cx="2078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Populacja</a:t>
            </a:r>
            <a:endParaRPr/>
          </a:p>
        </p:txBody>
      </p:sp>
      <p:sp>
        <p:nvSpPr>
          <p:cNvPr id="341" name="Google Shape;341;g38b89f731a7_0_19"/>
          <p:cNvSpPr txBox="1"/>
          <p:nvPr/>
        </p:nvSpPr>
        <p:spPr>
          <a:xfrm>
            <a:off x="1218603" y="4233499"/>
            <a:ext cx="2499600" cy="444300"/>
          </a:xfrm>
          <a:prstGeom prst="rect">
            <a:avLst/>
          </a:prstGeom>
          <a:noFill/>
          <a:ln>
            <a:noFill/>
          </a:ln>
        </p:spPr>
        <p:txBody>
          <a:bodyPr spcFirstLastPara="1" wrap="square" lIns="109950" tIns="54950" rIns="109950" bIns="54950" anchor="t" anchorCtr="0">
            <a:spAutoFit/>
          </a:bodyPr>
          <a:lstStyle/>
          <a:p>
            <a:pPr marL="0" marR="0" lvl="0" indent="0" algn="l" rtl="0">
              <a:spcBef>
                <a:spcPts val="0"/>
              </a:spcBef>
              <a:spcAft>
                <a:spcPts val="0"/>
              </a:spcAft>
              <a:buNone/>
            </a:pPr>
            <a:r>
              <a:rPr lang="pl-PL" sz="2165">
                <a:solidFill>
                  <a:schemeClr val="dk1"/>
                </a:solidFill>
                <a:latin typeface="Arial"/>
                <a:ea typeface="Arial"/>
                <a:cs typeface="Arial"/>
                <a:sym typeface="Arial"/>
              </a:rPr>
              <a:t>Próbka</a:t>
            </a:r>
            <a:endParaRPr sz="1684"/>
          </a:p>
        </p:txBody>
      </p:sp>
      <p:pic>
        <p:nvPicPr>
          <p:cNvPr id="342" name="Google Shape;342;g38b89f731a7_0_19"/>
          <p:cNvPicPr preferRelativeResize="0"/>
          <p:nvPr/>
        </p:nvPicPr>
        <p:blipFill>
          <a:blip r:embed="rId3">
            <a:alphaModFix/>
          </a:blip>
          <a:stretch>
            <a:fillRect/>
          </a:stretch>
        </p:blipFill>
        <p:spPr>
          <a:xfrm>
            <a:off x="1185875" y="2526550"/>
            <a:ext cx="1490700" cy="1490700"/>
          </a:xfrm>
          <a:prstGeom prst="rect">
            <a:avLst/>
          </a:prstGeom>
          <a:noFill/>
          <a:ln>
            <a:noFill/>
          </a:ln>
        </p:spPr>
      </p:pic>
      <p:pic>
        <p:nvPicPr>
          <p:cNvPr id="343" name="Google Shape;343;g38b89f731a7_0_19"/>
          <p:cNvPicPr preferRelativeResize="0"/>
          <p:nvPr/>
        </p:nvPicPr>
        <p:blipFill>
          <a:blip r:embed="rId4">
            <a:alphaModFix/>
          </a:blip>
          <a:stretch>
            <a:fillRect/>
          </a:stretch>
        </p:blipFill>
        <p:spPr>
          <a:xfrm>
            <a:off x="2616475" y="2533600"/>
            <a:ext cx="1490700" cy="1490700"/>
          </a:xfrm>
          <a:prstGeom prst="rect">
            <a:avLst/>
          </a:prstGeom>
          <a:noFill/>
          <a:ln>
            <a:noFill/>
          </a:ln>
        </p:spPr>
      </p:pic>
      <p:pic>
        <p:nvPicPr>
          <p:cNvPr id="344" name="Google Shape;344;g38b89f731a7_0_19"/>
          <p:cNvPicPr preferRelativeResize="0"/>
          <p:nvPr/>
        </p:nvPicPr>
        <p:blipFill>
          <a:blip r:embed="rId5">
            <a:alphaModFix/>
          </a:blip>
          <a:stretch>
            <a:fillRect/>
          </a:stretch>
        </p:blipFill>
        <p:spPr>
          <a:xfrm>
            <a:off x="4033025" y="2526550"/>
            <a:ext cx="1490700" cy="1490700"/>
          </a:xfrm>
          <a:prstGeom prst="rect">
            <a:avLst/>
          </a:prstGeom>
          <a:noFill/>
          <a:ln>
            <a:noFill/>
          </a:ln>
        </p:spPr>
      </p:pic>
      <p:pic>
        <p:nvPicPr>
          <p:cNvPr id="345" name="Google Shape;345;g38b89f731a7_0_19"/>
          <p:cNvPicPr preferRelativeResize="0"/>
          <p:nvPr/>
        </p:nvPicPr>
        <p:blipFill>
          <a:blip r:embed="rId6">
            <a:alphaModFix/>
          </a:blip>
          <a:stretch>
            <a:fillRect/>
          </a:stretch>
        </p:blipFill>
        <p:spPr>
          <a:xfrm>
            <a:off x="1024375" y="4853457"/>
            <a:ext cx="1183911" cy="1183911"/>
          </a:xfrm>
          <a:prstGeom prst="rect">
            <a:avLst/>
          </a:prstGeom>
          <a:noFill/>
          <a:ln>
            <a:noFill/>
          </a:ln>
        </p:spPr>
      </p:pic>
      <p:pic>
        <p:nvPicPr>
          <p:cNvPr id="346" name="Google Shape;346;g38b89f731a7_0_19"/>
          <p:cNvPicPr preferRelativeResize="0"/>
          <p:nvPr/>
        </p:nvPicPr>
        <p:blipFill>
          <a:blip r:embed="rId7">
            <a:alphaModFix/>
          </a:blip>
          <a:stretch>
            <a:fillRect/>
          </a:stretch>
        </p:blipFill>
        <p:spPr>
          <a:xfrm>
            <a:off x="1820666" y="4840884"/>
            <a:ext cx="1183911" cy="1197684"/>
          </a:xfrm>
          <a:prstGeom prst="rect">
            <a:avLst/>
          </a:prstGeom>
          <a:noFill/>
          <a:ln>
            <a:noFill/>
          </a:ln>
        </p:spPr>
      </p:pic>
      <p:pic>
        <p:nvPicPr>
          <p:cNvPr id="347" name="Google Shape;347;g38b89f731a7_0_19"/>
          <p:cNvPicPr preferRelativeResize="0"/>
          <p:nvPr/>
        </p:nvPicPr>
        <p:blipFill>
          <a:blip r:embed="rId8">
            <a:alphaModFix/>
          </a:blip>
          <a:stretch>
            <a:fillRect/>
          </a:stretch>
        </p:blipFill>
        <p:spPr>
          <a:xfrm>
            <a:off x="2632561" y="4846572"/>
            <a:ext cx="1183911" cy="1197677"/>
          </a:xfrm>
          <a:prstGeom prst="rect">
            <a:avLst/>
          </a:prstGeom>
          <a:noFill/>
          <a:ln>
            <a:noFill/>
          </a:ln>
        </p:spPr>
      </p:pic>
      <p:pic>
        <p:nvPicPr>
          <p:cNvPr id="348" name="Google Shape;348;g38b89f731a7_0_19"/>
          <p:cNvPicPr preferRelativeResize="0"/>
          <p:nvPr/>
        </p:nvPicPr>
        <p:blipFill>
          <a:blip r:embed="rId9">
            <a:alphaModFix/>
          </a:blip>
          <a:stretch>
            <a:fillRect/>
          </a:stretch>
        </p:blipFill>
        <p:spPr>
          <a:xfrm>
            <a:off x="7481328" y="4233500"/>
            <a:ext cx="3545397" cy="1810750"/>
          </a:xfrm>
          <a:prstGeom prst="rect">
            <a:avLst/>
          </a:prstGeom>
          <a:noFill/>
          <a:ln>
            <a:noFill/>
          </a:ln>
        </p:spPr>
      </p:pic>
      <p:pic>
        <p:nvPicPr>
          <p:cNvPr id="349" name="Google Shape;349;g38b89f731a7_0_19"/>
          <p:cNvPicPr preferRelativeResize="0"/>
          <p:nvPr/>
        </p:nvPicPr>
        <p:blipFill>
          <a:blip r:embed="rId10">
            <a:alphaModFix/>
          </a:blip>
          <a:stretch>
            <a:fillRect/>
          </a:stretch>
        </p:blipFill>
        <p:spPr>
          <a:xfrm>
            <a:off x="10798807" y="4834873"/>
            <a:ext cx="1208993" cy="1490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3"/>
          <p:cNvSpPr/>
          <p:nvPr/>
        </p:nvSpPr>
        <p:spPr>
          <a:xfrm>
            <a:off x="1672049" y="1766889"/>
            <a:ext cx="2302722" cy="1809345"/>
          </a:xfrm>
          <a:prstGeom prst="roundRect">
            <a:avLst>
              <a:gd name="adj" fmla="val 16667"/>
            </a:avLst>
          </a:prstGeom>
          <a:solidFill>
            <a:srgbClr val="43B0E1"/>
          </a:solidFill>
          <a:ln w="19050" cap="flat" cmpd="sng">
            <a:solidFill>
              <a:srgbClr val="43B0E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800">
                <a:solidFill>
                  <a:schemeClr val="lt1"/>
                </a:solidFill>
                <a:latin typeface="Arial"/>
                <a:ea typeface="Arial"/>
                <a:cs typeface="Arial"/>
                <a:sym typeface="Arial"/>
              </a:rPr>
              <a:t>Predykcja wyników studentów</a:t>
            </a:r>
            <a:endParaRPr/>
          </a:p>
          <a:p>
            <a:pPr marL="0" marR="0" lvl="0" indent="0" algn="ctr" rtl="0">
              <a:spcBef>
                <a:spcPts val="0"/>
              </a:spcBef>
              <a:spcAft>
                <a:spcPts val="0"/>
              </a:spcAft>
              <a:buNone/>
            </a:pPr>
            <a:r>
              <a:rPr lang="pl-PL" sz="1800">
                <a:solidFill>
                  <a:schemeClr val="lt1"/>
                </a:solidFill>
                <a:latin typeface="Arial"/>
                <a:ea typeface="Arial"/>
                <a:cs typeface="Arial"/>
                <a:sym typeface="Arial"/>
              </a:rPr>
              <a:t>~</a:t>
            </a:r>
            <a:endParaRPr/>
          </a:p>
          <a:p>
            <a:pPr marL="0" marR="0" lvl="0" indent="0" algn="ctr" rtl="0">
              <a:spcBef>
                <a:spcPts val="0"/>
              </a:spcBef>
              <a:spcAft>
                <a:spcPts val="0"/>
              </a:spcAft>
              <a:buNone/>
            </a:pPr>
            <a:r>
              <a:rPr lang="pl-PL" sz="1800">
                <a:solidFill>
                  <a:schemeClr val="lt1"/>
                </a:solidFill>
                <a:latin typeface="Arial"/>
                <a:ea typeface="Arial"/>
                <a:cs typeface="Arial"/>
                <a:sym typeface="Arial"/>
              </a:rPr>
              <a:t>1,000 </a:t>
            </a:r>
            <a:endParaRPr/>
          </a:p>
          <a:p>
            <a:pPr marL="0" marR="0" lvl="0" indent="0" algn="ctr" rtl="0">
              <a:spcBef>
                <a:spcPts val="0"/>
              </a:spcBef>
              <a:spcAft>
                <a:spcPts val="0"/>
              </a:spcAft>
              <a:buNone/>
            </a:pPr>
            <a:r>
              <a:rPr lang="pl-PL" sz="1600">
                <a:solidFill>
                  <a:schemeClr val="lt1"/>
                </a:solidFill>
                <a:latin typeface="Arial"/>
                <a:ea typeface="Arial"/>
                <a:cs typeface="Arial"/>
                <a:sym typeface="Arial"/>
              </a:rPr>
              <a:t>(obserwacji) </a:t>
            </a:r>
            <a:endParaRPr/>
          </a:p>
        </p:txBody>
      </p:sp>
      <p:sp>
        <p:nvSpPr>
          <p:cNvPr id="356" name="Google Shape;356;p23"/>
          <p:cNvSpPr/>
          <p:nvPr/>
        </p:nvSpPr>
        <p:spPr>
          <a:xfrm>
            <a:off x="5978692" y="1355484"/>
            <a:ext cx="192517" cy="234808"/>
          </a:xfrm>
          <a:custGeom>
            <a:avLst/>
            <a:gdLst/>
            <a:ahLst/>
            <a:cxnLst/>
            <a:rect l="l" t="t" r="r" b="b"/>
            <a:pathLst>
              <a:path w="192517" h="234808" extrusionOk="0">
                <a:moveTo>
                  <a:pt x="190500" y="213932"/>
                </a:moveTo>
                <a:lnTo>
                  <a:pt x="60103" y="6096"/>
                </a:lnTo>
                <a:cubicBezTo>
                  <a:pt x="57769" y="2287"/>
                  <a:pt x="53615" y="-25"/>
                  <a:pt x="49149" y="0"/>
                </a:cubicBezTo>
                <a:cubicBezTo>
                  <a:pt x="44663" y="-2"/>
                  <a:pt x="40490" y="2300"/>
                  <a:pt x="38100" y="6096"/>
                </a:cubicBezTo>
                <a:lnTo>
                  <a:pt x="0" y="67247"/>
                </a:lnTo>
                <a:lnTo>
                  <a:pt x="81725" y="199454"/>
                </a:lnTo>
                <a:cubicBezTo>
                  <a:pt x="88641" y="209912"/>
                  <a:pt x="90127" y="223051"/>
                  <a:pt x="85725" y="234791"/>
                </a:cubicBezTo>
                <a:lnTo>
                  <a:pt x="178117" y="234791"/>
                </a:lnTo>
                <a:cubicBezTo>
                  <a:pt x="185683" y="235170"/>
                  <a:pt x="192123" y="229342"/>
                  <a:pt x="192500" y="221776"/>
                </a:cubicBezTo>
                <a:cubicBezTo>
                  <a:pt x="192638" y="219020"/>
                  <a:pt x="191941" y="216286"/>
                  <a:pt x="190500" y="213932"/>
                </a:cubicBezTo>
                <a:close/>
              </a:path>
            </a:pathLst>
          </a:custGeom>
          <a:solidFill>
            <a:srgbClr val="D86CCC"/>
          </a:solidFill>
          <a:ln w="9525" cap="flat" cmpd="sng">
            <a:solidFill>
              <a:srgbClr val="D86CC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7" name="Google Shape;357;p23"/>
          <p:cNvSpPr/>
          <p:nvPr/>
        </p:nvSpPr>
        <p:spPr>
          <a:xfrm>
            <a:off x="5584693" y="1228318"/>
            <a:ext cx="445097" cy="362080"/>
          </a:xfrm>
          <a:custGeom>
            <a:avLst/>
            <a:gdLst/>
            <a:ahLst/>
            <a:cxnLst/>
            <a:rect l="l" t="t" r="r" b="b"/>
            <a:pathLst>
              <a:path w="445097" h="362080" extrusionOk="0">
                <a:moveTo>
                  <a:pt x="442576" y="342336"/>
                </a:moveTo>
                <a:lnTo>
                  <a:pt x="235407" y="5246"/>
                </a:lnTo>
                <a:cubicBezTo>
                  <a:pt x="232749" y="1812"/>
                  <a:pt x="228604" y="-136"/>
                  <a:pt x="224263" y="7"/>
                </a:cubicBezTo>
                <a:lnTo>
                  <a:pt x="222549" y="7"/>
                </a:lnTo>
                <a:lnTo>
                  <a:pt x="220834" y="7"/>
                </a:lnTo>
                <a:cubicBezTo>
                  <a:pt x="216494" y="-136"/>
                  <a:pt x="212348" y="1812"/>
                  <a:pt x="209690" y="5246"/>
                </a:cubicBezTo>
                <a:lnTo>
                  <a:pt x="2521" y="342336"/>
                </a:lnTo>
                <a:cubicBezTo>
                  <a:pt x="-413" y="346442"/>
                  <a:pt x="-817" y="351841"/>
                  <a:pt x="1473" y="356338"/>
                </a:cubicBezTo>
                <a:cubicBezTo>
                  <a:pt x="3784" y="360412"/>
                  <a:pt x="8365" y="362646"/>
                  <a:pt x="12999" y="361957"/>
                </a:cubicBezTo>
                <a:lnTo>
                  <a:pt x="432099" y="361957"/>
                </a:lnTo>
                <a:cubicBezTo>
                  <a:pt x="436733" y="362646"/>
                  <a:pt x="441313" y="360412"/>
                  <a:pt x="443624" y="356338"/>
                </a:cubicBezTo>
                <a:cubicBezTo>
                  <a:pt x="445915" y="351841"/>
                  <a:pt x="445511" y="346442"/>
                  <a:pt x="442576" y="342336"/>
                </a:cubicBezTo>
                <a:close/>
                <a:moveTo>
                  <a:pt x="257220" y="163171"/>
                </a:moveTo>
                <a:lnTo>
                  <a:pt x="224263" y="192508"/>
                </a:lnTo>
                <a:lnTo>
                  <a:pt x="191307" y="163171"/>
                </a:lnTo>
                <a:lnTo>
                  <a:pt x="136824" y="196127"/>
                </a:lnTo>
                <a:lnTo>
                  <a:pt x="222549" y="57157"/>
                </a:lnTo>
                <a:lnTo>
                  <a:pt x="305988" y="192508"/>
                </a:lnTo>
                <a:close/>
              </a:path>
            </a:pathLst>
          </a:custGeom>
          <a:solidFill>
            <a:srgbClr val="D86CCC"/>
          </a:solidFill>
          <a:ln w="9525" cap="flat" cmpd="sng">
            <a:solidFill>
              <a:srgbClr val="D86CC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8" name="Google Shape;358;p23"/>
          <p:cNvSpPr/>
          <p:nvPr/>
        </p:nvSpPr>
        <p:spPr>
          <a:xfrm>
            <a:off x="5654842" y="1220801"/>
            <a:ext cx="57150" cy="57150"/>
          </a:xfrm>
          <a:custGeom>
            <a:avLst/>
            <a:gdLst/>
            <a:ahLst/>
            <a:cxnLst/>
            <a:rect l="l" t="t" r="r" b="b"/>
            <a:pathLst>
              <a:path w="57150" h="57150" extrusionOk="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rgbClr val="D86CCC"/>
          </a:solidFill>
          <a:ln w="9525" cap="flat" cmpd="sng">
            <a:solidFill>
              <a:srgbClr val="D86CC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9" name="Google Shape;359;p23"/>
          <p:cNvSpPr/>
          <p:nvPr/>
        </p:nvSpPr>
        <p:spPr>
          <a:xfrm>
            <a:off x="5502442" y="1116026"/>
            <a:ext cx="762000" cy="590550"/>
          </a:xfrm>
          <a:custGeom>
            <a:avLst/>
            <a:gdLst/>
            <a:ahLst/>
            <a:cxnLst/>
            <a:rect l="l" t="t" r="r" b="b"/>
            <a:pathLst>
              <a:path w="762000" h="590550" extrusionOk="0">
                <a:moveTo>
                  <a:pt x="57150" y="533400"/>
                </a:moveTo>
                <a:lnTo>
                  <a:pt x="57150" y="57150"/>
                </a:lnTo>
                <a:lnTo>
                  <a:pt x="704850" y="57150"/>
                </a:lnTo>
                <a:lnTo>
                  <a:pt x="704850" y="533400"/>
                </a:lnTo>
                <a:close/>
                <a:moveTo>
                  <a:pt x="762000" y="590550"/>
                </a:moveTo>
                <a:lnTo>
                  <a:pt x="762000" y="0"/>
                </a:lnTo>
                <a:lnTo>
                  <a:pt x="0" y="0"/>
                </a:lnTo>
                <a:lnTo>
                  <a:pt x="0" y="590550"/>
                </a:lnTo>
                <a:close/>
              </a:path>
            </a:pathLst>
          </a:custGeom>
          <a:solidFill>
            <a:srgbClr val="D86CCC"/>
          </a:solidFill>
          <a:ln w="9525" cap="flat" cmpd="sng">
            <a:solidFill>
              <a:srgbClr val="D86CC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0" name="Google Shape;360;p23"/>
          <p:cNvSpPr/>
          <p:nvPr/>
        </p:nvSpPr>
        <p:spPr>
          <a:xfrm>
            <a:off x="4703667" y="1766889"/>
            <a:ext cx="2302722" cy="1809345"/>
          </a:xfrm>
          <a:prstGeom prst="roundRect">
            <a:avLst>
              <a:gd name="adj" fmla="val 16667"/>
            </a:avLst>
          </a:prstGeom>
          <a:solidFill>
            <a:srgbClr val="D86CCC"/>
          </a:solidFill>
          <a:ln w="19050" cap="flat" cmpd="sng">
            <a:solidFill>
              <a:srgbClr val="D86CC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800">
                <a:solidFill>
                  <a:schemeClr val="lt1"/>
                </a:solidFill>
                <a:latin typeface="Arial"/>
                <a:ea typeface="Arial"/>
                <a:cs typeface="Arial"/>
                <a:sym typeface="Arial"/>
              </a:rPr>
              <a:t>Klasyfikacja obrazów</a:t>
            </a:r>
            <a:endParaRPr/>
          </a:p>
          <a:p>
            <a:pPr marL="0" marR="0" lvl="0" indent="0" algn="ctr" rtl="0">
              <a:spcBef>
                <a:spcPts val="0"/>
              </a:spcBef>
              <a:spcAft>
                <a:spcPts val="0"/>
              </a:spcAft>
              <a:buNone/>
            </a:pPr>
            <a:r>
              <a:rPr lang="pl-PL" sz="1800">
                <a:solidFill>
                  <a:schemeClr val="lt1"/>
                </a:solidFill>
                <a:latin typeface="Arial"/>
                <a:ea typeface="Arial"/>
                <a:cs typeface="Arial"/>
                <a:sym typeface="Arial"/>
              </a:rPr>
              <a:t>~</a:t>
            </a:r>
            <a:endParaRPr/>
          </a:p>
          <a:p>
            <a:pPr marL="0" marR="0" lvl="0" indent="0" algn="ctr" rtl="0">
              <a:spcBef>
                <a:spcPts val="0"/>
              </a:spcBef>
              <a:spcAft>
                <a:spcPts val="0"/>
              </a:spcAft>
              <a:buNone/>
            </a:pPr>
            <a:r>
              <a:rPr lang="pl-PL" sz="1800">
                <a:solidFill>
                  <a:schemeClr val="lt1"/>
                </a:solidFill>
                <a:latin typeface="Arial"/>
                <a:ea typeface="Arial"/>
                <a:cs typeface="Arial"/>
                <a:sym typeface="Arial"/>
              </a:rPr>
              <a:t>10,000 </a:t>
            </a:r>
            <a:endParaRPr/>
          </a:p>
        </p:txBody>
      </p:sp>
      <p:sp>
        <p:nvSpPr>
          <p:cNvPr id="361" name="Google Shape;361;p23"/>
          <p:cNvSpPr/>
          <p:nvPr/>
        </p:nvSpPr>
        <p:spPr>
          <a:xfrm>
            <a:off x="8088892" y="1749948"/>
            <a:ext cx="2302722" cy="1809345"/>
          </a:xfrm>
          <a:prstGeom prst="roundRect">
            <a:avLst>
              <a:gd name="adj" fmla="val 16667"/>
            </a:avLst>
          </a:prstGeom>
          <a:solidFill>
            <a:srgbClr val="3A7D22"/>
          </a:solidFill>
          <a:ln w="19050" cap="flat" cmpd="sng">
            <a:solidFill>
              <a:srgbClr val="3A7D2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800">
                <a:solidFill>
                  <a:schemeClr val="lt1"/>
                </a:solidFill>
                <a:latin typeface="Arial"/>
                <a:ea typeface="Arial"/>
                <a:cs typeface="Arial"/>
                <a:sym typeface="Arial"/>
              </a:rPr>
              <a:t>Analiza sentymentu modelem językowym</a:t>
            </a:r>
            <a:endParaRPr/>
          </a:p>
          <a:p>
            <a:pPr marL="0" marR="0" lvl="0" indent="0" algn="ctr" rtl="0">
              <a:spcBef>
                <a:spcPts val="0"/>
              </a:spcBef>
              <a:spcAft>
                <a:spcPts val="0"/>
              </a:spcAft>
              <a:buNone/>
            </a:pPr>
            <a:r>
              <a:rPr lang="pl-PL" sz="1800">
                <a:solidFill>
                  <a:schemeClr val="lt1"/>
                </a:solidFill>
                <a:latin typeface="Arial"/>
                <a:ea typeface="Arial"/>
                <a:cs typeface="Arial"/>
                <a:sym typeface="Arial"/>
              </a:rPr>
              <a:t>~</a:t>
            </a:r>
            <a:endParaRPr/>
          </a:p>
          <a:p>
            <a:pPr marL="0" marR="0" lvl="0" indent="0" algn="ctr" rtl="0">
              <a:spcBef>
                <a:spcPts val="0"/>
              </a:spcBef>
              <a:spcAft>
                <a:spcPts val="0"/>
              </a:spcAft>
              <a:buNone/>
            </a:pPr>
            <a:r>
              <a:rPr lang="pl-PL" sz="1800">
                <a:solidFill>
                  <a:schemeClr val="lt1"/>
                </a:solidFill>
                <a:latin typeface="Arial"/>
                <a:ea typeface="Arial"/>
                <a:cs typeface="Arial"/>
                <a:sym typeface="Arial"/>
              </a:rPr>
              <a:t>1 000 000 000  </a:t>
            </a:r>
            <a:r>
              <a:rPr lang="pl-PL" sz="1600">
                <a:solidFill>
                  <a:schemeClr val="lt1"/>
                </a:solidFill>
                <a:latin typeface="Arial"/>
                <a:ea typeface="Arial"/>
                <a:cs typeface="Arial"/>
                <a:sym typeface="Arial"/>
              </a:rPr>
              <a:t>(słów)</a:t>
            </a:r>
            <a:endParaRPr/>
          </a:p>
        </p:txBody>
      </p:sp>
      <p:sp>
        <p:nvSpPr>
          <p:cNvPr id="362" name="Google Shape;362;p23"/>
          <p:cNvSpPr txBox="1"/>
          <p:nvPr/>
        </p:nvSpPr>
        <p:spPr>
          <a:xfrm>
            <a:off x="3152358" y="4846121"/>
            <a:ext cx="622416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Dane bez anotacji (klas) są szeroko dostępne </a:t>
            </a:r>
            <a:endParaRPr/>
          </a:p>
        </p:txBody>
      </p:sp>
      <p:pic>
        <p:nvPicPr>
          <p:cNvPr id="363" name="Google Shape;363;p23"/>
          <p:cNvPicPr preferRelativeResize="0"/>
          <p:nvPr/>
        </p:nvPicPr>
        <p:blipFill>
          <a:blip r:embed="rId3">
            <a:alphaModFix/>
          </a:blip>
          <a:stretch>
            <a:fillRect/>
          </a:stretch>
        </p:blipFill>
        <p:spPr>
          <a:xfrm>
            <a:off x="2480527" y="1066475"/>
            <a:ext cx="762000" cy="762000"/>
          </a:xfrm>
          <a:prstGeom prst="rect">
            <a:avLst/>
          </a:prstGeom>
          <a:noFill/>
          <a:ln>
            <a:noFill/>
          </a:ln>
        </p:spPr>
      </p:pic>
      <p:pic>
        <p:nvPicPr>
          <p:cNvPr id="364" name="Google Shape;364;p23"/>
          <p:cNvPicPr preferRelativeResize="0"/>
          <p:nvPr/>
        </p:nvPicPr>
        <p:blipFill>
          <a:blip r:embed="rId4">
            <a:alphaModFix/>
          </a:blip>
          <a:stretch>
            <a:fillRect/>
          </a:stretch>
        </p:blipFill>
        <p:spPr>
          <a:xfrm>
            <a:off x="8782325" y="851021"/>
            <a:ext cx="915875" cy="915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Eksploracyjna analiza danych – po co i na co?</a:t>
            </a:r>
            <a:endParaRPr/>
          </a:p>
        </p:txBody>
      </p:sp>
      <p:sp>
        <p:nvSpPr>
          <p:cNvPr id="371" name="Google Shape;371;p25"/>
          <p:cNvSpPr txBox="1"/>
          <p:nvPr/>
        </p:nvSpPr>
        <p:spPr>
          <a:xfrm>
            <a:off x="838200" y="1690688"/>
            <a:ext cx="9200098"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EDA (</a:t>
            </a:r>
            <a:r>
              <a:rPr lang="pl-PL" sz="1800" i="1">
                <a:solidFill>
                  <a:schemeClr val="dk1"/>
                </a:solidFill>
                <a:latin typeface="Arial"/>
                <a:ea typeface="Arial"/>
                <a:cs typeface="Arial"/>
                <a:sym typeface="Arial"/>
              </a:rPr>
              <a:t>Exploratory Data Analysis</a:t>
            </a:r>
            <a:r>
              <a:rPr lang="pl-PL" sz="1800">
                <a:solidFill>
                  <a:schemeClr val="dk1"/>
                </a:solidFill>
                <a:latin typeface="Arial"/>
                <a:ea typeface="Arial"/>
                <a:cs typeface="Arial"/>
                <a:sym typeface="Arial"/>
              </a:rPr>
              <a:t>)</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pl-PL" sz="1800" i="1">
                <a:solidFill>
                  <a:schemeClr val="dk1"/>
                </a:solidFill>
                <a:latin typeface="Arial"/>
                <a:ea typeface="Arial"/>
                <a:cs typeface="Arial"/>
                <a:sym typeface="Arial"/>
              </a:rPr>
              <a:t>„Let the data speak” </a:t>
            </a:r>
            <a:r>
              <a:rPr lang="pl-PL" sz="1800">
                <a:solidFill>
                  <a:schemeClr val="dk1"/>
                </a:solidFill>
                <a:latin typeface="Arial"/>
                <a:ea typeface="Arial"/>
                <a:cs typeface="Arial"/>
                <a:sym typeface="Arial"/>
              </a:rPr>
              <a:t>– nie szukamy potwierdzenia konkretnego zjawiska na tym etapie</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pl-PL" sz="1800">
                <a:solidFill>
                  <a:schemeClr val="dk1"/>
                </a:solidFill>
                <a:latin typeface="Arial"/>
                <a:ea typeface="Arial"/>
                <a:cs typeface="Arial"/>
                <a:sym typeface="Arial"/>
              </a:rPr>
              <a:t>Celem jest zastosowanie technik statystycznych, grupowania i wizualizacji w celu odkrycia struktury i modelu w danych</a:t>
            </a:r>
            <a:endParaRPr/>
          </a:p>
        </p:txBody>
      </p:sp>
      <p:sp>
        <p:nvSpPr>
          <p:cNvPr id="372" name="Google Shape;372;p25"/>
          <p:cNvSpPr txBox="1"/>
          <p:nvPr/>
        </p:nvSpPr>
        <p:spPr>
          <a:xfrm>
            <a:off x="838200" y="6162727"/>
            <a:ext cx="10110707"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100">
                <a:solidFill>
                  <a:schemeClr val="dk1"/>
                </a:solidFill>
                <a:latin typeface="Arial"/>
                <a:ea typeface="Arial"/>
                <a:cs typeface="Arial"/>
                <a:sym typeface="Arial"/>
              </a:rPr>
              <a:t>According to Howard Seltman (Carnegie Mellon University), “loosely speaking, any method of looking at data that does not include formal statistical modeling and inference falls under the term exploratory data analysis”</a:t>
            </a:r>
            <a:endParaRPr sz="1100">
              <a:solidFill>
                <a:schemeClr val="dk1"/>
              </a:solidFill>
              <a:latin typeface="Arial"/>
              <a:ea typeface="Arial"/>
              <a:cs typeface="Arial"/>
              <a:sym typeface="Arial"/>
            </a:endParaRPr>
          </a:p>
        </p:txBody>
      </p:sp>
      <p:sp>
        <p:nvSpPr>
          <p:cNvPr id="373" name="Google Shape;373;p25"/>
          <p:cNvSpPr/>
          <p:nvPr/>
        </p:nvSpPr>
        <p:spPr>
          <a:xfrm>
            <a:off x="1337912" y="3811604"/>
            <a:ext cx="2415941" cy="1355708"/>
          </a:xfrm>
          <a:prstGeom prst="flowChartAlternateProcess">
            <a:avLst/>
          </a:prstGeom>
          <a:solidFill>
            <a:srgbClr val="E1A7B5"/>
          </a:solidFill>
          <a:ln w="19050" cap="flat" cmpd="sng">
            <a:solidFill>
              <a:srgbClr val="E1A7B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800">
                <a:solidFill>
                  <a:srgbClr val="3A3A3A"/>
                </a:solidFill>
                <a:latin typeface="Arial"/>
                <a:ea typeface="Arial"/>
                <a:cs typeface="Arial"/>
                <a:sym typeface="Arial"/>
              </a:rPr>
              <a:t>Jak zmienne są ze sobą związane?</a:t>
            </a:r>
            <a:endParaRPr/>
          </a:p>
        </p:txBody>
      </p:sp>
      <p:sp>
        <p:nvSpPr>
          <p:cNvPr id="374" name="Google Shape;374;p25"/>
          <p:cNvSpPr/>
          <p:nvPr/>
        </p:nvSpPr>
        <p:spPr>
          <a:xfrm>
            <a:off x="4516997" y="3811604"/>
            <a:ext cx="2415941" cy="1355708"/>
          </a:xfrm>
          <a:prstGeom prst="flowChartAlternateProcess">
            <a:avLst/>
          </a:prstGeom>
          <a:solidFill>
            <a:srgbClr val="E1A7B5"/>
          </a:solidFill>
          <a:ln w="19050" cap="flat" cmpd="sng">
            <a:solidFill>
              <a:srgbClr val="E1A7B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800">
                <a:solidFill>
                  <a:srgbClr val="3A3A3A"/>
                </a:solidFill>
                <a:latin typeface="Arial"/>
                <a:ea typeface="Arial"/>
                <a:cs typeface="Arial"/>
                <a:sym typeface="Arial"/>
              </a:rPr>
              <a:t>Czy w danych są pewne anomalie?</a:t>
            </a:r>
            <a:endParaRPr/>
          </a:p>
        </p:txBody>
      </p:sp>
      <p:sp>
        <p:nvSpPr>
          <p:cNvPr id="375" name="Google Shape;375;p25"/>
          <p:cNvSpPr/>
          <p:nvPr/>
        </p:nvSpPr>
        <p:spPr>
          <a:xfrm>
            <a:off x="7769058" y="3811604"/>
            <a:ext cx="2415941" cy="1355708"/>
          </a:xfrm>
          <a:prstGeom prst="flowChartAlternateProcess">
            <a:avLst/>
          </a:prstGeom>
          <a:solidFill>
            <a:srgbClr val="E1A7B5"/>
          </a:solidFill>
          <a:ln w="19050" cap="flat" cmpd="sng">
            <a:solidFill>
              <a:srgbClr val="E1A7B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800">
                <a:solidFill>
                  <a:srgbClr val="3A3A3A"/>
                </a:solidFill>
                <a:latin typeface="Arial"/>
                <a:ea typeface="Arial"/>
                <a:cs typeface="Arial"/>
                <a:sym typeface="Arial"/>
              </a:rPr>
              <a:t>Które zmienne mogą być istotne?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Praktyczny przykład</a:t>
            </a:r>
            <a:endParaRPr/>
          </a:p>
        </p:txBody>
      </p:sp>
      <p:graphicFrame>
        <p:nvGraphicFramePr>
          <p:cNvPr id="382" name="Google Shape;382;p27"/>
          <p:cNvGraphicFramePr/>
          <p:nvPr/>
        </p:nvGraphicFramePr>
        <p:xfrm>
          <a:off x="684505" y="2274796"/>
          <a:ext cx="7024150" cy="2194620"/>
        </p:xfrm>
        <a:graphic>
          <a:graphicData uri="http://schemas.openxmlformats.org/drawingml/2006/table">
            <a:tbl>
              <a:tblPr>
                <a:noFill/>
                <a:tableStyleId>{F66DABDC-19B1-45FA-81D7-11D77B005665}</a:tableStyleId>
              </a:tblPr>
              <a:tblGrid>
                <a:gridCol w="803775">
                  <a:extLst>
                    <a:ext uri="{9D8B030D-6E8A-4147-A177-3AD203B41FA5}">
                      <a16:colId xmlns:a16="http://schemas.microsoft.com/office/drawing/2014/main" val="20000"/>
                    </a:ext>
                  </a:extLst>
                </a:gridCol>
                <a:gridCol w="1936950">
                  <a:extLst>
                    <a:ext uri="{9D8B030D-6E8A-4147-A177-3AD203B41FA5}">
                      <a16:colId xmlns:a16="http://schemas.microsoft.com/office/drawing/2014/main" val="20001"/>
                    </a:ext>
                  </a:extLst>
                </a:gridCol>
                <a:gridCol w="675000">
                  <a:extLst>
                    <a:ext uri="{9D8B030D-6E8A-4147-A177-3AD203B41FA5}">
                      <a16:colId xmlns:a16="http://schemas.microsoft.com/office/drawing/2014/main" val="20002"/>
                    </a:ext>
                  </a:extLst>
                </a:gridCol>
                <a:gridCol w="1007800">
                  <a:extLst>
                    <a:ext uri="{9D8B030D-6E8A-4147-A177-3AD203B41FA5}">
                      <a16:colId xmlns:a16="http://schemas.microsoft.com/office/drawing/2014/main" val="20003"/>
                    </a:ext>
                  </a:extLst>
                </a:gridCol>
                <a:gridCol w="2600625">
                  <a:extLst>
                    <a:ext uri="{9D8B030D-6E8A-4147-A177-3AD203B41FA5}">
                      <a16:colId xmlns:a16="http://schemas.microsoft.com/office/drawing/2014/main" val="20004"/>
                    </a:ext>
                  </a:extLst>
                </a:gridCol>
              </a:tblGrid>
              <a:tr h="228600">
                <a:tc>
                  <a:txBody>
                    <a:bodyPr/>
                    <a:lstStyle/>
                    <a:p>
                      <a:pPr marL="0" marR="0" lvl="0" indent="0" algn="l" rtl="0">
                        <a:spcBef>
                          <a:spcPts val="0"/>
                        </a:spcBef>
                        <a:spcAft>
                          <a:spcPts val="0"/>
                        </a:spcAft>
                        <a:buNone/>
                      </a:pPr>
                      <a:r>
                        <a:rPr lang="pl-PL" sz="1800" u="none" strike="noStrike" cap="none"/>
                        <a:t>Id</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Miasto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Płeć</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Wiek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Subskrybuje_aktualnie</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pl-PL" sz="1800"/>
                        <a:t>101</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pl-PL" sz="1800"/>
                        <a:t>102</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68</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Nie</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pl-PL" sz="1800"/>
                        <a:t>103</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New York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19</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pl-PL" sz="1800"/>
                        <a:t>104</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Warsaw, Poland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125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Nie</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pl-PL" sz="1800"/>
                        <a:t>105</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chicago, us</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383" name="Google Shape;383;p27"/>
          <p:cNvGraphicFramePr/>
          <p:nvPr/>
        </p:nvGraphicFramePr>
        <p:xfrm>
          <a:off x="8276304" y="4087367"/>
          <a:ext cx="3077500" cy="2194620"/>
        </p:xfrm>
        <a:graphic>
          <a:graphicData uri="http://schemas.openxmlformats.org/drawingml/2006/table">
            <a:tbl>
              <a:tblPr>
                <a:noFill/>
                <a:tableStyleId>{F66DABDC-19B1-45FA-81D7-11D77B005665}</a:tableStyleId>
              </a:tblPr>
              <a:tblGrid>
                <a:gridCol w="737150">
                  <a:extLst>
                    <a:ext uri="{9D8B030D-6E8A-4147-A177-3AD203B41FA5}">
                      <a16:colId xmlns:a16="http://schemas.microsoft.com/office/drawing/2014/main" val="20000"/>
                    </a:ext>
                  </a:extLst>
                </a:gridCol>
                <a:gridCol w="1056775">
                  <a:extLst>
                    <a:ext uri="{9D8B030D-6E8A-4147-A177-3AD203B41FA5}">
                      <a16:colId xmlns:a16="http://schemas.microsoft.com/office/drawing/2014/main" val="20001"/>
                    </a:ext>
                  </a:extLst>
                </a:gridCol>
                <a:gridCol w="1283575">
                  <a:extLst>
                    <a:ext uri="{9D8B030D-6E8A-4147-A177-3AD203B41FA5}">
                      <a16:colId xmlns:a16="http://schemas.microsoft.com/office/drawing/2014/main" val="20002"/>
                    </a:ext>
                  </a:extLst>
                </a:gridCol>
              </a:tblGrid>
              <a:tr h="228600">
                <a:tc>
                  <a:txBody>
                    <a:bodyPr/>
                    <a:lstStyle/>
                    <a:p>
                      <a:pPr marL="0" marR="0" lvl="0" indent="0" algn="l" rtl="0">
                        <a:spcBef>
                          <a:spcPts val="0"/>
                        </a:spcBef>
                        <a:spcAft>
                          <a:spcPts val="0"/>
                        </a:spcAft>
                        <a:buNone/>
                      </a:pPr>
                      <a:r>
                        <a:rPr lang="pl-PL" sz="1800"/>
                        <a:t>Id</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Strona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Kliknięcie</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pl-PL" sz="1800"/>
                        <a:t>101</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pl-PL" sz="1800"/>
                        <a:t>102</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B</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0</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pl-PL" sz="1800"/>
                        <a:t>103</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C</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pl-PL" sz="1800"/>
                        <a:t>106</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B</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NaN</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pl-PL" sz="1800"/>
                        <a:t>999</a:t>
                      </a:r>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0</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84" name="Google Shape;384;p27"/>
          <p:cNvSpPr txBox="1"/>
          <p:nvPr/>
        </p:nvSpPr>
        <p:spPr>
          <a:xfrm>
            <a:off x="684505" y="1798076"/>
            <a:ext cx="41974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Dane na temat użytkowników</a:t>
            </a:r>
            <a:endParaRPr/>
          </a:p>
        </p:txBody>
      </p:sp>
      <p:sp>
        <p:nvSpPr>
          <p:cNvPr id="385" name="Google Shape;385;p27"/>
          <p:cNvSpPr txBox="1"/>
          <p:nvPr/>
        </p:nvSpPr>
        <p:spPr>
          <a:xfrm>
            <a:off x="8276304" y="3643296"/>
            <a:ext cx="28592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Dane z wyników ankiety</a:t>
            </a:r>
            <a:endParaRPr/>
          </a:p>
        </p:txBody>
      </p:sp>
      <p:sp>
        <p:nvSpPr>
          <p:cNvPr id="386" name="Google Shape;386;p27"/>
          <p:cNvSpPr txBox="1"/>
          <p:nvPr/>
        </p:nvSpPr>
        <p:spPr>
          <a:xfrm>
            <a:off x="684505" y="5184647"/>
            <a:ext cx="420004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Załóżmy, że pracujemy w jakiejś firmie, która streamuje filmy/seriale</a:t>
            </a:r>
            <a:endParaRPr/>
          </a:p>
        </p:txBody>
      </p:sp>
      <p:sp>
        <p:nvSpPr>
          <p:cNvPr id="387" name="Google Shape;387;p27"/>
          <p:cNvSpPr txBox="1"/>
          <p:nvPr/>
        </p:nvSpPr>
        <p:spPr>
          <a:xfrm>
            <a:off x="657307" y="5912595"/>
            <a:ext cx="49109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Jak możemy zwiększyć liczbę subskrybentów?</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Praktyczny przykład</a:t>
            </a:r>
            <a:endParaRPr/>
          </a:p>
        </p:txBody>
      </p:sp>
      <p:graphicFrame>
        <p:nvGraphicFramePr>
          <p:cNvPr id="394" name="Google Shape;394;p29"/>
          <p:cNvGraphicFramePr/>
          <p:nvPr/>
        </p:nvGraphicFramePr>
        <p:xfrm>
          <a:off x="1900990" y="2404562"/>
          <a:ext cx="9314350" cy="2194620"/>
        </p:xfrm>
        <a:graphic>
          <a:graphicData uri="http://schemas.openxmlformats.org/drawingml/2006/table">
            <a:tbl>
              <a:tblPr>
                <a:noFill/>
                <a:tableStyleId>{F66DABDC-19B1-45FA-81D7-11D77B005665}</a:tableStyleId>
              </a:tblPr>
              <a:tblGrid>
                <a:gridCol w="877050">
                  <a:extLst>
                    <a:ext uri="{9D8B030D-6E8A-4147-A177-3AD203B41FA5}">
                      <a16:colId xmlns:a16="http://schemas.microsoft.com/office/drawing/2014/main" val="20000"/>
                    </a:ext>
                  </a:extLst>
                </a:gridCol>
                <a:gridCol w="1986075">
                  <a:extLst>
                    <a:ext uri="{9D8B030D-6E8A-4147-A177-3AD203B41FA5}">
                      <a16:colId xmlns:a16="http://schemas.microsoft.com/office/drawing/2014/main" val="20001"/>
                    </a:ext>
                  </a:extLst>
                </a:gridCol>
                <a:gridCol w="815175">
                  <a:extLst>
                    <a:ext uri="{9D8B030D-6E8A-4147-A177-3AD203B41FA5}">
                      <a16:colId xmlns:a16="http://schemas.microsoft.com/office/drawing/2014/main" val="20002"/>
                    </a:ext>
                  </a:extLst>
                </a:gridCol>
                <a:gridCol w="706675">
                  <a:extLst>
                    <a:ext uri="{9D8B030D-6E8A-4147-A177-3AD203B41FA5}">
                      <a16:colId xmlns:a16="http://schemas.microsoft.com/office/drawing/2014/main" val="20003"/>
                    </a:ext>
                  </a:extLst>
                </a:gridCol>
                <a:gridCol w="1029750">
                  <a:extLst>
                    <a:ext uri="{9D8B030D-6E8A-4147-A177-3AD203B41FA5}">
                      <a16:colId xmlns:a16="http://schemas.microsoft.com/office/drawing/2014/main" val="20004"/>
                    </a:ext>
                  </a:extLst>
                </a:gridCol>
                <a:gridCol w="1267775">
                  <a:extLst>
                    <a:ext uri="{9D8B030D-6E8A-4147-A177-3AD203B41FA5}">
                      <a16:colId xmlns:a16="http://schemas.microsoft.com/office/drawing/2014/main" val="20005"/>
                    </a:ext>
                  </a:extLst>
                </a:gridCol>
                <a:gridCol w="2631850">
                  <a:extLst>
                    <a:ext uri="{9D8B030D-6E8A-4147-A177-3AD203B41FA5}">
                      <a16:colId xmlns:a16="http://schemas.microsoft.com/office/drawing/2014/main" val="20006"/>
                    </a:ext>
                  </a:extLst>
                </a:gridCol>
              </a:tblGrid>
              <a:tr h="228600">
                <a:tc>
                  <a:txBody>
                    <a:bodyPr/>
                    <a:lstStyle/>
                    <a:p>
                      <a:pPr marL="0" marR="0" lvl="0" indent="0" algn="l" rtl="0">
                        <a:spcBef>
                          <a:spcPts val="0"/>
                        </a:spcBef>
                        <a:spcAft>
                          <a:spcPts val="0"/>
                        </a:spcAft>
                        <a:buNone/>
                      </a:pPr>
                      <a:r>
                        <a:rPr lang="pl-PL" sz="1800">
                          <a:solidFill>
                            <a:srgbClr val="AEAEAE"/>
                          </a:solidFill>
                        </a:rPr>
                        <a:t>Id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Miasto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Płeć</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Wiek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Strona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Kliknięcie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u="sng"/>
                        <a:t>Subskrybuje_aktualnie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pl-PL" sz="1800">
                          <a:solidFill>
                            <a:srgbClr val="AEAEAE"/>
                          </a:solidFill>
                        </a:rPr>
                        <a:t>101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pl-PL" sz="1800">
                          <a:solidFill>
                            <a:srgbClr val="AEAEAE"/>
                          </a:solidFill>
                        </a:rPr>
                        <a:t>102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68</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B</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pl-PL" sz="1800">
                          <a:solidFill>
                            <a:srgbClr val="AEAEAE"/>
                          </a:solidFill>
                        </a:rPr>
                        <a:t>103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New York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19</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C</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pl-PL" sz="1800">
                          <a:solidFill>
                            <a:srgbClr val="AEAEAE"/>
                          </a:solidFill>
                        </a:rPr>
                        <a:t>104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Warsaw, Poland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chemeClr val="accent5"/>
                          </a:solidFill>
                        </a:rPr>
                        <a:t>125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pl-PL" sz="1800">
                          <a:solidFill>
                            <a:srgbClr val="AEAEAE"/>
                          </a:solidFill>
                        </a:rPr>
                        <a:t>105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95" name="Google Shape;395;p29"/>
          <p:cNvSpPr txBox="1"/>
          <p:nvPr/>
        </p:nvSpPr>
        <p:spPr>
          <a:xfrm>
            <a:off x="493567" y="5677176"/>
            <a:ext cx="30279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Wymaga jednolitego formatu</a:t>
            </a:r>
            <a:endParaRPr/>
          </a:p>
        </p:txBody>
      </p:sp>
      <p:sp>
        <p:nvSpPr>
          <p:cNvPr id="396" name="Google Shape;396;p29"/>
          <p:cNvSpPr txBox="1"/>
          <p:nvPr/>
        </p:nvSpPr>
        <p:spPr>
          <a:xfrm>
            <a:off x="6010214" y="828333"/>
            <a:ext cx="328876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Ta wartość to prawdopodobnie jakiś błąd</a:t>
            </a:r>
            <a:endParaRPr/>
          </a:p>
        </p:txBody>
      </p:sp>
      <p:cxnSp>
        <p:nvCxnSpPr>
          <p:cNvPr id="397" name="Google Shape;397;p29"/>
          <p:cNvCxnSpPr/>
          <p:nvPr/>
        </p:nvCxnSpPr>
        <p:spPr>
          <a:xfrm rot="10800000" flipH="1">
            <a:off x="1900990" y="4695986"/>
            <a:ext cx="1121179" cy="895787"/>
          </a:xfrm>
          <a:prstGeom prst="straightConnector1">
            <a:avLst/>
          </a:prstGeom>
          <a:noFill/>
          <a:ln w="19050" cap="flat" cmpd="sng">
            <a:solidFill>
              <a:srgbClr val="0070C0"/>
            </a:solidFill>
            <a:prstDash val="solid"/>
            <a:miter lim="8000"/>
            <a:headEnd type="none" w="sm" len="sm"/>
            <a:tailEnd type="triangle" w="med" len="med"/>
          </a:ln>
        </p:spPr>
      </p:cxnSp>
      <p:cxnSp>
        <p:nvCxnSpPr>
          <p:cNvPr id="398" name="Google Shape;398;p29"/>
          <p:cNvCxnSpPr/>
          <p:nvPr/>
        </p:nvCxnSpPr>
        <p:spPr>
          <a:xfrm flipH="1">
            <a:off x="5920353" y="1549831"/>
            <a:ext cx="616804" cy="2335417"/>
          </a:xfrm>
          <a:prstGeom prst="straightConnector1">
            <a:avLst/>
          </a:prstGeom>
          <a:noFill/>
          <a:ln w="19050" cap="flat" cmpd="sng">
            <a:solidFill>
              <a:schemeClr val="accent5"/>
            </a:solidFill>
            <a:prstDash val="solid"/>
            <a:miter lim="8000"/>
            <a:headEnd type="none" w="sm" len="sm"/>
            <a:tailEnd type="triangl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Praktyczny przykład</a:t>
            </a:r>
            <a:endParaRPr/>
          </a:p>
        </p:txBody>
      </p:sp>
      <p:graphicFrame>
        <p:nvGraphicFramePr>
          <p:cNvPr id="405" name="Google Shape;405;p30"/>
          <p:cNvGraphicFramePr/>
          <p:nvPr/>
        </p:nvGraphicFramePr>
        <p:xfrm>
          <a:off x="1900990" y="2404562"/>
          <a:ext cx="9031750" cy="2468940"/>
        </p:xfrm>
        <a:graphic>
          <a:graphicData uri="http://schemas.openxmlformats.org/drawingml/2006/table">
            <a:tbl>
              <a:tblPr>
                <a:noFill/>
                <a:tableStyleId>{F66DABDC-19B1-45FA-81D7-11D77B005665}</a:tableStyleId>
              </a:tblPr>
              <a:tblGrid>
                <a:gridCol w="850450">
                  <a:extLst>
                    <a:ext uri="{9D8B030D-6E8A-4147-A177-3AD203B41FA5}">
                      <a16:colId xmlns:a16="http://schemas.microsoft.com/office/drawing/2014/main" val="20000"/>
                    </a:ext>
                  </a:extLst>
                </a:gridCol>
                <a:gridCol w="1925825">
                  <a:extLst>
                    <a:ext uri="{9D8B030D-6E8A-4147-A177-3AD203B41FA5}">
                      <a16:colId xmlns:a16="http://schemas.microsoft.com/office/drawing/2014/main" val="20001"/>
                    </a:ext>
                  </a:extLst>
                </a:gridCol>
                <a:gridCol w="790450">
                  <a:extLst>
                    <a:ext uri="{9D8B030D-6E8A-4147-A177-3AD203B41FA5}">
                      <a16:colId xmlns:a16="http://schemas.microsoft.com/office/drawing/2014/main" val="20002"/>
                    </a:ext>
                  </a:extLst>
                </a:gridCol>
                <a:gridCol w="685225">
                  <a:extLst>
                    <a:ext uri="{9D8B030D-6E8A-4147-A177-3AD203B41FA5}">
                      <a16:colId xmlns:a16="http://schemas.microsoft.com/office/drawing/2014/main" val="20003"/>
                    </a:ext>
                  </a:extLst>
                </a:gridCol>
                <a:gridCol w="998500">
                  <a:extLst>
                    <a:ext uri="{9D8B030D-6E8A-4147-A177-3AD203B41FA5}">
                      <a16:colId xmlns:a16="http://schemas.microsoft.com/office/drawing/2014/main" val="20004"/>
                    </a:ext>
                  </a:extLst>
                </a:gridCol>
                <a:gridCol w="1229300">
                  <a:extLst>
                    <a:ext uri="{9D8B030D-6E8A-4147-A177-3AD203B41FA5}">
                      <a16:colId xmlns:a16="http://schemas.microsoft.com/office/drawing/2014/main" val="20005"/>
                    </a:ext>
                  </a:extLst>
                </a:gridCol>
                <a:gridCol w="2552000">
                  <a:extLst>
                    <a:ext uri="{9D8B030D-6E8A-4147-A177-3AD203B41FA5}">
                      <a16:colId xmlns:a16="http://schemas.microsoft.com/office/drawing/2014/main" val="20006"/>
                    </a:ext>
                  </a:extLst>
                </a:gridCol>
              </a:tblGrid>
              <a:tr h="228600">
                <a:tc>
                  <a:txBody>
                    <a:bodyPr/>
                    <a:lstStyle/>
                    <a:p>
                      <a:pPr marL="0" marR="0" lvl="0" indent="0" algn="l" rtl="0">
                        <a:spcBef>
                          <a:spcPts val="0"/>
                        </a:spcBef>
                        <a:spcAft>
                          <a:spcPts val="0"/>
                        </a:spcAft>
                        <a:buNone/>
                      </a:pPr>
                      <a:r>
                        <a:rPr lang="pl-PL" sz="1800">
                          <a:solidFill>
                            <a:srgbClr val="AEAEAE"/>
                          </a:solidFill>
                        </a:rPr>
                        <a:t>Id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Miasto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Płeć</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Wiek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Strona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Kliknięcie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u="sng"/>
                        <a:t>Subskrybuje_aktualnie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pl-PL" sz="1800">
                          <a:solidFill>
                            <a:srgbClr val="AEAEAE"/>
                          </a:solidFill>
                        </a:rPr>
                        <a:t>101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pl-PL" sz="1800">
                          <a:solidFill>
                            <a:srgbClr val="AEAEAE"/>
                          </a:solidFill>
                        </a:rPr>
                        <a:t>102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68</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B</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pl-PL" sz="1800">
                          <a:solidFill>
                            <a:srgbClr val="AEAEAE"/>
                          </a:solidFill>
                        </a:rPr>
                        <a:t>103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New York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sz="1800">
                        <a:solidFill>
                          <a:srgbClr val="BF4F14"/>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19</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C</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pl-PL" sz="1800">
                          <a:solidFill>
                            <a:srgbClr val="AEAEAE"/>
                          </a:solidFill>
                        </a:rPr>
                        <a:t>104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Warsaw, Poland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chemeClr val="accent5"/>
                          </a:solidFill>
                        </a:rPr>
                        <a:t>125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pl-PL" sz="1800">
                          <a:solidFill>
                            <a:srgbClr val="AEAEAE"/>
                          </a:solidFill>
                        </a:rPr>
                        <a:t>105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sz="1800">
                        <a:solidFill>
                          <a:srgbClr val="BF4F14"/>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06" name="Google Shape;406;p30"/>
          <p:cNvSpPr txBox="1"/>
          <p:nvPr/>
        </p:nvSpPr>
        <p:spPr>
          <a:xfrm>
            <a:off x="493567" y="5677176"/>
            <a:ext cx="30279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Wymaga jednolitego formatu</a:t>
            </a:r>
            <a:endParaRPr/>
          </a:p>
        </p:txBody>
      </p:sp>
      <p:sp>
        <p:nvSpPr>
          <p:cNvPr id="407" name="Google Shape;407;p30"/>
          <p:cNvSpPr txBox="1"/>
          <p:nvPr/>
        </p:nvSpPr>
        <p:spPr>
          <a:xfrm>
            <a:off x="5186393" y="5591773"/>
            <a:ext cx="313697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Braki wynikają z połączenia po indeksach tabeli „po lewej”</a:t>
            </a:r>
            <a:endParaRPr/>
          </a:p>
        </p:txBody>
      </p:sp>
      <p:sp>
        <p:nvSpPr>
          <p:cNvPr id="408" name="Google Shape;408;p30"/>
          <p:cNvSpPr txBox="1"/>
          <p:nvPr/>
        </p:nvSpPr>
        <p:spPr>
          <a:xfrm>
            <a:off x="6010214" y="828333"/>
            <a:ext cx="328876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Ta wartość to prawdopodobnie jakiś błąd</a:t>
            </a:r>
            <a:endParaRPr/>
          </a:p>
        </p:txBody>
      </p:sp>
      <p:cxnSp>
        <p:nvCxnSpPr>
          <p:cNvPr id="409" name="Google Shape;409;p30"/>
          <p:cNvCxnSpPr/>
          <p:nvPr/>
        </p:nvCxnSpPr>
        <p:spPr>
          <a:xfrm rot="10800000" flipH="1">
            <a:off x="1900990" y="4867273"/>
            <a:ext cx="883200" cy="724500"/>
          </a:xfrm>
          <a:prstGeom prst="straightConnector1">
            <a:avLst/>
          </a:prstGeom>
          <a:noFill/>
          <a:ln w="19050" cap="flat" cmpd="sng">
            <a:solidFill>
              <a:srgbClr val="0070C0"/>
            </a:solidFill>
            <a:prstDash val="solid"/>
            <a:miter lim="8000"/>
            <a:headEnd type="none" w="sm" len="sm"/>
            <a:tailEnd type="triangle" w="med" len="med"/>
          </a:ln>
        </p:spPr>
      </p:cxnSp>
      <p:cxnSp>
        <p:nvCxnSpPr>
          <p:cNvPr id="410" name="Google Shape;410;p30"/>
          <p:cNvCxnSpPr/>
          <p:nvPr/>
        </p:nvCxnSpPr>
        <p:spPr>
          <a:xfrm flipH="1">
            <a:off x="5965657" y="1549831"/>
            <a:ext cx="571500" cy="2580900"/>
          </a:xfrm>
          <a:prstGeom prst="straightConnector1">
            <a:avLst/>
          </a:prstGeom>
          <a:noFill/>
          <a:ln w="19050" cap="flat" cmpd="sng">
            <a:solidFill>
              <a:schemeClr val="accent5"/>
            </a:solidFill>
            <a:prstDash val="solid"/>
            <a:miter lim="8000"/>
            <a:headEnd type="none" w="sm" len="sm"/>
            <a:tailEnd type="triangle" w="med" len="med"/>
          </a:ln>
        </p:spPr>
      </p:cxnSp>
      <p:cxnSp>
        <p:nvCxnSpPr>
          <p:cNvPr id="411" name="Google Shape;411;p30"/>
          <p:cNvCxnSpPr/>
          <p:nvPr/>
        </p:nvCxnSpPr>
        <p:spPr>
          <a:xfrm rot="10800000" flipH="1">
            <a:off x="6537157" y="4599122"/>
            <a:ext cx="421582" cy="926024"/>
          </a:xfrm>
          <a:prstGeom prst="straightConnector1">
            <a:avLst/>
          </a:prstGeom>
          <a:noFill/>
          <a:ln w="19050" cap="flat" cmpd="sng">
            <a:solidFill>
              <a:schemeClr val="accent2"/>
            </a:solidFill>
            <a:prstDash val="solid"/>
            <a:miter lim="8000"/>
            <a:headEnd type="none" w="sm" len="sm"/>
            <a:tailEnd type="triangle" w="med" len="med"/>
          </a:ln>
        </p:spPr>
      </p:cxnSp>
      <p:sp>
        <p:nvSpPr>
          <p:cNvPr id="412" name="Google Shape;412;p30"/>
          <p:cNvSpPr txBox="1"/>
          <p:nvPr/>
        </p:nvSpPr>
        <p:spPr>
          <a:xfrm>
            <a:off x="1722012" y="1478538"/>
            <a:ext cx="393133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Ktoś nie podał swojej płci – może to jakaś informacja?</a:t>
            </a:r>
            <a:endParaRPr/>
          </a:p>
        </p:txBody>
      </p:sp>
      <p:cxnSp>
        <p:nvCxnSpPr>
          <p:cNvPr id="413" name="Google Shape;413;p30"/>
          <p:cNvCxnSpPr/>
          <p:nvPr/>
        </p:nvCxnSpPr>
        <p:spPr>
          <a:xfrm>
            <a:off x="3797085" y="2010022"/>
            <a:ext cx="933900" cy="1810500"/>
          </a:xfrm>
          <a:prstGeom prst="straightConnector1">
            <a:avLst/>
          </a:prstGeom>
          <a:noFill/>
          <a:ln w="19050" cap="flat" cmpd="sng">
            <a:solidFill>
              <a:schemeClr val="accent2"/>
            </a:solidFill>
            <a:prstDash val="solid"/>
            <a:miter lim="8000"/>
            <a:headEnd type="none" w="sm" len="sm"/>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Praktyczny przykład</a:t>
            </a:r>
            <a:endParaRPr/>
          </a:p>
        </p:txBody>
      </p:sp>
      <p:graphicFrame>
        <p:nvGraphicFramePr>
          <p:cNvPr id="420" name="Google Shape;420;p31"/>
          <p:cNvGraphicFramePr/>
          <p:nvPr/>
        </p:nvGraphicFramePr>
        <p:xfrm>
          <a:off x="1900990" y="2404562"/>
          <a:ext cx="9031750" cy="2468940"/>
        </p:xfrm>
        <a:graphic>
          <a:graphicData uri="http://schemas.openxmlformats.org/drawingml/2006/table">
            <a:tbl>
              <a:tblPr>
                <a:noFill/>
                <a:tableStyleId>{F66DABDC-19B1-45FA-81D7-11D77B005665}</a:tableStyleId>
              </a:tblPr>
              <a:tblGrid>
                <a:gridCol w="850450">
                  <a:extLst>
                    <a:ext uri="{9D8B030D-6E8A-4147-A177-3AD203B41FA5}">
                      <a16:colId xmlns:a16="http://schemas.microsoft.com/office/drawing/2014/main" val="20000"/>
                    </a:ext>
                  </a:extLst>
                </a:gridCol>
                <a:gridCol w="1925825">
                  <a:extLst>
                    <a:ext uri="{9D8B030D-6E8A-4147-A177-3AD203B41FA5}">
                      <a16:colId xmlns:a16="http://schemas.microsoft.com/office/drawing/2014/main" val="20001"/>
                    </a:ext>
                  </a:extLst>
                </a:gridCol>
                <a:gridCol w="790450">
                  <a:extLst>
                    <a:ext uri="{9D8B030D-6E8A-4147-A177-3AD203B41FA5}">
                      <a16:colId xmlns:a16="http://schemas.microsoft.com/office/drawing/2014/main" val="20002"/>
                    </a:ext>
                  </a:extLst>
                </a:gridCol>
                <a:gridCol w="685225">
                  <a:extLst>
                    <a:ext uri="{9D8B030D-6E8A-4147-A177-3AD203B41FA5}">
                      <a16:colId xmlns:a16="http://schemas.microsoft.com/office/drawing/2014/main" val="20003"/>
                    </a:ext>
                  </a:extLst>
                </a:gridCol>
                <a:gridCol w="998500">
                  <a:extLst>
                    <a:ext uri="{9D8B030D-6E8A-4147-A177-3AD203B41FA5}">
                      <a16:colId xmlns:a16="http://schemas.microsoft.com/office/drawing/2014/main" val="20004"/>
                    </a:ext>
                  </a:extLst>
                </a:gridCol>
                <a:gridCol w="1229300">
                  <a:extLst>
                    <a:ext uri="{9D8B030D-6E8A-4147-A177-3AD203B41FA5}">
                      <a16:colId xmlns:a16="http://schemas.microsoft.com/office/drawing/2014/main" val="20005"/>
                    </a:ext>
                  </a:extLst>
                </a:gridCol>
                <a:gridCol w="2552000">
                  <a:extLst>
                    <a:ext uri="{9D8B030D-6E8A-4147-A177-3AD203B41FA5}">
                      <a16:colId xmlns:a16="http://schemas.microsoft.com/office/drawing/2014/main" val="20006"/>
                    </a:ext>
                  </a:extLst>
                </a:gridCol>
              </a:tblGrid>
              <a:tr h="228600">
                <a:tc>
                  <a:txBody>
                    <a:bodyPr/>
                    <a:lstStyle/>
                    <a:p>
                      <a:pPr marL="0" marR="0" lvl="0" indent="0" algn="l" rtl="0">
                        <a:spcBef>
                          <a:spcPts val="0"/>
                        </a:spcBef>
                        <a:spcAft>
                          <a:spcPts val="0"/>
                        </a:spcAft>
                        <a:buNone/>
                      </a:pPr>
                      <a:r>
                        <a:rPr lang="pl-PL" sz="1800">
                          <a:solidFill>
                            <a:srgbClr val="AEAEAE"/>
                          </a:solidFill>
                        </a:rPr>
                        <a:t>Id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Miasto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Płeć</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Wiek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i="1"/>
                        <a:t>Strona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Kliknięcie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u="sng"/>
                        <a:t>Subskrybuje_aktualnie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pl-PL" sz="1800">
                          <a:solidFill>
                            <a:srgbClr val="AEAEAE"/>
                          </a:solidFill>
                        </a:rPr>
                        <a:t>101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pl-PL" sz="1800">
                          <a:solidFill>
                            <a:srgbClr val="AEAEAE"/>
                          </a:solidFill>
                        </a:rPr>
                        <a:t>102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68</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B</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pl-PL" sz="1800">
                          <a:solidFill>
                            <a:srgbClr val="AEAEAE"/>
                          </a:solidFill>
                        </a:rPr>
                        <a:t>103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New York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sz="1800">
                        <a:solidFill>
                          <a:srgbClr val="BF4F14"/>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19</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C</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pl-PL" sz="1800">
                          <a:solidFill>
                            <a:srgbClr val="AEAEAE"/>
                          </a:solidFill>
                        </a:rPr>
                        <a:t>104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Warsaw, Poland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chemeClr val="accent5"/>
                          </a:solidFill>
                        </a:rPr>
                        <a:t>125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pl-PL" sz="1800">
                          <a:solidFill>
                            <a:srgbClr val="AEAEAE"/>
                          </a:solidFill>
                        </a:rPr>
                        <a:t>105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 us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NaN</a:t>
                      </a:r>
                      <a:endParaRPr sz="1800">
                        <a:solidFill>
                          <a:srgbClr val="BF4F14"/>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Tak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21" name="Google Shape;421;p31"/>
          <p:cNvSpPr txBox="1"/>
          <p:nvPr/>
        </p:nvSpPr>
        <p:spPr>
          <a:xfrm>
            <a:off x="493567" y="5677176"/>
            <a:ext cx="30279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Wymaga jednolitego formatu</a:t>
            </a:r>
            <a:endParaRPr/>
          </a:p>
        </p:txBody>
      </p:sp>
      <p:sp>
        <p:nvSpPr>
          <p:cNvPr id="422" name="Google Shape;422;p31"/>
          <p:cNvSpPr txBox="1"/>
          <p:nvPr/>
        </p:nvSpPr>
        <p:spPr>
          <a:xfrm>
            <a:off x="5186393" y="5591773"/>
            <a:ext cx="313697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Braki wynikają z połączenia po indeksach tabeli „po lewej”</a:t>
            </a:r>
            <a:endParaRPr/>
          </a:p>
        </p:txBody>
      </p:sp>
      <p:sp>
        <p:nvSpPr>
          <p:cNvPr id="423" name="Google Shape;423;p31"/>
          <p:cNvSpPr txBox="1"/>
          <p:nvPr/>
        </p:nvSpPr>
        <p:spPr>
          <a:xfrm>
            <a:off x="9205993" y="5706501"/>
            <a:ext cx="281661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Kolumnę docelową możemy zamienić na 0/1</a:t>
            </a:r>
            <a:endParaRPr/>
          </a:p>
        </p:txBody>
      </p:sp>
      <p:sp>
        <p:nvSpPr>
          <p:cNvPr id="424" name="Google Shape;424;p31"/>
          <p:cNvSpPr txBox="1"/>
          <p:nvPr/>
        </p:nvSpPr>
        <p:spPr>
          <a:xfrm>
            <a:off x="6010214" y="828333"/>
            <a:ext cx="328876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Ta wartość to prawdopodobnie jakiś błąd</a:t>
            </a:r>
            <a:endParaRPr/>
          </a:p>
        </p:txBody>
      </p:sp>
      <p:cxnSp>
        <p:nvCxnSpPr>
          <p:cNvPr id="425" name="Google Shape;425;p31"/>
          <p:cNvCxnSpPr/>
          <p:nvPr/>
        </p:nvCxnSpPr>
        <p:spPr>
          <a:xfrm rot="10800000" flipH="1">
            <a:off x="1900990" y="4695986"/>
            <a:ext cx="1121179" cy="895787"/>
          </a:xfrm>
          <a:prstGeom prst="straightConnector1">
            <a:avLst/>
          </a:prstGeom>
          <a:noFill/>
          <a:ln w="19050" cap="flat" cmpd="sng">
            <a:solidFill>
              <a:srgbClr val="0070C0"/>
            </a:solidFill>
            <a:prstDash val="solid"/>
            <a:miter lim="8000"/>
            <a:headEnd type="none" w="sm" len="sm"/>
            <a:tailEnd type="triangle" w="med" len="med"/>
          </a:ln>
        </p:spPr>
      </p:cxnSp>
      <p:cxnSp>
        <p:nvCxnSpPr>
          <p:cNvPr id="426" name="Google Shape;426;p31"/>
          <p:cNvCxnSpPr/>
          <p:nvPr/>
        </p:nvCxnSpPr>
        <p:spPr>
          <a:xfrm flipH="1">
            <a:off x="5945557" y="1549831"/>
            <a:ext cx="591600" cy="2631000"/>
          </a:xfrm>
          <a:prstGeom prst="straightConnector1">
            <a:avLst/>
          </a:prstGeom>
          <a:noFill/>
          <a:ln w="19050" cap="flat" cmpd="sng">
            <a:solidFill>
              <a:schemeClr val="accent5"/>
            </a:solidFill>
            <a:prstDash val="solid"/>
            <a:miter lim="8000"/>
            <a:headEnd type="none" w="sm" len="sm"/>
            <a:tailEnd type="triangle" w="med" len="med"/>
          </a:ln>
        </p:spPr>
      </p:cxnSp>
      <p:cxnSp>
        <p:nvCxnSpPr>
          <p:cNvPr id="427" name="Google Shape;427;p31"/>
          <p:cNvCxnSpPr/>
          <p:nvPr/>
        </p:nvCxnSpPr>
        <p:spPr>
          <a:xfrm rot="10800000" flipH="1">
            <a:off x="6537157" y="4599122"/>
            <a:ext cx="421582" cy="926024"/>
          </a:xfrm>
          <a:prstGeom prst="straightConnector1">
            <a:avLst/>
          </a:prstGeom>
          <a:noFill/>
          <a:ln w="19050" cap="flat" cmpd="sng">
            <a:solidFill>
              <a:schemeClr val="accent2"/>
            </a:solidFill>
            <a:prstDash val="solid"/>
            <a:miter lim="8000"/>
            <a:headEnd type="none" w="sm" len="sm"/>
            <a:tailEnd type="triangle" w="med" len="med"/>
          </a:ln>
        </p:spPr>
      </p:cxnSp>
      <p:sp>
        <p:nvSpPr>
          <p:cNvPr id="428" name="Google Shape;428;p31"/>
          <p:cNvSpPr txBox="1"/>
          <p:nvPr/>
        </p:nvSpPr>
        <p:spPr>
          <a:xfrm>
            <a:off x="1722012" y="1478538"/>
            <a:ext cx="393133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rgbClr val="747474"/>
                </a:solidFill>
                <a:latin typeface="Arial"/>
                <a:ea typeface="Arial"/>
                <a:cs typeface="Arial"/>
                <a:sym typeface="Arial"/>
              </a:rPr>
              <a:t>Ktoś nie podał swojej płci – może to jakaś informacja?</a:t>
            </a:r>
            <a:endParaRPr/>
          </a:p>
        </p:txBody>
      </p:sp>
      <p:cxnSp>
        <p:nvCxnSpPr>
          <p:cNvPr id="429" name="Google Shape;429;p31"/>
          <p:cNvCxnSpPr/>
          <p:nvPr/>
        </p:nvCxnSpPr>
        <p:spPr>
          <a:xfrm>
            <a:off x="3797085" y="2010022"/>
            <a:ext cx="875100" cy="1800000"/>
          </a:xfrm>
          <a:prstGeom prst="straightConnector1">
            <a:avLst/>
          </a:prstGeom>
          <a:noFill/>
          <a:ln w="19050" cap="flat" cmpd="sng">
            <a:solidFill>
              <a:schemeClr val="accent2"/>
            </a:solidFill>
            <a:prstDash val="solid"/>
            <a:miter lim="8000"/>
            <a:headEnd type="none" w="sm" len="sm"/>
            <a:tailEnd type="triangle" w="med" len="med"/>
          </a:ln>
        </p:spPr>
      </p:cxnSp>
      <p:cxnSp>
        <p:nvCxnSpPr>
          <p:cNvPr id="430" name="Google Shape;430;p31"/>
          <p:cNvCxnSpPr/>
          <p:nvPr/>
        </p:nvCxnSpPr>
        <p:spPr>
          <a:xfrm rot="10800000">
            <a:off x="8973519" y="3727342"/>
            <a:ext cx="674176" cy="1864431"/>
          </a:xfrm>
          <a:prstGeom prst="straightConnector1">
            <a:avLst/>
          </a:prstGeom>
          <a:noFill/>
          <a:ln w="19050" cap="flat" cmpd="sng">
            <a:solidFill>
              <a:schemeClr val="accent6"/>
            </a:solidFill>
            <a:prstDash val="solid"/>
            <a:miter lim="8000"/>
            <a:headEnd type="none" w="sm" len="sm"/>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Praktyczny przykład</a:t>
            </a:r>
            <a:endParaRPr/>
          </a:p>
        </p:txBody>
      </p:sp>
      <p:graphicFrame>
        <p:nvGraphicFramePr>
          <p:cNvPr id="437" name="Google Shape;437;p33"/>
          <p:cNvGraphicFramePr/>
          <p:nvPr/>
        </p:nvGraphicFramePr>
        <p:xfrm>
          <a:off x="1345190" y="2264756"/>
          <a:ext cx="9886650" cy="2194620"/>
        </p:xfrm>
        <a:graphic>
          <a:graphicData uri="http://schemas.openxmlformats.org/drawingml/2006/table">
            <a:tbl>
              <a:tblPr>
                <a:noFill/>
                <a:tableStyleId>{F66DABDC-19B1-45FA-81D7-11D77B005665}</a:tableStyleId>
              </a:tblPr>
              <a:tblGrid>
                <a:gridCol w="1445625">
                  <a:extLst>
                    <a:ext uri="{9D8B030D-6E8A-4147-A177-3AD203B41FA5}">
                      <a16:colId xmlns:a16="http://schemas.microsoft.com/office/drawing/2014/main" val="20000"/>
                    </a:ext>
                  </a:extLst>
                </a:gridCol>
                <a:gridCol w="1445625">
                  <a:extLst>
                    <a:ext uri="{9D8B030D-6E8A-4147-A177-3AD203B41FA5}">
                      <a16:colId xmlns:a16="http://schemas.microsoft.com/office/drawing/2014/main" val="20001"/>
                    </a:ext>
                  </a:extLst>
                </a:gridCol>
                <a:gridCol w="925050">
                  <a:extLst>
                    <a:ext uri="{9D8B030D-6E8A-4147-A177-3AD203B41FA5}">
                      <a16:colId xmlns:a16="http://schemas.microsoft.com/office/drawing/2014/main" val="20002"/>
                    </a:ext>
                  </a:extLst>
                </a:gridCol>
                <a:gridCol w="981975">
                  <a:extLst>
                    <a:ext uri="{9D8B030D-6E8A-4147-A177-3AD203B41FA5}">
                      <a16:colId xmlns:a16="http://schemas.microsoft.com/office/drawing/2014/main" val="20003"/>
                    </a:ext>
                  </a:extLst>
                </a:gridCol>
                <a:gridCol w="1142650">
                  <a:extLst>
                    <a:ext uri="{9D8B030D-6E8A-4147-A177-3AD203B41FA5}">
                      <a16:colId xmlns:a16="http://schemas.microsoft.com/office/drawing/2014/main" val="20004"/>
                    </a:ext>
                  </a:extLst>
                </a:gridCol>
                <a:gridCol w="1455100">
                  <a:extLst>
                    <a:ext uri="{9D8B030D-6E8A-4147-A177-3AD203B41FA5}">
                      <a16:colId xmlns:a16="http://schemas.microsoft.com/office/drawing/2014/main" val="20005"/>
                    </a:ext>
                  </a:extLst>
                </a:gridCol>
                <a:gridCol w="2490625">
                  <a:extLst>
                    <a:ext uri="{9D8B030D-6E8A-4147-A177-3AD203B41FA5}">
                      <a16:colId xmlns:a16="http://schemas.microsoft.com/office/drawing/2014/main" val="20006"/>
                    </a:ext>
                  </a:extLst>
                </a:gridCol>
              </a:tblGrid>
              <a:tr h="228600">
                <a:tc>
                  <a:txBody>
                    <a:bodyPr/>
                    <a:lstStyle/>
                    <a:p>
                      <a:pPr marL="0" marR="0" lvl="0" indent="0" algn="l" rtl="0">
                        <a:spcBef>
                          <a:spcPts val="0"/>
                        </a:spcBef>
                        <a:spcAft>
                          <a:spcPts val="0"/>
                        </a:spcAft>
                        <a:buNone/>
                      </a:pPr>
                      <a:r>
                        <a:rPr lang="pl-PL" sz="1800"/>
                        <a:t>Id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Miasto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Płeć</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Wiek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Strona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Kliknięcie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u="sng"/>
                        <a:t>Subskrybuje_aktualnie</a:t>
                      </a:r>
                      <a:endParaRPr sz="1800" u="sng"/>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pl-PL" sz="1800"/>
                        <a:t>101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A</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pl-PL" sz="1800"/>
                        <a:t>102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68</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B</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pl-PL" sz="1800"/>
                        <a:t>103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New York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19</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C</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pl-PL" sz="1800"/>
                        <a:t>104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Warsaw</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chemeClr val="accent5"/>
                          </a:solidFill>
                        </a:rPr>
                        <a:t>35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X</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pl-PL" sz="1800"/>
                        <a:t>105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0070C0"/>
                          </a:solidFill>
                        </a:rPr>
                        <a:t>Chicago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24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X</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solidFill>
                            <a:srgbClr val="BF4F14"/>
                          </a:solidFill>
                        </a:rPr>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pl-PL"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38" name="Google Shape;438;p33"/>
          <p:cNvSpPr txBox="1"/>
          <p:nvPr/>
        </p:nvSpPr>
        <p:spPr>
          <a:xfrm>
            <a:off x="1282949" y="4786439"/>
            <a:ext cx="9232651"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Jak możemy zwiększyć liczbę subskrybentów?</a:t>
            </a:r>
            <a:endParaRPr/>
          </a:p>
          <a:p>
            <a:pPr marL="285750" marR="0" lvl="0" indent="-285750" algn="l" rtl="0">
              <a:spcBef>
                <a:spcPts val="0"/>
              </a:spcBef>
              <a:spcAft>
                <a:spcPts val="0"/>
              </a:spcAft>
              <a:buClr>
                <a:schemeClr val="dk1"/>
              </a:buClr>
              <a:buSzPts val="1800"/>
              <a:buFont typeface="Arial"/>
              <a:buChar char="-"/>
            </a:pPr>
            <a:r>
              <a:rPr lang="pl-PL" sz="1800">
                <a:solidFill>
                  <a:schemeClr val="dk1"/>
                </a:solidFill>
                <a:latin typeface="Arial"/>
                <a:ea typeface="Arial"/>
                <a:cs typeface="Arial"/>
                <a:sym typeface="Arial"/>
              </a:rPr>
              <a:t>Jaki jest profil typowego subskrybenta? (np. czy to kobieta w średnim wieku z New York?)</a:t>
            </a:r>
            <a:endParaRPr/>
          </a:p>
          <a:p>
            <a:pPr marL="285750" marR="0" lvl="0" indent="-285750" algn="l" rtl="0">
              <a:spcBef>
                <a:spcPts val="0"/>
              </a:spcBef>
              <a:spcAft>
                <a:spcPts val="0"/>
              </a:spcAft>
              <a:buClr>
                <a:schemeClr val="dk1"/>
              </a:buClr>
              <a:buSzPts val="1800"/>
              <a:buFont typeface="Arial"/>
              <a:buChar char="-"/>
            </a:pPr>
            <a:r>
              <a:rPr lang="pl-PL" sz="1800">
                <a:solidFill>
                  <a:schemeClr val="dk1"/>
                </a:solidFill>
                <a:latin typeface="Arial"/>
                <a:ea typeface="Arial"/>
                <a:cs typeface="Arial"/>
                <a:sym typeface="Arial"/>
              </a:rPr>
              <a:t>Jakie są cechy nie-subskrybentów, którzy wzięli udział w ankiecie?</a:t>
            </a:r>
            <a:endParaRPr/>
          </a:p>
          <a:p>
            <a:pPr marL="285750" marR="0" lvl="0" indent="-285750" algn="l" rtl="0">
              <a:spcBef>
                <a:spcPts val="0"/>
              </a:spcBef>
              <a:spcAft>
                <a:spcPts val="0"/>
              </a:spcAft>
              <a:buClr>
                <a:schemeClr val="dk1"/>
              </a:buClr>
              <a:buSzPts val="1800"/>
              <a:buFont typeface="Arial"/>
              <a:buChar char="-"/>
            </a:pPr>
            <a:r>
              <a:rPr lang="pl-PL" sz="1800">
                <a:solidFill>
                  <a:schemeClr val="dk1"/>
                </a:solidFill>
                <a:latin typeface="Arial"/>
                <a:ea typeface="Arial"/>
                <a:cs typeface="Arial"/>
                <a:sym typeface="Arial"/>
              </a:rPr>
              <a:t>Czy potrzebujemy więcej danych z jakiejś konkretnej grupy, aby wyciągnąć sensowny wniosek?</a:t>
            </a:r>
            <a:endParaRPr/>
          </a:p>
          <a:p>
            <a:pPr marL="285750" marR="0" lvl="0" indent="-285750" algn="l" rtl="0">
              <a:spcBef>
                <a:spcPts val="0"/>
              </a:spcBef>
              <a:spcAft>
                <a:spcPts val="0"/>
              </a:spcAft>
              <a:buClr>
                <a:schemeClr val="dk1"/>
              </a:buClr>
              <a:buSzPts val="1800"/>
              <a:buFont typeface="Arial"/>
              <a:buChar char="-"/>
            </a:pPr>
            <a:r>
              <a:rPr lang="pl-PL" sz="1800">
                <a:solidFill>
                  <a:schemeClr val="dk1"/>
                </a:solidFill>
                <a:latin typeface="Arial"/>
                <a:ea typeface="Arial"/>
                <a:cs typeface="Arial"/>
                <a:sym typeface="Arial"/>
              </a:rPr>
              <a:t>Braki w danych i błędy występują zarówno dla subskrybujących jak i nie?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35"/>
          <p:cNvSpPr/>
          <p:nvPr/>
        </p:nvSpPr>
        <p:spPr>
          <a:xfrm>
            <a:off x="277208" y="1666615"/>
            <a:ext cx="3678776" cy="2176272"/>
          </a:xfrm>
          <a:prstGeom prst="roundRect">
            <a:avLst>
              <a:gd name="adj" fmla="val 16667"/>
            </a:avLst>
          </a:prstGeom>
          <a:solidFill>
            <a:srgbClr val="D8D8D8"/>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5" name="Google Shape;445;p35"/>
          <p:cNvSpPr/>
          <p:nvPr/>
        </p:nvSpPr>
        <p:spPr>
          <a:xfrm>
            <a:off x="8085222" y="1666615"/>
            <a:ext cx="3773103" cy="2176272"/>
          </a:xfrm>
          <a:prstGeom prst="roundRect">
            <a:avLst>
              <a:gd name="adj" fmla="val 16667"/>
            </a:avLst>
          </a:prstGeom>
          <a:solidFill>
            <a:srgbClr val="A5A5A5"/>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6" name="Google Shape;446;p35"/>
          <p:cNvSpPr/>
          <p:nvPr/>
        </p:nvSpPr>
        <p:spPr>
          <a:xfrm>
            <a:off x="1913503" y="4290622"/>
            <a:ext cx="4078224" cy="2176272"/>
          </a:xfrm>
          <a:prstGeom prst="roundRect">
            <a:avLst>
              <a:gd name="adj" fmla="val 16667"/>
            </a:avLst>
          </a:prstGeom>
          <a:solidFill>
            <a:srgbClr val="7F7F7F"/>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7" name="Google Shape;447;p35"/>
          <p:cNvSpPr/>
          <p:nvPr/>
        </p:nvSpPr>
        <p:spPr>
          <a:xfrm>
            <a:off x="6181023" y="4290622"/>
            <a:ext cx="4078224" cy="2176272"/>
          </a:xfrm>
          <a:prstGeom prst="roundRect">
            <a:avLst>
              <a:gd name="adj" fmla="val 16667"/>
            </a:avLst>
          </a:prstGeom>
          <a:solidFill>
            <a:srgbClr val="595959"/>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8" name="Google Shape;448;p35"/>
          <p:cNvSpPr/>
          <p:nvPr/>
        </p:nvSpPr>
        <p:spPr>
          <a:xfrm>
            <a:off x="4215866" y="1666615"/>
            <a:ext cx="3609474" cy="2176272"/>
          </a:xfrm>
          <a:prstGeom prst="roundRect">
            <a:avLst>
              <a:gd name="adj" fmla="val 16667"/>
            </a:avLst>
          </a:prstGeom>
          <a:solidFill>
            <a:srgbClr val="BFBFBF"/>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9" name="Google Shape;449;p35"/>
          <p:cNvSpPr txBox="1"/>
          <p:nvPr/>
        </p:nvSpPr>
        <p:spPr>
          <a:xfrm>
            <a:off x="4466123" y="1936603"/>
            <a:ext cx="17149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Badanie równowagi klas</a:t>
            </a:r>
            <a:endParaRPr/>
          </a:p>
        </p:txBody>
      </p:sp>
      <p:sp>
        <p:nvSpPr>
          <p:cNvPr id="450" name="Google Shape;450;p35"/>
          <p:cNvSpPr txBox="1"/>
          <p:nvPr/>
        </p:nvSpPr>
        <p:spPr>
          <a:xfrm>
            <a:off x="8282551" y="2200750"/>
            <a:ext cx="19767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Wykrywanie </a:t>
            </a:r>
            <a:endParaRPr/>
          </a:p>
          <a:p>
            <a:pPr marL="0" marR="0" lvl="0" indent="0" algn="l" rtl="0">
              <a:spcBef>
                <a:spcPts val="0"/>
              </a:spcBef>
              <a:spcAft>
                <a:spcPts val="0"/>
              </a:spcAft>
              <a:buNone/>
            </a:pPr>
            <a:r>
              <a:rPr lang="pl-PL" sz="2400">
                <a:solidFill>
                  <a:schemeClr val="dk1"/>
                </a:solidFill>
                <a:latin typeface="Arial"/>
                <a:ea typeface="Arial"/>
                <a:cs typeface="Arial"/>
                <a:sym typeface="Arial"/>
              </a:rPr>
              <a:t>błędów</a:t>
            </a:r>
            <a:endParaRPr/>
          </a:p>
        </p:txBody>
      </p:sp>
      <p:sp>
        <p:nvSpPr>
          <p:cNvPr id="451" name="Google Shape;451;p35"/>
          <p:cNvSpPr txBox="1"/>
          <p:nvPr/>
        </p:nvSpPr>
        <p:spPr>
          <a:xfrm>
            <a:off x="2184935" y="4778591"/>
            <a:ext cx="1814362"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Rozumienie</a:t>
            </a:r>
            <a:endParaRPr/>
          </a:p>
          <a:p>
            <a:pPr marL="0" marR="0" lvl="0" indent="0" algn="l" rtl="0">
              <a:spcBef>
                <a:spcPts val="0"/>
              </a:spcBef>
              <a:spcAft>
                <a:spcPts val="0"/>
              </a:spcAft>
              <a:buNone/>
            </a:pPr>
            <a:r>
              <a:rPr lang="pl-PL" sz="2400">
                <a:solidFill>
                  <a:schemeClr val="dk1"/>
                </a:solidFill>
                <a:latin typeface="Arial"/>
                <a:ea typeface="Arial"/>
                <a:cs typeface="Arial"/>
                <a:sym typeface="Arial"/>
              </a:rPr>
              <a:t>zależności i</a:t>
            </a:r>
            <a:endParaRPr/>
          </a:p>
          <a:p>
            <a:pPr marL="0" marR="0" lvl="0" indent="0" algn="l" rtl="0">
              <a:spcBef>
                <a:spcPts val="0"/>
              </a:spcBef>
              <a:spcAft>
                <a:spcPts val="0"/>
              </a:spcAft>
              <a:buNone/>
            </a:pPr>
            <a:r>
              <a:rPr lang="pl-PL" sz="2400">
                <a:solidFill>
                  <a:schemeClr val="dk1"/>
                </a:solidFill>
                <a:latin typeface="Arial"/>
                <a:ea typeface="Arial"/>
                <a:cs typeface="Arial"/>
                <a:sym typeface="Arial"/>
              </a:rPr>
              <a:t>wzorców</a:t>
            </a:r>
            <a:endParaRPr/>
          </a:p>
        </p:txBody>
      </p:sp>
      <p:sp>
        <p:nvSpPr>
          <p:cNvPr id="452" name="Google Shape;452;p35"/>
          <p:cNvSpPr txBox="1"/>
          <p:nvPr/>
        </p:nvSpPr>
        <p:spPr>
          <a:xfrm>
            <a:off x="6560421" y="4837725"/>
            <a:ext cx="1532823"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Analiza </a:t>
            </a:r>
            <a:endParaRPr/>
          </a:p>
          <a:p>
            <a:pPr marL="0" marR="0" lvl="0" indent="0" algn="l" rtl="0">
              <a:spcBef>
                <a:spcPts val="0"/>
              </a:spcBef>
              <a:spcAft>
                <a:spcPts val="0"/>
              </a:spcAft>
              <a:buNone/>
            </a:pPr>
            <a:r>
              <a:rPr lang="pl-PL" sz="2400">
                <a:solidFill>
                  <a:schemeClr val="dk1"/>
                </a:solidFill>
                <a:latin typeface="Arial"/>
                <a:ea typeface="Arial"/>
                <a:cs typeface="Arial"/>
                <a:sym typeface="Arial"/>
              </a:rPr>
              <a:t>wyników</a:t>
            </a:r>
            <a:endParaRPr/>
          </a:p>
        </p:txBody>
      </p:sp>
      <p:sp>
        <p:nvSpPr>
          <p:cNvPr id="453" name="Google Shape;453;p35"/>
          <p:cNvSpPr txBox="1"/>
          <p:nvPr/>
        </p:nvSpPr>
        <p:spPr>
          <a:xfrm>
            <a:off x="552491" y="2200750"/>
            <a:ext cx="1632444"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Detekcja </a:t>
            </a:r>
            <a:endParaRPr/>
          </a:p>
          <a:p>
            <a:pPr marL="0" marR="0" lvl="0" indent="0" algn="l" rtl="0">
              <a:spcBef>
                <a:spcPts val="0"/>
              </a:spcBef>
              <a:spcAft>
                <a:spcPts val="0"/>
              </a:spcAft>
              <a:buNone/>
            </a:pPr>
            <a:r>
              <a:rPr lang="pl-PL" sz="2400">
                <a:solidFill>
                  <a:schemeClr val="dk1"/>
                </a:solidFill>
                <a:latin typeface="Arial"/>
                <a:ea typeface="Arial"/>
                <a:cs typeface="Arial"/>
                <a:sym typeface="Arial"/>
              </a:rPr>
              <a:t>outlierów</a:t>
            </a: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4" name="Google Shape;454;p35"/>
          <p:cNvSpPr/>
          <p:nvPr/>
        </p:nvSpPr>
        <p:spPr>
          <a:xfrm>
            <a:off x="9625" y="154005"/>
            <a:ext cx="12192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455" name="Google Shape;455;p35" descr="Outliers Icons - Free SVG &amp; PNG Outliers Images - Noun Project"/>
          <p:cNvPicPr preferRelativeResize="0"/>
          <p:nvPr/>
        </p:nvPicPr>
        <p:blipFill rotWithShape="1">
          <a:blip r:embed="rId3">
            <a:alphaModFix/>
          </a:blip>
          <a:srcRect/>
          <a:stretch/>
        </p:blipFill>
        <p:spPr>
          <a:xfrm>
            <a:off x="2025958" y="1802249"/>
            <a:ext cx="1905000" cy="1905000"/>
          </a:xfrm>
          <a:prstGeom prst="rect">
            <a:avLst/>
          </a:prstGeom>
          <a:noFill/>
          <a:ln>
            <a:noFill/>
          </a:ln>
        </p:spPr>
      </p:pic>
      <p:sp>
        <p:nvSpPr>
          <p:cNvPr id="456" name="Google Shape;456;p35"/>
          <p:cNvSpPr txBox="1">
            <a:spLocks noGrp="1"/>
          </p:cNvSpPr>
          <p:nvPr>
            <p:ph type="title"/>
          </p:nvPr>
        </p:nvSpPr>
        <p:spPr>
          <a:xfrm>
            <a:off x="664945" y="281143"/>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pl-PL"/>
              <a:t>Wizualizacja w danych</a:t>
            </a:r>
            <a:endParaRPr/>
          </a:p>
        </p:txBody>
      </p:sp>
      <p:pic>
        <p:nvPicPr>
          <p:cNvPr id="457" name="Google Shape;457;p35"/>
          <p:cNvPicPr preferRelativeResize="0"/>
          <p:nvPr/>
        </p:nvPicPr>
        <p:blipFill>
          <a:blip r:embed="rId4">
            <a:alphaModFix/>
          </a:blip>
          <a:stretch>
            <a:fillRect/>
          </a:stretch>
        </p:blipFill>
        <p:spPr>
          <a:xfrm>
            <a:off x="6181022" y="1892737"/>
            <a:ext cx="1543050" cy="1724025"/>
          </a:xfrm>
          <a:prstGeom prst="rect">
            <a:avLst/>
          </a:prstGeom>
          <a:solidFill>
            <a:srgbClr val="BFBFBF"/>
          </a:solidFill>
          <a:ln>
            <a:noFill/>
          </a:ln>
        </p:spPr>
      </p:pic>
      <p:pic>
        <p:nvPicPr>
          <p:cNvPr id="458" name="Google Shape;458;p35"/>
          <p:cNvPicPr preferRelativeResize="0"/>
          <p:nvPr/>
        </p:nvPicPr>
        <p:blipFill>
          <a:blip r:embed="rId5">
            <a:alphaModFix/>
          </a:blip>
          <a:stretch>
            <a:fillRect/>
          </a:stretch>
        </p:blipFill>
        <p:spPr>
          <a:xfrm>
            <a:off x="10259247" y="1959412"/>
            <a:ext cx="1476375" cy="1590675"/>
          </a:xfrm>
          <a:prstGeom prst="rect">
            <a:avLst/>
          </a:prstGeom>
          <a:solidFill>
            <a:srgbClr val="A5A5A5"/>
          </a:solidFill>
          <a:ln>
            <a:noFill/>
          </a:ln>
        </p:spPr>
      </p:pic>
      <p:pic>
        <p:nvPicPr>
          <p:cNvPr id="459" name="Google Shape;459;p35"/>
          <p:cNvPicPr preferRelativeResize="0"/>
          <p:nvPr/>
        </p:nvPicPr>
        <p:blipFill>
          <a:blip r:embed="rId6">
            <a:alphaModFix/>
          </a:blip>
          <a:stretch>
            <a:fillRect/>
          </a:stretch>
        </p:blipFill>
        <p:spPr>
          <a:xfrm>
            <a:off x="4215872" y="4662112"/>
            <a:ext cx="1627953" cy="1433306"/>
          </a:xfrm>
          <a:prstGeom prst="rect">
            <a:avLst/>
          </a:prstGeom>
          <a:solidFill>
            <a:srgbClr val="7F7F7F"/>
          </a:solidFill>
          <a:ln>
            <a:noFill/>
          </a:ln>
        </p:spPr>
      </p:pic>
      <p:pic>
        <p:nvPicPr>
          <p:cNvPr id="460" name="Google Shape;460;p35"/>
          <p:cNvPicPr preferRelativeResize="0"/>
          <p:nvPr/>
        </p:nvPicPr>
        <p:blipFill>
          <a:blip r:embed="rId7">
            <a:alphaModFix/>
          </a:blip>
          <a:stretch>
            <a:fillRect/>
          </a:stretch>
        </p:blipFill>
        <p:spPr>
          <a:xfrm>
            <a:off x="8580347" y="4440562"/>
            <a:ext cx="1381125" cy="1876425"/>
          </a:xfrm>
          <a:prstGeom prst="rect">
            <a:avLst/>
          </a:prstGeom>
          <a:solidFill>
            <a:srgbClr val="595959"/>
          </a:solid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pl-PL"/>
              <a:t>Podział rozkładów danych</a:t>
            </a:r>
            <a:endParaRPr/>
          </a:p>
        </p:txBody>
      </p:sp>
      <p:pic>
        <p:nvPicPr>
          <p:cNvPr id="467" name="Google Shape;467;p36"/>
          <p:cNvPicPr preferRelativeResize="0"/>
          <p:nvPr/>
        </p:nvPicPr>
        <p:blipFill rotWithShape="1">
          <a:blip r:embed="rId3">
            <a:alphaModFix/>
          </a:blip>
          <a:srcRect/>
          <a:stretch/>
        </p:blipFill>
        <p:spPr>
          <a:xfrm>
            <a:off x="0" y="2069801"/>
            <a:ext cx="12127017" cy="33151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37" descr="Średnia, mediana i moda w symetrycznych, prawoskośnych i lewoskośnych danych"/>
          <p:cNvPicPr preferRelativeResize="0"/>
          <p:nvPr/>
        </p:nvPicPr>
        <p:blipFill rotWithShape="1">
          <a:blip r:embed="rId3">
            <a:alphaModFix/>
          </a:blip>
          <a:srcRect/>
          <a:stretch/>
        </p:blipFill>
        <p:spPr>
          <a:xfrm>
            <a:off x="0" y="1461770"/>
            <a:ext cx="12192000" cy="3567113"/>
          </a:xfrm>
          <a:prstGeom prst="rect">
            <a:avLst/>
          </a:prstGeom>
          <a:noFill/>
          <a:ln>
            <a:noFill/>
          </a:ln>
        </p:spPr>
      </p:pic>
      <p:sp>
        <p:nvSpPr>
          <p:cNvPr id="473" name="Google Shape;473;p37"/>
          <p:cNvSpPr txBox="1"/>
          <p:nvPr/>
        </p:nvSpPr>
        <p:spPr>
          <a:xfrm>
            <a:off x="240632" y="5493178"/>
            <a:ext cx="6930189"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b="1">
                <a:solidFill>
                  <a:schemeClr val="dk1"/>
                </a:solidFill>
                <a:latin typeface="Arial"/>
                <a:ea typeface="Arial"/>
                <a:cs typeface="Arial"/>
                <a:sym typeface="Arial"/>
              </a:rPr>
              <a:t>Moda</a:t>
            </a:r>
            <a:r>
              <a:rPr lang="pl-PL" sz="1800">
                <a:solidFill>
                  <a:schemeClr val="dk1"/>
                </a:solidFill>
                <a:latin typeface="Arial"/>
                <a:ea typeface="Arial"/>
                <a:cs typeface="Arial"/>
                <a:sym typeface="Arial"/>
              </a:rPr>
              <a:t> – najczęściej występująca wartość</a:t>
            </a:r>
            <a:endParaRPr/>
          </a:p>
          <a:p>
            <a:pPr marL="0" marR="0" lvl="0" indent="0" algn="l" rtl="0">
              <a:spcBef>
                <a:spcPts val="0"/>
              </a:spcBef>
              <a:spcAft>
                <a:spcPts val="0"/>
              </a:spcAft>
              <a:buNone/>
            </a:pPr>
            <a:r>
              <a:rPr lang="pl-PL" sz="1800" b="1">
                <a:solidFill>
                  <a:schemeClr val="dk1"/>
                </a:solidFill>
                <a:latin typeface="Arial"/>
                <a:ea typeface="Arial"/>
                <a:cs typeface="Arial"/>
                <a:sym typeface="Arial"/>
              </a:rPr>
              <a:t>Mediana</a:t>
            </a:r>
            <a:r>
              <a:rPr lang="pl-PL" sz="1800">
                <a:solidFill>
                  <a:schemeClr val="dk1"/>
                </a:solidFill>
                <a:latin typeface="Arial"/>
                <a:ea typeface="Arial"/>
                <a:cs typeface="Arial"/>
                <a:sym typeface="Arial"/>
              </a:rPr>
              <a:t> – wartość środkowa w uporządkowanym zbiorze danych</a:t>
            </a:r>
            <a:endParaRPr/>
          </a:p>
          <a:p>
            <a:pPr marL="0" marR="0" lvl="0" indent="0" algn="l" rtl="0">
              <a:spcBef>
                <a:spcPts val="0"/>
              </a:spcBef>
              <a:spcAft>
                <a:spcPts val="0"/>
              </a:spcAft>
              <a:buNone/>
            </a:pPr>
            <a:r>
              <a:rPr lang="pl-PL" sz="1800" b="1">
                <a:solidFill>
                  <a:schemeClr val="dk1"/>
                </a:solidFill>
                <a:latin typeface="Arial"/>
                <a:ea typeface="Arial"/>
                <a:cs typeface="Arial"/>
                <a:sym typeface="Arial"/>
              </a:rPr>
              <a:t>Średnia</a:t>
            </a:r>
            <a:r>
              <a:rPr lang="pl-PL" sz="1800">
                <a:solidFill>
                  <a:schemeClr val="dk1"/>
                </a:solidFill>
                <a:latin typeface="Arial"/>
                <a:ea typeface="Arial"/>
                <a:cs typeface="Arial"/>
                <a:sym typeface="Arial"/>
              </a:rPr>
              <a:t> - suma wszystkich wartości podzielona przez ich liczbę</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g38b89f731a7_11_0"/>
          <p:cNvPicPr preferRelativeResize="0"/>
          <p:nvPr/>
        </p:nvPicPr>
        <p:blipFill>
          <a:blip r:embed="rId3">
            <a:alphaModFix/>
          </a:blip>
          <a:stretch>
            <a:fillRect/>
          </a:stretch>
        </p:blipFill>
        <p:spPr>
          <a:xfrm>
            <a:off x="2118950" y="182700"/>
            <a:ext cx="7718950" cy="58265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pl-PL"/>
              <a:t>Wartości odstające</a:t>
            </a:r>
            <a:endParaRPr/>
          </a:p>
        </p:txBody>
      </p:sp>
      <p:sp>
        <p:nvSpPr>
          <p:cNvPr id="486" name="Google Shape;486;p38"/>
          <p:cNvSpPr txBox="1">
            <a:spLocks noGrp="1"/>
          </p:cNvSpPr>
          <p:nvPr>
            <p:ph type="body" idx="1"/>
          </p:nvPr>
        </p:nvSpPr>
        <p:spPr>
          <a:xfrm>
            <a:off x="209624" y="6070287"/>
            <a:ext cx="10153071" cy="61779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pl-PL" sz="2000" b="1"/>
              <a:t>outlier</a:t>
            </a:r>
            <a:r>
              <a:rPr lang="pl-PL" sz="2000"/>
              <a:t> - obserwacja, która znacząco odstaje od reszty danych</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endParaRPr/>
          </a:p>
        </p:txBody>
      </p:sp>
      <p:pic>
        <p:nvPicPr>
          <p:cNvPr id="487" name="Google Shape;487;p38" descr="Outlier Analysis. Observations that go well outside the… | by Can Benli |  Medium"/>
          <p:cNvPicPr preferRelativeResize="0"/>
          <p:nvPr/>
        </p:nvPicPr>
        <p:blipFill rotWithShape="1">
          <a:blip r:embed="rId3">
            <a:alphaModFix/>
          </a:blip>
          <a:srcRect/>
          <a:stretch/>
        </p:blipFill>
        <p:spPr>
          <a:xfrm>
            <a:off x="1856199" y="1401256"/>
            <a:ext cx="8186550" cy="447382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39" descr="0_oKdGBtBV6iJDookJ"/>
          <p:cNvPicPr preferRelativeResize="0"/>
          <p:nvPr/>
        </p:nvPicPr>
        <p:blipFill rotWithShape="1">
          <a:blip r:embed="rId3">
            <a:alphaModFix/>
          </a:blip>
          <a:srcRect/>
          <a:stretch/>
        </p:blipFill>
        <p:spPr>
          <a:xfrm>
            <a:off x="1536705" y="691545"/>
            <a:ext cx="8834062" cy="4417031"/>
          </a:xfrm>
          <a:prstGeom prst="rect">
            <a:avLst/>
          </a:prstGeom>
          <a:noFill/>
          <a:ln>
            <a:noFill/>
          </a:ln>
        </p:spPr>
      </p:pic>
      <p:sp>
        <p:nvSpPr>
          <p:cNvPr id="494" name="Google Shape;494;p39"/>
          <p:cNvSpPr txBox="1"/>
          <p:nvPr/>
        </p:nvSpPr>
        <p:spPr>
          <a:xfrm>
            <a:off x="1724346" y="5635550"/>
            <a:ext cx="8743307"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000" b="1">
                <a:solidFill>
                  <a:schemeClr val="dk1"/>
                </a:solidFill>
                <a:latin typeface="Arial"/>
                <a:ea typeface="Arial"/>
                <a:cs typeface="Arial"/>
                <a:sym typeface="Arial"/>
              </a:rPr>
              <a:t>1.5 * IQR</a:t>
            </a:r>
            <a:r>
              <a:rPr lang="pl-PL" sz="2000">
                <a:solidFill>
                  <a:schemeClr val="dk1"/>
                </a:solidFill>
                <a:latin typeface="Arial"/>
                <a:ea typeface="Arial"/>
                <a:cs typeface="Arial"/>
                <a:sym typeface="Arial"/>
              </a:rPr>
              <a:t> – to standardowy próg, najczęściej używany</a:t>
            </a:r>
            <a:endParaRPr/>
          </a:p>
          <a:p>
            <a:pPr marL="0" marR="0" lvl="0" indent="0" algn="l" rtl="0">
              <a:spcBef>
                <a:spcPts val="0"/>
              </a:spcBef>
              <a:spcAft>
                <a:spcPts val="0"/>
              </a:spcAft>
              <a:buNone/>
            </a:pPr>
            <a:r>
              <a:rPr lang="pl-PL" sz="2000" b="1">
                <a:solidFill>
                  <a:schemeClr val="dk1"/>
                </a:solidFill>
                <a:latin typeface="Arial"/>
                <a:ea typeface="Arial"/>
                <a:cs typeface="Arial"/>
                <a:sym typeface="Arial"/>
              </a:rPr>
              <a:t>3.0 * IQR</a:t>
            </a:r>
            <a:r>
              <a:rPr lang="pl-PL" sz="2000">
                <a:solidFill>
                  <a:schemeClr val="dk1"/>
                </a:solidFill>
                <a:latin typeface="Arial"/>
                <a:ea typeface="Arial"/>
                <a:cs typeface="Arial"/>
                <a:sym typeface="Arial"/>
              </a:rPr>
              <a:t> - to próg używany do wykrywania ekstremalnych outlierów</a:t>
            </a:r>
            <a:endParaRPr sz="20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pl-PL"/>
              <a:t>Co zrobić z outlierami?</a:t>
            </a:r>
            <a:endParaRPr/>
          </a:p>
        </p:txBody>
      </p:sp>
      <p:sp>
        <p:nvSpPr>
          <p:cNvPr id="500" name="Google Shape;500;p40"/>
          <p:cNvSpPr/>
          <p:nvPr/>
        </p:nvSpPr>
        <p:spPr>
          <a:xfrm>
            <a:off x="277208" y="1666615"/>
            <a:ext cx="3678776" cy="2176272"/>
          </a:xfrm>
          <a:prstGeom prst="roundRect">
            <a:avLst>
              <a:gd name="adj" fmla="val 16667"/>
            </a:avLst>
          </a:prstGeom>
          <a:solidFill>
            <a:srgbClr val="D8D8D8"/>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1" name="Google Shape;501;p40"/>
          <p:cNvSpPr/>
          <p:nvPr/>
        </p:nvSpPr>
        <p:spPr>
          <a:xfrm>
            <a:off x="8085222" y="1666615"/>
            <a:ext cx="3773103" cy="2176272"/>
          </a:xfrm>
          <a:prstGeom prst="roundRect">
            <a:avLst>
              <a:gd name="adj" fmla="val 16667"/>
            </a:avLst>
          </a:prstGeom>
          <a:solidFill>
            <a:srgbClr val="A5A5A5"/>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2" name="Google Shape;502;p40"/>
          <p:cNvSpPr/>
          <p:nvPr/>
        </p:nvSpPr>
        <p:spPr>
          <a:xfrm>
            <a:off x="1913503" y="4290622"/>
            <a:ext cx="4078224" cy="2176272"/>
          </a:xfrm>
          <a:prstGeom prst="roundRect">
            <a:avLst>
              <a:gd name="adj" fmla="val 16667"/>
            </a:avLst>
          </a:prstGeom>
          <a:solidFill>
            <a:srgbClr val="7F7F7F"/>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3" name="Google Shape;503;p40"/>
          <p:cNvSpPr/>
          <p:nvPr/>
        </p:nvSpPr>
        <p:spPr>
          <a:xfrm>
            <a:off x="6181023" y="4290622"/>
            <a:ext cx="4078224" cy="2176272"/>
          </a:xfrm>
          <a:prstGeom prst="roundRect">
            <a:avLst>
              <a:gd name="adj" fmla="val 16667"/>
            </a:avLst>
          </a:prstGeom>
          <a:solidFill>
            <a:srgbClr val="595959"/>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4" name="Google Shape;504;p40"/>
          <p:cNvSpPr/>
          <p:nvPr/>
        </p:nvSpPr>
        <p:spPr>
          <a:xfrm>
            <a:off x="4215866" y="1666615"/>
            <a:ext cx="3609474" cy="2176272"/>
          </a:xfrm>
          <a:prstGeom prst="roundRect">
            <a:avLst>
              <a:gd name="adj" fmla="val 16667"/>
            </a:avLst>
          </a:prstGeom>
          <a:solidFill>
            <a:srgbClr val="BFBFBF"/>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5" name="Google Shape;505;p40"/>
          <p:cNvSpPr txBox="1"/>
          <p:nvPr/>
        </p:nvSpPr>
        <p:spPr>
          <a:xfrm>
            <a:off x="4617900" y="2013175"/>
            <a:ext cx="29562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a:solidFill>
                  <a:schemeClr val="dk1"/>
                </a:solidFill>
                <a:latin typeface="Arial"/>
                <a:ea typeface="Arial"/>
                <a:cs typeface="Arial"/>
                <a:sym typeface="Arial"/>
              </a:rPr>
              <a:t>flooring</a:t>
            </a:r>
            <a:r>
              <a:rPr lang="pl-PL" sz="2400">
                <a:solidFill>
                  <a:schemeClr val="dk1"/>
                </a:solidFill>
                <a:latin typeface="Arial"/>
                <a:ea typeface="Arial"/>
                <a:cs typeface="Arial"/>
                <a:sym typeface="Arial"/>
              </a:rPr>
              <a:t> – ograniczyć wartość poniżej progu</a:t>
            </a:r>
            <a:endParaRPr/>
          </a:p>
        </p:txBody>
      </p:sp>
      <p:sp>
        <p:nvSpPr>
          <p:cNvPr id="506" name="Google Shape;506;p40"/>
          <p:cNvSpPr txBox="1"/>
          <p:nvPr/>
        </p:nvSpPr>
        <p:spPr>
          <a:xfrm>
            <a:off x="8412100" y="2013175"/>
            <a:ext cx="29655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a:solidFill>
                  <a:schemeClr val="dk1"/>
                </a:solidFill>
                <a:latin typeface="Arial"/>
                <a:ea typeface="Arial"/>
                <a:cs typeface="Arial"/>
                <a:sym typeface="Arial"/>
              </a:rPr>
              <a:t>capping</a:t>
            </a:r>
            <a:r>
              <a:rPr lang="pl-PL" sz="2400">
                <a:solidFill>
                  <a:schemeClr val="dk1"/>
                </a:solidFill>
                <a:latin typeface="Arial"/>
                <a:ea typeface="Arial"/>
                <a:cs typeface="Arial"/>
                <a:sym typeface="Arial"/>
              </a:rPr>
              <a:t> – ograniczyć wartość powyżej górnego progu</a:t>
            </a:r>
            <a:endParaRPr/>
          </a:p>
        </p:txBody>
      </p:sp>
      <p:sp>
        <p:nvSpPr>
          <p:cNvPr id="507" name="Google Shape;507;p40"/>
          <p:cNvSpPr txBox="1"/>
          <p:nvPr/>
        </p:nvSpPr>
        <p:spPr>
          <a:xfrm>
            <a:off x="2252720" y="4738355"/>
            <a:ext cx="3399789"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a:solidFill>
                  <a:schemeClr val="dk1"/>
                </a:solidFill>
                <a:latin typeface="Arial"/>
                <a:ea typeface="Arial"/>
                <a:cs typeface="Arial"/>
                <a:sym typeface="Arial"/>
              </a:rPr>
              <a:t>przekształcić</a:t>
            </a:r>
            <a:r>
              <a:rPr lang="pl-PL" sz="2400">
                <a:solidFill>
                  <a:schemeClr val="dk1"/>
                </a:solidFill>
                <a:latin typeface="Arial"/>
                <a:ea typeface="Arial"/>
                <a:cs typeface="Arial"/>
                <a:sym typeface="Arial"/>
              </a:rPr>
              <a:t> – aby lepiej dopasować dane do skali </a:t>
            </a:r>
            <a:endParaRPr/>
          </a:p>
        </p:txBody>
      </p:sp>
      <p:sp>
        <p:nvSpPr>
          <p:cNvPr id="508" name="Google Shape;508;p40"/>
          <p:cNvSpPr txBox="1"/>
          <p:nvPr/>
        </p:nvSpPr>
        <p:spPr>
          <a:xfrm>
            <a:off x="6560421" y="4738354"/>
            <a:ext cx="3378859"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a:solidFill>
                  <a:schemeClr val="dk1"/>
                </a:solidFill>
                <a:latin typeface="Arial"/>
                <a:ea typeface="Arial"/>
                <a:cs typeface="Arial"/>
                <a:sym typeface="Arial"/>
              </a:rPr>
              <a:t>zastąpić</a:t>
            </a:r>
            <a:r>
              <a:rPr lang="pl-PL" sz="2400">
                <a:solidFill>
                  <a:schemeClr val="dk1"/>
                </a:solidFill>
                <a:latin typeface="Arial"/>
                <a:ea typeface="Arial"/>
                <a:cs typeface="Arial"/>
                <a:sym typeface="Arial"/>
              </a:rPr>
              <a:t> – medianą lub średnią, kiedy dane są błędne</a:t>
            </a:r>
            <a:endParaRPr/>
          </a:p>
        </p:txBody>
      </p:sp>
      <p:sp>
        <p:nvSpPr>
          <p:cNvPr id="509" name="Google Shape;509;p40"/>
          <p:cNvSpPr txBox="1"/>
          <p:nvPr/>
        </p:nvSpPr>
        <p:spPr>
          <a:xfrm>
            <a:off x="606755" y="2138423"/>
            <a:ext cx="2613496"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a:solidFill>
                  <a:schemeClr val="dk1"/>
                </a:solidFill>
                <a:latin typeface="Arial"/>
                <a:ea typeface="Arial"/>
                <a:cs typeface="Arial"/>
                <a:sym typeface="Arial"/>
              </a:rPr>
              <a:t>zostawić</a:t>
            </a:r>
            <a:r>
              <a:rPr lang="pl-PL" sz="2400">
                <a:solidFill>
                  <a:schemeClr val="dk1"/>
                </a:solidFill>
                <a:latin typeface="Arial"/>
                <a:ea typeface="Arial"/>
                <a:cs typeface="Arial"/>
                <a:sym typeface="Arial"/>
              </a:rPr>
              <a:t> - jeśli są prawdziwe i istotne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pl-PL"/>
              <a:t>Uwaga! Niezbalansowane dane!</a:t>
            </a:r>
            <a:endParaRPr/>
          </a:p>
        </p:txBody>
      </p:sp>
      <p:pic>
        <p:nvPicPr>
          <p:cNvPr id="515" name="Google Shape;515;p41" descr="Ostrożny Wykrzyknik Grafika Wektorowa, Clipartów i Ilustracji - 123RF"/>
          <p:cNvPicPr preferRelativeResize="0"/>
          <p:nvPr/>
        </p:nvPicPr>
        <p:blipFill rotWithShape="1">
          <a:blip r:embed="rId3">
            <a:alphaModFix/>
          </a:blip>
          <a:srcRect/>
          <a:stretch/>
        </p:blipFill>
        <p:spPr>
          <a:xfrm>
            <a:off x="4024592" y="1690688"/>
            <a:ext cx="4286250" cy="4286250"/>
          </a:xfrm>
          <a:prstGeom prst="rect">
            <a:avLst/>
          </a:prstGeom>
          <a:noFill/>
          <a:ln>
            <a:noFill/>
          </a:ln>
        </p:spPr>
      </p:pic>
      <p:sp>
        <p:nvSpPr>
          <p:cNvPr id="516" name="Google Shape;516;p41"/>
          <p:cNvSpPr/>
          <p:nvPr/>
        </p:nvSpPr>
        <p:spPr>
          <a:xfrm>
            <a:off x="7803777" y="2059378"/>
            <a:ext cx="2169459" cy="1376082"/>
          </a:xfrm>
          <a:prstGeom prst="ellipse">
            <a:avLst/>
          </a:prstGeom>
          <a:solidFill>
            <a:srgbClr val="B8D0C6"/>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7" name="Google Shape;517;p41"/>
          <p:cNvSpPr/>
          <p:nvPr/>
        </p:nvSpPr>
        <p:spPr>
          <a:xfrm>
            <a:off x="2332785" y="2141460"/>
            <a:ext cx="2169459" cy="1376082"/>
          </a:xfrm>
          <a:prstGeom prst="ellipse">
            <a:avLst/>
          </a:prstGeom>
          <a:solidFill>
            <a:srgbClr val="ACCFEE"/>
          </a:solidFill>
          <a:ln w="19050"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8" name="Google Shape;518;p41"/>
          <p:cNvSpPr/>
          <p:nvPr/>
        </p:nvSpPr>
        <p:spPr>
          <a:xfrm>
            <a:off x="703729" y="3797690"/>
            <a:ext cx="2169459" cy="1376082"/>
          </a:xfrm>
          <a:prstGeom prst="ellipse">
            <a:avLst/>
          </a:prstGeom>
          <a:solidFill>
            <a:srgbClr val="E1A7B5"/>
          </a:solidFill>
          <a:ln w="19050"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9" name="Google Shape;519;p41"/>
          <p:cNvSpPr txBox="1"/>
          <p:nvPr/>
        </p:nvSpPr>
        <p:spPr>
          <a:xfrm>
            <a:off x="8030414" y="2285754"/>
            <a:ext cx="16764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l-PL" sz="1800">
                <a:solidFill>
                  <a:schemeClr val="dk1"/>
                </a:solidFill>
                <a:latin typeface="Arial"/>
                <a:ea typeface="Arial"/>
                <a:cs typeface="Arial"/>
                <a:sym typeface="Arial"/>
              </a:rPr>
              <a:t>ignorowanie mniej licznej klasy</a:t>
            </a:r>
            <a:endParaRPr/>
          </a:p>
        </p:txBody>
      </p:sp>
      <p:sp>
        <p:nvSpPr>
          <p:cNvPr id="520" name="Google Shape;520;p41"/>
          <p:cNvSpPr txBox="1"/>
          <p:nvPr/>
        </p:nvSpPr>
        <p:spPr>
          <a:xfrm>
            <a:off x="2617694" y="2345406"/>
            <a:ext cx="161364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l-PL" sz="1800" b="1">
                <a:solidFill>
                  <a:schemeClr val="dk1"/>
                </a:solidFill>
                <a:latin typeface="Arial"/>
                <a:ea typeface="Arial"/>
                <a:cs typeface="Arial"/>
                <a:sym typeface="Arial"/>
              </a:rPr>
              <a:t>accuracy</a:t>
            </a:r>
            <a:r>
              <a:rPr lang="pl-PL" sz="1800">
                <a:solidFill>
                  <a:schemeClr val="dk1"/>
                </a:solidFill>
                <a:latin typeface="Arial"/>
                <a:ea typeface="Arial"/>
                <a:cs typeface="Arial"/>
                <a:sym typeface="Arial"/>
              </a:rPr>
              <a:t> staje się mniej istotne</a:t>
            </a:r>
            <a:endParaRPr/>
          </a:p>
        </p:txBody>
      </p:sp>
      <p:sp>
        <p:nvSpPr>
          <p:cNvPr id="521" name="Google Shape;521;p41"/>
          <p:cNvSpPr txBox="1"/>
          <p:nvPr/>
        </p:nvSpPr>
        <p:spPr>
          <a:xfrm>
            <a:off x="1021976" y="4024066"/>
            <a:ext cx="1595718"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l-PL" sz="1800">
                <a:solidFill>
                  <a:schemeClr val="dk1"/>
                </a:solidFill>
                <a:latin typeface="Arial"/>
                <a:ea typeface="Arial"/>
                <a:cs typeface="Arial"/>
                <a:sym typeface="Arial"/>
              </a:rPr>
              <a:t>faworyzacja bardziej licznej klasy</a:t>
            </a:r>
            <a:endParaRPr/>
          </a:p>
        </p:txBody>
      </p:sp>
      <p:sp>
        <p:nvSpPr>
          <p:cNvPr id="522" name="Google Shape;522;p41"/>
          <p:cNvSpPr txBox="1"/>
          <p:nvPr/>
        </p:nvSpPr>
        <p:spPr>
          <a:xfrm>
            <a:off x="1550894" y="5667838"/>
            <a:ext cx="9090211"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l-PL" sz="1800">
                <a:solidFill>
                  <a:schemeClr val="dk1"/>
                </a:solidFill>
                <a:latin typeface="Arial"/>
                <a:ea typeface="Arial"/>
                <a:cs typeface="Arial"/>
                <a:sym typeface="Arial"/>
              </a:rPr>
              <a:t>Czy brak balansu zawsze jest zły?</a:t>
            </a:r>
            <a:endParaRPr/>
          </a:p>
        </p:txBody>
      </p:sp>
      <p:sp>
        <p:nvSpPr>
          <p:cNvPr id="523" name="Google Shape;523;p41"/>
          <p:cNvSpPr/>
          <p:nvPr/>
        </p:nvSpPr>
        <p:spPr>
          <a:xfrm>
            <a:off x="9193304" y="3808502"/>
            <a:ext cx="2169459" cy="1376082"/>
          </a:xfrm>
          <a:prstGeom prst="ellipse">
            <a:avLst/>
          </a:prstGeom>
          <a:solidFill>
            <a:srgbClr val="E2CCAC"/>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4" name="Google Shape;524;p41"/>
          <p:cNvSpPr txBox="1"/>
          <p:nvPr/>
        </p:nvSpPr>
        <p:spPr>
          <a:xfrm>
            <a:off x="9462246" y="4160384"/>
            <a:ext cx="16764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l-PL" sz="1800">
                <a:solidFill>
                  <a:schemeClr val="dk1"/>
                </a:solidFill>
                <a:latin typeface="Arial"/>
                <a:ea typeface="Arial"/>
                <a:cs typeface="Arial"/>
                <a:sym typeface="Arial"/>
              </a:rPr>
              <a:t>niedokładne testowanie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pic>
        <p:nvPicPr>
          <p:cNvPr id="529" name="Google Shape;529;p42" descr="Ragdoll - opis i charakterystyka rasy | Purina"/>
          <p:cNvPicPr preferRelativeResize="0"/>
          <p:nvPr/>
        </p:nvPicPr>
        <p:blipFill rotWithShape="1">
          <a:blip r:embed="rId3">
            <a:alphaModFix/>
          </a:blip>
          <a:srcRect l="11918" r="7198" b="6762"/>
          <a:stretch/>
        </p:blipFill>
        <p:spPr>
          <a:xfrm>
            <a:off x="245675" y="167339"/>
            <a:ext cx="3363402" cy="2972452"/>
          </a:xfrm>
          <a:prstGeom prst="rect">
            <a:avLst/>
          </a:prstGeom>
          <a:noFill/>
          <a:ln>
            <a:noFill/>
          </a:ln>
        </p:spPr>
      </p:pic>
      <p:pic>
        <p:nvPicPr>
          <p:cNvPr id="530" name="Google Shape;530;p42" descr="2+ Million Dog White Background Royalty-Free Images, Stock Photos &amp;  Pictures | Shutterstock"/>
          <p:cNvPicPr preferRelativeResize="0"/>
          <p:nvPr/>
        </p:nvPicPr>
        <p:blipFill rotWithShape="1">
          <a:blip r:embed="rId4">
            <a:alphaModFix/>
          </a:blip>
          <a:srcRect l="22151" r="26599"/>
          <a:stretch/>
        </p:blipFill>
        <p:spPr>
          <a:xfrm>
            <a:off x="373712" y="3418825"/>
            <a:ext cx="1940118" cy="3091614"/>
          </a:xfrm>
          <a:prstGeom prst="rect">
            <a:avLst/>
          </a:prstGeom>
          <a:noFill/>
          <a:ln>
            <a:noFill/>
          </a:ln>
        </p:spPr>
      </p:pic>
      <p:sp>
        <p:nvSpPr>
          <p:cNvPr id="531" name="Google Shape;531;p42"/>
          <p:cNvSpPr txBox="1"/>
          <p:nvPr/>
        </p:nvSpPr>
        <p:spPr>
          <a:xfrm>
            <a:off x="2755246" y="1183642"/>
            <a:ext cx="190831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95 kotków</a:t>
            </a:r>
            <a:endParaRPr/>
          </a:p>
        </p:txBody>
      </p:sp>
      <p:sp>
        <p:nvSpPr>
          <p:cNvPr id="532" name="Google Shape;532;p42"/>
          <p:cNvSpPr txBox="1"/>
          <p:nvPr/>
        </p:nvSpPr>
        <p:spPr>
          <a:xfrm>
            <a:off x="2755246" y="4829216"/>
            <a:ext cx="166778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a:solidFill>
                  <a:schemeClr val="dk1"/>
                </a:solidFill>
                <a:latin typeface="Arial"/>
                <a:ea typeface="Arial"/>
                <a:cs typeface="Arial"/>
                <a:sym typeface="Arial"/>
              </a:rPr>
              <a:t>5 piesków</a:t>
            </a:r>
            <a:endParaRPr/>
          </a:p>
        </p:txBody>
      </p:sp>
      <p:sp>
        <p:nvSpPr>
          <p:cNvPr id="533" name="Google Shape;533;p42"/>
          <p:cNvSpPr txBox="1"/>
          <p:nvPr/>
        </p:nvSpPr>
        <p:spPr>
          <a:xfrm>
            <a:off x="5653378" y="2241074"/>
            <a:ext cx="578059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Model dostaje 95 zdjęć kotków i 5 piesków, ale…</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pl-PL" sz="1800">
                <a:solidFill>
                  <a:schemeClr val="dk1"/>
                </a:solidFill>
                <a:latin typeface="Arial"/>
                <a:ea typeface="Arial"/>
                <a:cs typeface="Arial"/>
                <a:sym typeface="Arial"/>
              </a:rPr>
              <a:t>Przewiduje, że </a:t>
            </a:r>
            <a:r>
              <a:rPr lang="pl-PL" sz="1800" b="1">
                <a:solidFill>
                  <a:schemeClr val="dk1"/>
                </a:solidFill>
                <a:latin typeface="Arial"/>
                <a:ea typeface="Arial"/>
                <a:cs typeface="Arial"/>
                <a:sym typeface="Arial"/>
              </a:rPr>
              <a:t>wszystkie to kotki!</a:t>
            </a:r>
            <a:endParaRPr sz="1800">
              <a:solidFill>
                <a:schemeClr val="dk1"/>
              </a:solidFill>
              <a:latin typeface="Arial"/>
              <a:ea typeface="Arial"/>
              <a:cs typeface="Arial"/>
              <a:sym typeface="Arial"/>
            </a:endParaRPr>
          </a:p>
        </p:txBody>
      </p:sp>
      <p:sp>
        <p:nvSpPr>
          <p:cNvPr id="534" name="Google Shape;534;p42"/>
          <p:cNvSpPr txBox="1"/>
          <p:nvPr/>
        </p:nvSpPr>
        <p:spPr>
          <a:xfrm>
            <a:off x="4663559" y="3693597"/>
            <a:ext cx="71641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b="1">
                <a:solidFill>
                  <a:schemeClr val="dk1"/>
                </a:solidFill>
                <a:latin typeface="Arial"/>
                <a:ea typeface="Arial"/>
                <a:cs typeface="Arial"/>
                <a:sym typeface="Arial"/>
              </a:rPr>
              <a:t>Accuracy = 95%</a:t>
            </a:r>
            <a:r>
              <a:rPr lang="pl-PL" sz="1800">
                <a:solidFill>
                  <a:schemeClr val="dk1"/>
                </a:solidFill>
                <a:latin typeface="Arial"/>
                <a:ea typeface="Arial"/>
                <a:cs typeface="Arial"/>
                <a:sym typeface="Arial"/>
              </a:rPr>
              <a:t>, ale... </a:t>
            </a:r>
            <a:r>
              <a:rPr lang="pl-PL" sz="1800" b="1">
                <a:solidFill>
                  <a:schemeClr val="dk1"/>
                </a:solidFill>
                <a:latin typeface="Arial"/>
                <a:ea typeface="Arial"/>
                <a:cs typeface="Arial"/>
                <a:sym typeface="Arial"/>
              </a:rPr>
              <a:t>model nie rozpoznaje żadnego pieska!</a:t>
            </a:r>
            <a:endParaRPr sz="1800">
              <a:solidFill>
                <a:schemeClr val="dk1"/>
              </a:solidFill>
              <a:latin typeface="Arial"/>
              <a:ea typeface="Arial"/>
              <a:cs typeface="Arial"/>
              <a:sym typeface="Arial"/>
            </a:endParaRPr>
          </a:p>
        </p:txBody>
      </p:sp>
      <p:pic>
        <p:nvPicPr>
          <p:cNvPr id="535" name="Google Shape;535;p42"/>
          <p:cNvPicPr preferRelativeResize="0"/>
          <p:nvPr/>
        </p:nvPicPr>
        <p:blipFill>
          <a:blip r:embed="rId5">
            <a:alphaModFix/>
          </a:blip>
          <a:stretch>
            <a:fillRect/>
          </a:stretch>
        </p:blipFill>
        <p:spPr>
          <a:xfrm>
            <a:off x="4423026" y="2241075"/>
            <a:ext cx="1122850" cy="1122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541" name="Google Shape;541;g38b89f731a7_9_213"/>
          <p:cNvPicPr preferRelativeResize="0"/>
          <p:nvPr/>
        </p:nvPicPr>
        <p:blipFill>
          <a:blip r:embed="rId3">
            <a:alphaModFix/>
          </a:blip>
          <a:stretch>
            <a:fillRect/>
          </a:stretch>
        </p:blipFill>
        <p:spPr>
          <a:xfrm>
            <a:off x="92250" y="370675"/>
            <a:ext cx="11887200" cy="5117440"/>
          </a:xfrm>
          <a:prstGeom prst="rect">
            <a:avLst/>
          </a:prstGeom>
          <a:noFill/>
          <a:ln>
            <a:noFill/>
          </a:ln>
        </p:spPr>
      </p:pic>
      <p:pic>
        <p:nvPicPr>
          <p:cNvPr id="542" name="Google Shape;542;g38b89f731a7_9_213"/>
          <p:cNvPicPr preferRelativeResize="0"/>
          <p:nvPr/>
        </p:nvPicPr>
        <p:blipFill>
          <a:blip r:embed="rId4">
            <a:alphaModFix/>
          </a:blip>
          <a:stretch>
            <a:fillRect/>
          </a:stretch>
        </p:blipFill>
        <p:spPr>
          <a:xfrm>
            <a:off x="6267198" y="5289400"/>
            <a:ext cx="4932201" cy="14408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pic>
        <p:nvPicPr>
          <p:cNvPr id="547" name="Google Shape;547;p43" descr="Imbalanced data preprocessing techniques for machine learning: a systematic  mapping study | Knowledge and Information Systems"/>
          <p:cNvPicPr preferRelativeResize="0"/>
          <p:nvPr/>
        </p:nvPicPr>
        <p:blipFill rotWithShape="1">
          <a:blip r:embed="rId3">
            <a:alphaModFix/>
          </a:blip>
          <a:srcRect/>
          <a:stretch/>
        </p:blipFill>
        <p:spPr>
          <a:xfrm>
            <a:off x="2024161" y="704208"/>
            <a:ext cx="8143678" cy="52309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2"/>
        <p:cNvGrpSpPr/>
        <p:nvPr/>
      </p:nvGrpSpPr>
      <p:grpSpPr>
        <a:xfrm>
          <a:off x="0" y="0"/>
          <a:ext cx="0" cy="0"/>
          <a:chOff x="0" y="0"/>
          <a:chExt cx="0" cy="0"/>
        </a:xfrm>
      </p:grpSpPr>
      <p:pic>
        <p:nvPicPr>
          <p:cNvPr id="553" name="Google Shape;553;p44" descr="Obraz zawierający tekst, zrzut ekranu, diagram, Prostokąt&#10;&#10;Zawartość wygenerowana przez AI może być niepoprawna."/>
          <p:cNvPicPr preferRelativeResize="0"/>
          <p:nvPr/>
        </p:nvPicPr>
        <p:blipFill rotWithShape="1">
          <a:blip r:embed="rId3">
            <a:alphaModFix/>
          </a:blip>
          <a:srcRect/>
          <a:stretch/>
        </p:blipFill>
        <p:spPr>
          <a:xfrm>
            <a:off x="563954" y="1258934"/>
            <a:ext cx="5291666" cy="3783541"/>
          </a:xfrm>
          <a:prstGeom prst="rect">
            <a:avLst/>
          </a:prstGeom>
          <a:noFill/>
          <a:ln>
            <a:noFill/>
          </a:ln>
        </p:spPr>
      </p:pic>
      <p:pic>
        <p:nvPicPr>
          <p:cNvPr id="554" name="Google Shape;554;p44" descr="Obraz zawierający tekst, zrzut ekranu, diagram, Wykres&#10;&#10;Zawartość wygenerowana przez AI może być niepoprawna."/>
          <p:cNvPicPr preferRelativeResize="0"/>
          <p:nvPr/>
        </p:nvPicPr>
        <p:blipFill rotWithShape="1">
          <a:blip r:embed="rId4">
            <a:alphaModFix/>
          </a:blip>
          <a:srcRect/>
          <a:stretch/>
        </p:blipFill>
        <p:spPr>
          <a:xfrm>
            <a:off x="6177352" y="1272163"/>
            <a:ext cx="5291667" cy="3757083"/>
          </a:xfrm>
          <a:prstGeom prst="rect">
            <a:avLst/>
          </a:prstGeom>
          <a:noFill/>
          <a:ln>
            <a:noFill/>
          </a:ln>
        </p:spPr>
      </p:pic>
      <p:sp>
        <p:nvSpPr>
          <p:cNvPr id="555" name="Google Shape;555;p44"/>
          <p:cNvSpPr txBox="1"/>
          <p:nvPr/>
        </p:nvSpPr>
        <p:spPr>
          <a:xfrm>
            <a:off x="2152151" y="5414397"/>
            <a:ext cx="257092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1 zmienna kategoryczna</a:t>
            </a:r>
            <a:endParaRPr/>
          </a:p>
        </p:txBody>
      </p:sp>
      <p:sp>
        <p:nvSpPr>
          <p:cNvPr id="556" name="Google Shape;556;p44"/>
          <p:cNvSpPr txBox="1"/>
          <p:nvPr/>
        </p:nvSpPr>
        <p:spPr>
          <a:xfrm>
            <a:off x="7706803" y="5275898"/>
            <a:ext cx="290023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Kilka zmiennych na jednym wykresie słupkowym!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Zmienna nie jest sama – czyli o zależnościach</a:t>
            </a:r>
            <a:endParaRPr/>
          </a:p>
        </p:txBody>
      </p:sp>
      <p:pic>
        <p:nvPicPr>
          <p:cNvPr id="562" name="Google Shape;562;p45" descr="Exploring Correlation in Python - GeeksforGeeks"/>
          <p:cNvPicPr preferRelativeResize="0"/>
          <p:nvPr/>
        </p:nvPicPr>
        <p:blipFill rotWithShape="1">
          <a:blip r:embed="rId3">
            <a:alphaModFix/>
          </a:blip>
          <a:srcRect/>
          <a:stretch/>
        </p:blipFill>
        <p:spPr>
          <a:xfrm>
            <a:off x="314264" y="1690688"/>
            <a:ext cx="6651756" cy="4116756"/>
          </a:xfrm>
          <a:prstGeom prst="rect">
            <a:avLst/>
          </a:prstGeom>
          <a:noFill/>
          <a:ln>
            <a:noFill/>
          </a:ln>
        </p:spPr>
      </p:pic>
      <p:pic>
        <p:nvPicPr>
          <p:cNvPr id="563" name="Google Shape;563;p45" descr="Correlation in machine learning — All you need to know | by Abdallah Ashraf  | Medium"/>
          <p:cNvPicPr preferRelativeResize="0"/>
          <p:nvPr/>
        </p:nvPicPr>
        <p:blipFill rotWithShape="1">
          <a:blip r:embed="rId4">
            <a:alphaModFix/>
          </a:blip>
          <a:srcRect l="2792" r="19606"/>
          <a:stretch/>
        </p:blipFill>
        <p:spPr>
          <a:xfrm>
            <a:off x="6839000" y="2252311"/>
            <a:ext cx="4836606" cy="320670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7"/>
        <p:cNvGrpSpPr/>
        <p:nvPr/>
      </p:nvGrpSpPr>
      <p:grpSpPr>
        <a:xfrm>
          <a:off x="0" y="0"/>
          <a:ext cx="0" cy="0"/>
          <a:chOff x="0" y="0"/>
          <a:chExt cx="0" cy="0"/>
        </a:xfrm>
      </p:grpSpPr>
      <p:pic>
        <p:nvPicPr>
          <p:cNvPr id="568" name="Google Shape;568;p46" descr="Obraz zawierający zrzut ekranu, tekst&#10;&#10;Zawartość wygenerowana przez AI może być niepoprawna."/>
          <p:cNvPicPr preferRelativeResize="0"/>
          <p:nvPr/>
        </p:nvPicPr>
        <p:blipFill rotWithShape="1">
          <a:blip r:embed="rId3">
            <a:alphaModFix/>
          </a:blip>
          <a:srcRect/>
          <a:stretch/>
        </p:blipFill>
        <p:spPr>
          <a:xfrm>
            <a:off x="5946988" y="1125165"/>
            <a:ext cx="5291666" cy="3876145"/>
          </a:xfrm>
          <a:prstGeom prst="rect">
            <a:avLst/>
          </a:prstGeom>
          <a:noFill/>
          <a:ln>
            <a:noFill/>
          </a:ln>
        </p:spPr>
      </p:pic>
      <p:pic>
        <p:nvPicPr>
          <p:cNvPr id="569" name="Google Shape;569;p46" descr="Obraz zawierający zrzut ekranu, tekst, Czcionka, linia&#10;&#10;Zawartość wygenerowana przez AI może być niepoprawna."/>
          <p:cNvPicPr preferRelativeResize="0"/>
          <p:nvPr/>
        </p:nvPicPr>
        <p:blipFill rotWithShape="1">
          <a:blip r:embed="rId4">
            <a:alphaModFix/>
          </a:blip>
          <a:srcRect/>
          <a:stretch/>
        </p:blipFill>
        <p:spPr>
          <a:xfrm>
            <a:off x="317240" y="1310374"/>
            <a:ext cx="5291667" cy="3505729"/>
          </a:xfrm>
          <a:prstGeom prst="rect">
            <a:avLst/>
          </a:prstGeom>
          <a:noFill/>
          <a:ln>
            <a:noFill/>
          </a:ln>
        </p:spPr>
      </p:pic>
      <p:sp>
        <p:nvSpPr>
          <p:cNvPr id="570" name="Google Shape;570;p46"/>
          <p:cNvSpPr txBox="1"/>
          <p:nvPr/>
        </p:nvSpPr>
        <p:spPr>
          <a:xfrm>
            <a:off x="7307248" y="5224007"/>
            <a:ext cx="357808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Dawanie kilku zmiennych na wykresie daje ciekawe rezultaty :)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pic>
        <p:nvPicPr>
          <p:cNvPr id="576" name="Google Shape;576;p47"/>
          <p:cNvPicPr preferRelativeResize="0"/>
          <p:nvPr/>
        </p:nvPicPr>
        <p:blipFill rotWithShape="1">
          <a:blip r:embed="rId3">
            <a:alphaModFix/>
          </a:blip>
          <a:srcRect/>
          <a:stretch/>
        </p:blipFill>
        <p:spPr>
          <a:xfrm>
            <a:off x="2024856" y="0"/>
            <a:ext cx="8142287"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34"/>
          <p:cNvSpPr txBox="1">
            <a:spLocks noGrp="1"/>
          </p:cNvSpPr>
          <p:nvPr>
            <p:ph type="title"/>
          </p:nvPr>
        </p:nvSpPr>
        <p:spPr>
          <a:xfrm>
            <a:off x="954437" y="276621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Przerwa </a:t>
            </a:r>
            <a:endParaRPr/>
          </a:p>
        </p:txBody>
      </p:sp>
      <p:pic>
        <p:nvPicPr>
          <p:cNvPr id="582" name="Google Shape;582;p34" descr="Understanding Machine Learning through Memes | by Harsh Aryan | Nybles |  Medium"/>
          <p:cNvPicPr preferRelativeResize="0"/>
          <p:nvPr/>
        </p:nvPicPr>
        <p:blipFill rotWithShape="1">
          <a:blip r:embed="rId3">
            <a:alphaModFix/>
          </a:blip>
          <a:srcRect/>
          <a:stretch/>
        </p:blipFill>
        <p:spPr>
          <a:xfrm>
            <a:off x="4663389" y="19049"/>
            <a:ext cx="6819900" cy="6819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g38b89f731a7_0_3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pl-PL"/>
              <a:t>Transformacje danych </a:t>
            </a:r>
            <a:endParaRPr/>
          </a:p>
        </p:txBody>
      </p:sp>
      <p:pic>
        <p:nvPicPr>
          <p:cNvPr id="589" name="Google Shape;589;g38b89f731a7_0_37"/>
          <p:cNvPicPr preferRelativeResize="0"/>
          <p:nvPr/>
        </p:nvPicPr>
        <p:blipFill>
          <a:blip r:embed="rId3">
            <a:alphaModFix/>
          </a:blip>
          <a:stretch>
            <a:fillRect/>
          </a:stretch>
        </p:blipFill>
        <p:spPr>
          <a:xfrm>
            <a:off x="6731425" y="1690825"/>
            <a:ext cx="4796194" cy="48623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g38b89f731a7_2_2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pl-PL"/>
              <a:t>Enkodowanie danych kategorialnych</a:t>
            </a:r>
            <a:endParaRPr/>
          </a:p>
        </p:txBody>
      </p:sp>
      <p:pic>
        <p:nvPicPr>
          <p:cNvPr id="596" name="Google Shape;596;g38b89f731a7_2_23"/>
          <p:cNvPicPr preferRelativeResize="0"/>
          <p:nvPr/>
        </p:nvPicPr>
        <p:blipFill>
          <a:blip r:embed="rId3">
            <a:alphaModFix/>
          </a:blip>
          <a:stretch>
            <a:fillRect/>
          </a:stretch>
        </p:blipFill>
        <p:spPr>
          <a:xfrm>
            <a:off x="1686750" y="1458525"/>
            <a:ext cx="8075826" cy="52662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pic>
        <p:nvPicPr>
          <p:cNvPr id="602" name="Google Shape;602;g38b89f731a7_2_36"/>
          <p:cNvPicPr preferRelativeResize="0"/>
          <p:nvPr/>
        </p:nvPicPr>
        <p:blipFill>
          <a:blip r:embed="rId3">
            <a:alphaModFix/>
          </a:blip>
          <a:stretch>
            <a:fillRect/>
          </a:stretch>
        </p:blipFill>
        <p:spPr>
          <a:xfrm>
            <a:off x="-133225" y="384800"/>
            <a:ext cx="12192001" cy="608839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g38b89f731a7_2_2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pl-PL"/>
              <a:t>Kodowanie gorąco jedynkowe xd</a:t>
            </a:r>
            <a:endParaRPr/>
          </a:p>
        </p:txBody>
      </p:sp>
      <p:pic>
        <p:nvPicPr>
          <p:cNvPr id="609" name="Google Shape;609;g38b89f731a7_2_29"/>
          <p:cNvPicPr preferRelativeResize="0"/>
          <p:nvPr/>
        </p:nvPicPr>
        <p:blipFill>
          <a:blip r:embed="rId3">
            <a:alphaModFix/>
          </a:blip>
          <a:stretch>
            <a:fillRect/>
          </a:stretch>
        </p:blipFill>
        <p:spPr>
          <a:xfrm>
            <a:off x="0" y="2313150"/>
            <a:ext cx="10895875" cy="36035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g38b89f731a7_2_4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pl-PL"/>
              <a:t>Kodowanie gorąco jedynkowe xd</a:t>
            </a:r>
            <a:endParaRPr/>
          </a:p>
        </p:txBody>
      </p:sp>
      <p:pic>
        <p:nvPicPr>
          <p:cNvPr id="616" name="Google Shape;616;g38b89f731a7_2_45"/>
          <p:cNvPicPr preferRelativeResize="0"/>
          <p:nvPr/>
        </p:nvPicPr>
        <p:blipFill>
          <a:blip r:embed="rId3">
            <a:alphaModFix/>
          </a:blip>
          <a:stretch>
            <a:fillRect/>
          </a:stretch>
        </p:blipFill>
        <p:spPr>
          <a:xfrm>
            <a:off x="0" y="2313150"/>
            <a:ext cx="10895875" cy="3603575"/>
          </a:xfrm>
          <a:prstGeom prst="rect">
            <a:avLst/>
          </a:prstGeom>
          <a:noFill/>
          <a:ln>
            <a:noFill/>
          </a:ln>
        </p:spPr>
      </p:pic>
      <p:pic>
        <p:nvPicPr>
          <p:cNvPr id="617" name="Google Shape;617;g38b89f731a7_2_45"/>
          <p:cNvPicPr preferRelativeResize="0"/>
          <p:nvPr/>
        </p:nvPicPr>
        <p:blipFill>
          <a:blip r:embed="rId4">
            <a:alphaModFix/>
          </a:blip>
          <a:stretch>
            <a:fillRect/>
          </a:stretch>
        </p:blipFill>
        <p:spPr>
          <a:xfrm>
            <a:off x="10424700" y="2918600"/>
            <a:ext cx="1940525" cy="23926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pic>
        <p:nvPicPr>
          <p:cNvPr id="623" name="Google Shape;623;g38b89f731a7_2_52"/>
          <p:cNvPicPr preferRelativeResize="0"/>
          <p:nvPr/>
        </p:nvPicPr>
        <p:blipFill>
          <a:blip r:embed="rId3">
            <a:alphaModFix/>
          </a:blip>
          <a:stretch>
            <a:fillRect/>
          </a:stretch>
        </p:blipFill>
        <p:spPr>
          <a:xfrm>
            <a:off x="950650" y="0"/>
            <a:ext cx="10290690" cy="6858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g38b89f731a7_2_5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pl-PL"/>
              <a:t>Label &amp; Ordinal Encoding</a:t>
            </a:r>
            <a:endParaRPr/>
          </a:p>
        </p:txBody>
      </p:sp>
      <p:pic>
        <p:nvPicPr>
          <p:cNvPr id="630" name="Google Shape;630;g38b89f731a7_2_59"/>
          <p:cNvPicPr preferRelativeResize="0"/>
          <p:nvPr/>
        </p:nvPicPr>
        <p:blipFill>
          <a:blip r:embed="rId3">
            <a:alphaModFix/>
          </a:blip>
          <a:stretch>
            <a:fillRect/>
          </a:stretch>
        </p:blipFill>
        <p:spPr>
          <a:xfrm>
            <a:off x="415375" y="1473925"/>
            <a:ext cx="7463075" cy="5142324"/>
          </a:xfrm>
          <a:prstGeom prst="rect">
            <a:avLst/>
          </a:prstGeom>
          <a:noFill/>
          <a:ln>
            <a:noFill/>
          </a:ln>
        </p:spPr>
      </p:pic>
      <p:pic>
        <p:nvPicPr>
          <p:cNvPr id="631" name="Google Shape;631;g38b89f731a7_2_59"/>
          <p:cNvPicPr preferRelativeResize="0"/>
          <p:nvPr/>
        </p:nvPicPr>
        <p:blipFill>
          <a:blip r:embed="rId4">
            <a:alphaModFix/>
          </a:blip>
          <a:stretch>
            <a:fillRect/>
          </a:stretch>
        </p:blipFill>
        <p:spPr>
          <a:xfrm>
            <a:off x="8080800" y="3561488"/>
            <a:ext cx="4008750" cy="196655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g38b89f731a7_2_6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pl-PL"/>
              <a:t>Skalowanie danych numerycznych</a:t>
            </a:r>
            <a:endParaRPr/>
          </a:p>
        </p:txBody>
      </p:sp>
      <p:pic>
        <p:nvPicPr>
          <p:cNvPr id="638" name="Google Shape;638;g38b89f731a7_2_67"/>
          <p:cNvPicPr preferRelativeResize="0"/>
          <p:nvPr/>
        </p:nvPicPr>
        <p:blipFill>
          <a:blip r:embed="rId3">
            <a:alphaModFix/>
          </a:blip>
          <a:stretch>
            <a:fillRect/>
          </a:stretch>
        </p:blipFill>
        <p:spPr>
          <a:xfrm>
            <a:off x="2086252" y="1574225"/>
            <a:ext cx="7609702" cy="48788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pic>
        <p:nvPicPr>
          <p:cNvPr id="644" name="Google Shape;644;g38b89f731a7_0_57"/>
          <p:cNvPicPr preferRelativeResize="0"/>
          <p:nvPr/>
        </p:nvPicPr>
        <p:blipFill>
          <a:blip r:embed="rId3">
            <a:alphaModFix/>
          </a:blip>
          <a:stretch>
            <a:fillRect/>
          </a:stretch>
        </p:blipFill>
        <p:spPr>
          <a:xfrm>
            <a:off x="2276825" y="-1"/>
            <a:ext cx="6705603" cy="670560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pic>
        <p:nvPicPr>
          <p:cNvPr id="650" name="Google Shape;650;g38b89f731a7_0_76"/>
          <p:cNvPicPr preferRelativeResize="0"/>
          <p:nvPr/>
        </p:nvPicPr>
        <p:blipFill>
          <a:blip r:embed="rId3">
            <a:alphaModFix/>
          </a:blip>
          <a:stretch>
            <a:fillRect/>
          </a:stretch>
        </p:blipFill>
        <p:spPr>
          <a:xfrm>
            <a:off x="2276850" y="-1"/>
            <a:ext cx="6705603" cy="6705603"/>
          </a:xfrm>
          <a:prstGeom prst="rect">
            <a:avLst/>
          </a:prstGeom>
          <a:noFill/>
          <a:ln>
            <a:noFill/>
          </a:ln>
        </p:spPr>
      </p:pic>
      <p:pic>
        <p:nvPicPr>
          <p:cNvPr id="651" name="Google Shape;651;g38b89f731a7_0_76"/>
          <p:cNvPicPr preferRelativeResize="0"/>
          <p:nvPr/>
        </p:nvPicPr>
        <p:blipFill>
          <a:blip r:embed="rId4">
            <a:alphaModFix/>
          </a:blip>
          <a:stretch>
            <a:fillRect/>
          </a:stretch>
        </p:blipFill>
        <p:spPr>
          <a:xfrm>
            <a:off x="9532970" y="2386476"/>
            <a:ext cx="2066100" cy="25475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g38b89f731a7_0_4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658" name="Google Shape;658;g38b89f731a7_0_43"/>
          <p:cNvPicPr preferRelativeResize="0"/>
          <p:nvPr/>
        </p:nvPicPr>
        <p:blipFill>
          <a:blip r:embed="rId3">
            <a:alphaModFix/>
          </a:blip>
          <a:stretch>
            <a:fillRect/>
          </a:stretch>
        </p:blipFill>
        <p:spPr>
          <a:xfrm>
            <a:off x="0" y="9521"/>
            <a:ext cx="12192000" cy="6848479"/>
          </a:xfrm>
          <a:prstGeom prst="rect">
            <a:avLst/>
          </a:prstGeom>
          <a:noFill/>
          <a:ln>
            <a:noFill/>
          </a:ln>
        </p:spPr>
      </p:pic>
      <p:sp>
        <p:nvSpPr>
          <p:cNvPr id="2" name="pole tekstowe 1">
            <a:extLst>
              <a:ext uri="{FF2B5EF4-FFF2-40B4-BE49-F238E27FC236}">
                <a16:creationId xmlns:a16="http://schemas.microsoft.com/office/drawing/2014/main" id="{6184C081-FF9B-495C-D435-E4E8A0DE3BBF}"/>
              </a:ext>
            </a:extLst>
          </p:cNvPr>
          <p:cNvSpPr txBox="1"/>
          <p:nvPr/>
        </p:nvSpPr>
        <p:spPr>
          <a:xfrm>
            <a:off x="1161288" y="2328672"/>
            <a:ext cx="1835759" cy="523220"/>
          </a:xfrm>
          <a:prstGeom prst="rect">
            <a:avLst/>
          </a:prstGeom>
          <a:noFill/>
        </p:spPr>
        <p:txBody>
          <a:bodyPr wrap="none" rtlCol="0">
            <a:spAutoFit/>
          </a:bodyPr>
          <a:lstStyle/>
          <a:p>
            <a:pPr marL="285750" indent="-285750">
              <a:buFontTx/>
              <a:buChar char="-"/>
            </a:pPr>
            <a:r>
              <a:rPr lang="pl-PL" dirty="0"/>
              <a:t>rozkład normalny</a:t>
            </a:r>
          </a:p>
          <a:p>
            <a:pPr marL="285750" indent="-285750">
              <a:buFontTx/>
              <a:buChar char="-"/>
            </a:pPr>
            <a:r>
              <a:rPr lang="pl-PL" dirty="0"/>
              <a:t>brak </a:t>
            </a:r>
            <a:r>
              <a:rPr lang="pl-PL" dirty="0" err="1"/>
              <a:t>outlierów</a:t>
            </a:r>
            <a:endParaRPr lang="pl-PL" dirty="0"/>
          </a:p>
        </p:txBody>
      </p:sp>
      <p:sp>
        <p:nvSpPr>
          <p:cNvPr id="4" name="pole tekstowe 3">
            <a:extLst>
              <a:ext uri="{FF2B5EF4-FFF2-40B4-BE49-F238E27FC236}">
                <a16:creationId xmlns:a16="http://schemas.microsoft.com/office/drawing/2014/main" id="{EC98E73E-6F47-FF03-1998-4BF7ADA58B3B}"/>
              </a:ext>
            </a:extLst>
          </p:cNvPr>
          <p:cNvSpPr txBox="1"/>
          <p:nvPr/>
        </p:nvSpPr>
        <p:spPr>
          <a:xfrm>
            <a:off x="9053882" y="2310384"/>
            <a:ext cx="2074607" cy="523220"/>
          </a:xfrm>
          <a:prstGeom prst="rect">
            <a:avLst/>
          </a:prstGeom>
          <a:noFill/>
        </p:spPr>
        <p:txBody>
          <a:bodyPr wrap="none" rtlCol="0">
            <a:spAutoFit/>
          </a:bodyPr>
          <a:lstStyle/>
          <a:p>
            <a:pPr marL="285750" indent="-285750">
              <a:buFontTx/>
              <a:buChar char="-"/>
            </a:pPr>
            <a:r>
              <a:rPr lang="pl-PL" dirty="0"/>
              <a:t>rozkład nienormalny</a:t>
            </a:r>
          </a:p>
          <a:p>
            <a:pPr marL="285750" indent="-285750">
              <a:buFontTx/>
              <a:buChar char="-"/>
            </a:pPr>
            <a:r>
              <a:rPr lang="pl-PL" dirty="0"/>
              <a:t>obecność </a:t>
            </a:r>
            <a:r>
              <a:rPr lang="pl-PL" dirty="0" err="1"/>
              <a:t>outlierów</a:t>
            </a:r>
            <a:endParaRPr lang="pl-PL" dirty="0"/>
          </a:p>
        </p:txBody>
      </p:sp>
      <p:sp>
        <p:nvSpPr>
          <p:cNvPr id="6" name="pole tekstowe 5">
            <a:extLst>
              <a:ext uri="{FF2B5EF4-FFF2-40B4-BE49-F238E27FC236}">
                <a16:creationId xmlns:a16="http://schemas.microsoft.com/office/drawing/2014/main" id="{85B11B4D-71AD-E417-13D5-3168F2953458}"/>
              </a:ext>
            </a:extLst>
          </p:cNvPr>
          <p:cNvSpPr txBox="1"/>
          <p:nvPr/>
        </p:nvSpPr>
        <p:spPr>
          <a:xfrm>
            <a:off x="4946041" y="2310384"/>
            <a:ext cx="2074607" cy="523220"/>
          </a:xfrm>
          <a:prstGeom prst="rect">
            <a:avLst/>
          </a:prstGeom>
          <a:noFill/>
        </p:spPr>
        <p:txBody>
          <a:bodyPr wrap="none" rtlCol="0">
            <a:spAutoFit/>
          </a:bodyPr>
          <a:lstStyle/>
          <a:p>
            <a:pPr marL="285750" indent="-285750">
              <a:buFontTx/>
              <a:buChar char="-"/>
            </a:pPr>
            <a:r>
              <a:rPr lang="pl-PL" dirty="0"/>
              <a:t>rozkład nienormalny</a:t>
            </a:r>
          </a:p>
          <a:p>
            <a:pPr marL="285750" indent="-285750">
              <a:buFontTx/>
              <a:buChar char="-"/>
            </a:pPr>
            <a:r>
              <a:rPr lang="pl-PL" dirty="0"/>
              <a:t>brak </a:t>
            </a:r>
            <a:r>
              <a:rPr lang="pl-PL" dirty="0" err="1"/>
              <a:t>outlierów</a:t>
            </a:r>
            <a:endParaRPr lang="pl-PL"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pic>
        <p:nvPicPr>
          <p:cNvPr id="664" name="Google Shape;664;g38b89f731a7_0_90"/>
          <p:cNvPicPr preferRelativeResize="0"/>
          <p:nvPr/>
        </p:nvPicPr>
        <p:blipFill>
          <a:blip r:embed="rId3">
            <a:alphaModFix/>
          </a:blip>
          <a:stretch>
            <a:fillRect/>
          </a:stretch>
        </p:blipFill>
        <p:spPr>
          <a:xfrm>
            <a:off x="102450" y="0"/>
            <a:ext cx="6553201" cy="6553201"/>
          </a:xfrm>
          <a:prstGeom prst="rect">
            <a:avLst/>
          </a:prstGeom>
          <a:noFill/>
          <a:ln>
            <a:noFill/>
          </a:ln>
        </p:spPr>
      </p:pic>
      <p:pic>
        <p:nvPicPr>
          <p:cNvPr id="665" name="Google Shape;665;g38b89f731a7_0_90"/>
          <p:cNvPicPr preferRelativeResize="0"/>
          <p:nvPr/>
        </p:nvPicPr>
        <p:blipFill>
          <a:blip r:embed="rId4">
            <a:alphaModFix/>
          </a:blip>
          <a:stretch>
            <a:fillRect/>
          </a:stretch>
        </p:blipFill>
        <p:spPr>
          <a:xfrm>
            <a:off x="6303723" y="236461"/>
            <a:ext cx="5710978" cy="60802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Google Shape;671;g38b89f731a7_0_82"/>
          <p:cNvPicPr preferRelativeResize="0"/>
          <p:nvPr/>
        </p:nvPicPr>
        <p:blipFill>
          <a:blip r:embed="rId3">
            <a:alphaModFix/>
          </a:blip>
          <a:stretch>
            <a:fillRect/>
          </a:stretch>
        </p:blipFill>
        <p:spPr>
          <a:xfrm>
            <a:off x="0" y="316475"/>
            <a:ext cx="6016650" cy="6016650"/>
          </a:xfrm>
          <a:prstGeom prst="rect">
            <a:avLst/>
          </a:prstGeom>
          <a:noFill/>
          <a:ln>
            <a:noFill/>
          </a:ln>
        </p:spPr>
      </p:pic>
      <p:pic>
        <p:nvPicPr>
          <p:cNvPr id="672" name="Google Shape;672;g38b89f731a7_0_82"/>
          <p:cNvPicPr preferRelativeResize="0"/>
          <p:nvPr/>
        </p:nvPicPr>
        <p:blipFill>
          <a:blip r:embed="rId4">
            <a:alphaModFix/>
          </a:blip>
          <a:stretch>
            <a:fillRect/>
          </a:stretch>
        </p:blipFill>
        <p:spPr>
          <a:xfrm>
            <a:off x="6175350" y="316475"/>
            <a:ext cx="6016650" cy="60166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pic>
        <p:nvPicPr>
          <p:cNvPr id="678" name="Google Shape;678;g38b89f731a7_0_69"/>
          <p:cNvPicPr preferRelativeResize="0"/>
          <p:nvPr/>
        </p:nvPicPr>
        <p:blipFill>
          <a:blip r:embed="rId3">
            <a:alphaModFix/>
          </a:blip>
          <a:stretch>
            <a:fillRect/>
          </a:stretch>
        </p:blipFill>
        <p:spPr>
          <a:xfrm>
            <a:off x="0" y="381012"/>
            <a:ext cx="12192000" cy="609598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pic>
        <p:nvPicPr>
          <p:cNvPr id="684" name="Google Shape;684;g3f61d2940f9_1_6"/>
          <p:cNvPicPr preferRelativeResize="0"/>
          <p:nvPr/>
        </p:nvPicPr>
        <p:blipFill>
          <a:blip r:embed="rId3">
            <a:alphaModFix/>
          </a:blip>
          <a:stretch>
            <a:fillRect/>
          </a:stretch>
        </p:blipFill>
        <p:spPr>
          <a:xfrm>
            <a:off x="0" y="1395112"/>
            <a:ext cx="12192001" cy="406776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pic>
        <p:nvPicPr>
          <p:cNvPr id="690" name="Google Shape;690;g38b89f731a7_1_1"/>
          <p:cNvPicPr preferRelativeResize="0"/>
          <p:nvPr/>
        </p:nvPicPr>
        <p:blipFill>
          <a:blip r:embed="rId3">
            <a:alphaModFix/>
          </a:blip>
          <a:stretch>
            <a:fillRect/>
          </a:stretch>
        </p:blipFill>
        <p:spPr>
          <a:xfrm>
            <a:off x="0" y="671750"/>
            <a:ext cx="10022824" cy="5514500"/>
          </a:xfrm>
          <a:prstGeom prst="rect">
            <a:avLst/>
          </a:prstGeom>
          <a:noFill/>
          <a:ln>
            <a:noFill/>
          </a:ln>
        </p:spPr>
      </p:pic>
      <p:pic>
        <p:nvPicPr>
          <p:cNvPr id="691" name="Google Shape;691;g38b89f731a7_1_1"/>
          <p:cNvPicPr preferRelativeResize="0"/>
          <p:nvPr/>
        </p:nvPicPr>
        <p:blipFill>
          <a:blip r:embed="rId4">
            <a:alphaModFix/>
          </a:blip>
          <a:stretch>
            <a:fillRect/>
          </a:stretch>
        </p:blipFill>
        <p:spPr>
          <a:xfrm>
            <a:off x="9932695" y="1986751"/>
            <a:ext cx="2066100" cy="2547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pic>
        <p:nvPicPr>
          <p:cNvPr id="697" name="Google Shape;697;g3f61d2940f9_1_14"/>
          <p:cNvPicPr preferRelativeResize="0"/>
          <p:nvPr/>
        </p:nvPicPr>
        <p:blipFill>
          <a:blip r:embed="rId3">
            <a:alphaModFix/>
          </a:blip>
          <a:stretch>
            <a:fillRect/>
          </a:stretch>
        </p:blipFill>
        <p:spPr>
          <a:xfrm>
            <a:off x="318300" y="0"/>
            <a:ext cx="11791950" cy="4476750"/>
          </a:xfrm>
          <a:prstGeom prst="rect">
            <a:avLst/>
          </a:prstGeom>
          <a:noFill/>
          <a:ln>
            <a:noFill/>
          </a:ln>
        </p:spPr>
      </p:pic>
      <p:pic>
        <p:nvPicPr>
          <p:cNvPr id="698" name="Google Shape;698;g3f61d2940f9_1_14"/>
          <p:cNvPicPr preferRelativeResize="0"/>
          <p:nvPr/>
        </p:nvPicPr>
        <p:blipFill>
          <a:blip r:embed="rId4">
            <a:alphaModFix/>
          </a:blip>
          <a:stretch>
            <a:fillRect/>
          </a:stretch>
        </p:blipFill>
        <p:spPr>
          <a:xfrm>
            <a:off x="5184462" y="4476750"/>
            <a:ext cx="2059625" cy="25395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g38b89f731a7_1_1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pl-PL"/>
              <a:t>Log &amp; power transformations</a:t>
            </a:r>
            <a:endParaRPr/>
          </a:p>
        </p:txBody>
      </p:sp>
      <p:pic>
        <p:nvPicPr>
          <p:cNvPr id="705" name="Google Shape;705;g38b89f731a7_1_16"/>
          <p:cNvPicPr preferRelativeResize="0"/>
          <p:nvPr/>
        </p:nvPicPr>
        <p:blipFill>
          <a:blip r:embed="rId3">
            <a:alphaModFix/>
          </a:blip>
          <a:stretch>
            <a:fillRect/>
          </a:stretch>
        </p:blipFill>
        <p:spPr>
          <a:xfrm>
            <a:off x="5318825" y="1576725"/>
            <a:ext cx="6624650" cy="50895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pic>
        <p:nvPicPr>
          <p:cNvPr id="711" name="Google Shape;711;g38b89f731a7_1_9"/>
          <p:cNvPicPr preferRelativeResize="0"/>
          <p:nvPr/>
        </p:nvPicPr>
        <p:blipFill rotWithShape="1">
          <a:blip r:embed="rId3">
            <a:alphaModFix/>
          </a:blip>
          <a:srcRect l="-860" r="860"/>
          <a:stretch/>
        </p:blipFill>
        <p:spPr>
          <a:xfrm>
            <a:off x="1349517" y="0"/>
            <a:ext cx="9659566" cy="68580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pic>
        <p:nvPicPr>
          <p:cNvPr id="717" name="Google Shape;717;g38b89f731a7_2_1"/>
          <p:cNvPicPr preferRelativeResize="0"/>
          <p:nvPr/>
        </p:nvPicPr>
        <p:blipFill>
          <a:blip r:embed="rId3">
            <a:alphaModFix/>
          </a:blip>
          <a:stretch>
            <a:fillRect/>
          </a:stretch>
        </p:blipFill>
        <p:spPr>
          <a:xfrm>
            <a:off x="45500" y="1151725"/>
            <a:ext cx="12101001" cy="41320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pic>
        <p:nvPicPr>
          <p:cNvPr id="723" name="Google Shape;723;g38b89f731a7_0_50"/>
          <p:cNvPicPr preferRelativeResize="0"/>
          <p:nvPr/>
        </p:nvPicPr>
        <p:blipFill>
          <a:blip r:embed="rId3">
            <a:alphaModFix/>
          </a:blip>
          <a:stretch>
            <a:fillRect/>
          </a:stretch>
        </p:blipFill>
        <p:spPr>
          <a:xfrm>
            <a:off x="2719375" y="52375"/>
            <a:ext cx="6753249" cy="675324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pic>
        <p:nvPicPr>
          <p:cNvPr id="729" name="Google Shape;729;g38b89f731a7_2_13"/>
          <p:cNvPicPr preferRelativeResize="0"/>
          <p:nvPr/>
        </p:nvPicPr>
        <p:blipFill>
          <a:blip r:embed="rId3">
            <a:alphaModFix/>
          </a:blip>
          <a:stretch>
            <a:fillRect/>
          </a:stretch>
        </p:blipFill>
        <p:spPr>
          <a:xfrm>
            <a:off x="637597" y="0"/>
            <a:ext cx="11216666" cy="68580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pl-PL"/>
              <a:t>To my : ))</a:t>
            </a:r>
            <a:endParaRPr/>
          </a:p>
        </p:txBody>
      </p:sp>
      <p:sp>
        <p:nvSpPr>
          <p:cNvPr id="735" name="Google Shape;735;p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l-PL"/>
              <a:t>Grzegorz Wiącek- 280013@student.pwr.edu.pl</a:t>
            </a:r>
            <a:endParaRPr/>
          </a:p>
          <a:p>
            <a:pPr marL="228600" lvl="0" indent="-228600" algn="l" rtl="0">
              <a:lnSpc>
                <a:spcPct val="90000"/>
              </a:lnSpc>
              <a:spcBef>
                <a:spcPts val="1000"/>
              </a:spcBef>
              <a:spcAft>
                <a:spcPts val="0"/>
              </a:spcAft>
              <a:buClr>
                <a:schemeClr val="dk1"/>
              </a:buClr>
              <a:buSzPts val="2800"/>
              <a:buChar char="•"/>
            </a:pPr>
            <a:r>
              <a:rPr lang="pl-PL"/>
              <a:t>Julia Słowińska –  268313@student.pwr.edu.pl</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736" name="Google Shape;736;p48"/>
          <p:cNvSpPr txBox="1"/>
          <p:nvPr/>
        </p:nvSpPr>
        <p:spPr>
          <a:xfrm>
            <a:off x="838200" y="5807631"/>
            <a:ext cx="35646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800">
                <a:solidFill>
                  <a:schemeClr val="dk1"/>
                </a:solidFill>
                <a:latin typeface="Arial"/>
                <a:ea typeface="Arial"/>
                <a:cs typeface="Arial"/>
                <a:sym typeface="Arial"/>
              </a:rPr>
              <a:t>I oczywiście pv na discordzie</a:t>
            </a:r>
            <a:endParaRPr sz="1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2210</Words>
  <Application>Microsoft Office PowerPoint</Application>
  <PresentationFormat>Panoramiczny</PresentationFormat>
  <Paragraphs>530</Paragraphs>
  <Slides>60</Slides>
  <Notes>60</Notes>
  <HiddenSlides>0</HiddenSlides>
  <MMClips>0</MMClips>
  <ScaleCrop>false</ScaleCrop>
  <HeadingPairs>
    <vt:vector size="6" baseType="variant">
      <vt:variant>
        <vt:lpstr>Używane czcionki</vt:lpstr>
      </vt:variant>
      <vt:variant>
        <vt:i4>4</vt:i4>
      </vt:variant>
      <vt:variant>
        <vt:lpstr>Motyw</vt:lpstr>
      </vt:variant>
      <vt:variant>
        <vt:i4>3</vt:i4>
      </vt:variant>
      <vt:variant>
        <vt:lpstr>Tytuły slajdów</vt:lpstr>
      </vt:variant>
      <vt:variant>
        <vt:i4>60</vt:i4>
      </vt:variant>
    </vt:vector>
  </HeadingPairs>
  <TitlesOfParts>
    <vt:vector size="67" baseType="lpstr">
      <vt:lpstr>Play</vt:lpstr>
      <vt:lpstr>Consolas</vt:lpstr>
      <vt:lpstr>Amatic SC</vt:lpstr>
      <vt:lpstr>Arial</vt:lpstr>
      <vt:lpstr>Simple Light</vt:lpstr>
      <vt:lpstr>Office Theme</vt:lpstr>
      <vt:lpstr>Simple Light</vt:lpstr>
      <vt:lpstr>Przetwarzanie i wizualizacja danych </vt:lpstr>
      <vt:lpstr>Prezentacja programu PowerPoint</vt:lpstr>
      <vt:lpstr>Tradycyjne programowanie</vt:lpstr>
      <vt:lpstr>Uczenie maszynowe</vt:lpstr>
      <vt:lpstr>A co to są dane?</vt:lpstr>
      <vt:lpstr>Modalności AI</vt:lpstr>
      <vt:lpstr>Modalności AI</vt:lpstr>
      <vt:lpstr>Prezentacja programu PowerPoint</vt:lpstr>
      <vt:lpstr>Prezentacja programu PowerPoint</vt:lpstr>
      <vt:lpstr>Prezentacja programu PowerPoint</vt:lpstr>
      <vt:lpstr>Prezentacja programu PowerPoint</vt:lpstr>
      <vt:lpstr>Prezentacja programu PowerPoint</vt:lpstr>
      <vt:lpstr>Ile danych potrzeba?</vt:lpstr>
      <vt:lpstr>Ile danych potrzeba?</vt:lpstr>
      <vt:lpstr>Prezentacja programu PowerPoint</vt:lpstr>
      <vt:lpstr>Eksploracyjna analiza danych – po co i na co?</vt:lpstr>
      <vt:lpstr>Praktyczny przykład</vt:lpstr>
      <vt:lpstr>Praktyczny przykład</vt:lpstr>
      <vt:lpstr>Praktyczny przykład</vt:lpstr>
      <vt:lpstr>Praktyczny przykład</vt:lpstr>
      <vt:lpstr>Praktyczny przykład</vt:lpstr>
      <vt:lpstr>Wizualizacja w danych</vt:lpstr>
      <vt:lpstr>Podział rozkładów danych</vt:lpstr>
      <vt:lpstr>Prezentacja programu PowerPoint</vt:lpstr>
      <vt:lpstr>Prezentacja programu PowerPoint</vt:lpstr>
      <vt:lpstr>Wartości odstające</vt:lpstr>
      <vt:lpstr>Prezentacja programu PowerPoint</vt:lpstr>
      <vt:lpstr>Co zrobić z outlierami?</vt:lpstr>
      <vt:lpstr>Uwaga! Niezbalansowane dane!</vt:lpstr>
      <vt:lpstr>Prezentacja programu PowerPoint</vt:lpstr>
      <vt:lpstr>Prezentacja programu PowerPoint</vt:lpstr>
      <vt:lpstr>Prezentacja programu PowerPoint</vt:lpstr>
      <vt:lpstr>Prezentacja programu PowerPoint</vt:lpstr>
      <vt:lpstr>Zmienna nie jest sama – czyli o zależnościach</vt:lpstr>
      <vt:lpstr>Prezentacja programu PowerPoint</vt:lpstr>
      <vt:lpstr>Prezentacja programu PowerPoint</vt:lpstr>
      <vt:lpstr>Przerwa </vt:lpstr>
      <vt:lpstr>Transformacje danych </vt:lpstr>
      <vt:lpstr>Enkodowanie danych kategorialnych</vt:lpstr>
      <vt:lpstr>Prezentacja programu PowerPoint</vt:lpstr>
      <vt:lpstr>Kodowanie gorąco jedynkowe xd</vt:lpstr>
      <vt:lpstr>Kodowanie gorąco jedynkowe xd</vt:lpstr>
      <vt:lpstr>Prezentacja programu PowerPoint</vt:lpstr>
      <vt:lpstr>Label &amp; Ordinal Encoding</vt:lpstr>
      <vt:lpstr>Skalowanie danych numerycznych</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Log &amp; power transformations</vt:lpstr>
      <vt:lpstr>Prezentacja programu PowerPoint</vt:lpstr>
      <vt:lpstr>Prezentacja programu PowerPoint</vt:lpstr>
      <vt:lpstr>Prezentacja programu PowerPoint</vt:lpstr>
      <vt:lpstr>Prezentacja programu PowerPoint</vt:lpstr>
      <vt:lpstr>To my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Julia .</dc:creator>
  <cp:lastModifiedBy>Bartosz Jaros (284249)</cp:lastModifiedBy>
  <cp:revision>4</cp:revision>
  <dcterms:created xsi:type="dcterms:W3CDTF">2025-07-29T19:50:53Z</dcterms:created>
  <dcterms:modified xsi:type="dcterms:W3CDTF">2026-08-11T19:46:07Z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0x010100CDE744D979DF94488EE6DD2FCC5A8D2E</vt:lpwstr>
  </property>
</Properties>
</file>