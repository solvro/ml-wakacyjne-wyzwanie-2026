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 Slab"/>
      <p:regular r:id="rId26"/>
      <p:bold r:id="rId27"/>
    </p:embeddedFont>
    <p:embeddedFont>
      <p:font typeface="Robo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Slab-regular.fntdata"/><Relationship Id="rId25" Type="http://schemas.openxmlformats.org/officeDocument/2006/relationships/slide" Target="slides/slide20.xml"/><Relationship Id="rId28" Type="http://schemas.openxmlformats.org/officeDocument/2006/relationships/font" Target="fonts/Roboto-regular.fntdata"/><Relationship Id="rId27" Type="http://schemas.openxmlformats.org/officeDocument/2006/relationships/font" Target="fonts/RobotoSlab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6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Google Shape;38;p8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8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pl">
                <a:latin typeface="Roboto"/>
                <a:ea typeface="Roboto"/>
                <a:cs typeface="Roboto"/>
                <a:sym typeface="Roboto"/>
              </a:rPr>
              <a:t>Model training with limited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l">
                <a:latin typeface="Roboto Slab"/>
                <a:ea typeface="Roboto Slab"/>
                <a:cs typeface="Roboto Slab"/>
                <a:sym typeface="Roboto Slab"/>
              </a:rPr>
              <a:t>Po co nam te modele? 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lang="pl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Najczęściej chcemy, żeby model rozwiązywał konkretny problem, np. rozpoznawał, czy na zdjęciu jest kot czy pies.</a:t>
            </a:r>
            <a:endParaRPr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lang="pl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 uczymy na pewnym zbiorze danych, ale później będzie pracował na nowych danych, których wcześniej nie widział.</a:t>
            </a:r>
            <a:endParaRPr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lang="pl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Dane z rzeczywistego świata mogą różnić się od tych treningowych, np. przez inne oświetlenie, kamerę, tło albo jakość obrazu.</a:t>
            </a:r>
            <a:endParaRPr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lang="pl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Dlatego nie chcemy, żeby model tylko zapamiętał dane treningowe — chcemy, żeby nauczył się ogólnej zależności =&gt; </a:t>
            </a:r>
            <a:r>
              <a:rPr b="1" lang="pl" sz="1200">
                <a:solidFill>
                  <a:srgbClr val="FFFFFF"/>
                </a:solidFill>
              </a:rPr>
              <a:t>generalizacja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l">
                <a:latin typeface="Roboto Slab"/>
                <a:ea typeface="Roboto Slab"/>
                <a:cs typeface="Roboto Slab"/>
                <a:sym typeface="Roboto Slab"/>
              </a:rPr>
              <a:t>Generalizacja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pl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Jest to zdolność modelu do poprawnego działania na nowych, niewidzianych wcześniej danych. W niektórych dziedzinach uzyskanie dobrej generalizacji jest trudne ze względu na dużą liczbę możliwych </a:t>
            </a:r>
            <a:r>
              <a:rPr b="1" lang="pl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domen</a:t>
            </a:r>
            <a:r>
              <a:rPr lang="pl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które model powinien uwzględnić.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15" title="Screenshot 2026-09-22 at 22.44.5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4338" y="2407821"/>
            <a:ext cx="5932334" cy="216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l">
                <a:latin typeface="Roboto Slab"/>
                <a:ea typeface="Roboto Slab"/>
                <a:cs typeface="Roboto Slab"/>
                <a:sym typeface="Roboto Slab"/>
              </a:rPr>
              <a:t>Czym mogą być domeny?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1489825"/>
            <a:ext cx="48654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Domena</a:t>
            </a: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to w uproszczeniu środowisko lub zbiór danych o określonych cechach. Dane z różnych domen mogą wyglądać inaczej, mimo że rozwiązujemy to samo zadanie.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Przykładowo, w wykrywaniu ataków prezentacyjnych na biometrię twarzy domeny mogą różnić się przez: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b="1"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urządzenie / kamerę</a:t>
            </a: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używaną do nagrania,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b="1"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warunki oświetleniowe i otoczenie</a:t>
            </a: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b="1"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charakterystykę osób</a:t>
            </a: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znajdujących się w zbiorze,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sposób przygotowania obrazu, np. </a:t>
            </a:r>
            <a:r>
              <a:rPr b="1"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kadrowanie, rozdzielczość, alignment</a:t>
            </a: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b="1"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rodzaj ataku</a:t>
            </a: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np. wydruk zdjęcia, ekran telefonu lub monitora.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Problem pojawia się wtedy, gdy model podczas treningu widzi tylko część możliwych domen, a później trafia na nową.</a:t>
            </a:r>
            <a:endParaRPr/>
          </a:p>
        </p:txBody>
      </p:sp>
      <p:pic>
        <p:nvPicPr>
          <p:cNvPr id="83" name="Google Shape;83;p16" title="Screenshot 2026-09-22 at 22.57.0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7225" y="1489825"/>
            <a:ext cx="3585898" cy="2489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l">
                <a:latin typeface="Roboto Slab"/>
                <a:ea typeface="Roboto Slab"/>
                <a:cs typeface="Roboto Slab"/>
                <a:sym typeface="Roboto Slab"/>
              </a:rPr>
              <a:t>Jak to ma się do danych?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">
                <a:latin typeface="Roboto"/>
                <a:ea typeface="Roboto"/>
                <a:cs typeface="Roboto"/>
                <a:sym typeface="Roboto"/>
              </a:rPr>
              <a:t>Nasze dane powinny być zróżnicowane i pochodzić z różnych domen, aby model lepiej radził sobie z nowymi warunkami. </a:t>
            </a:r>
            <a:r>
              <a:rPr b="1" lang="pl">
                <a:latin typeface="Roboto"/>
                <a:ea typeface="Roboto"/>
                <a:cs typeface="Roboto"/>
                <a:sym typeface="Roboto"/>
              </a:rPr>
              <a:t>Problem pojawia się wtedy, gdy niektóre klasy danych są trudne lub kosztowne do pozyskania. 💸💸💸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pl">
                <a:latin typeface="Roboto"/>
                <a:ea typeface="Roboto"/>
                <a:cs typeface="Roboto"/>
                <a:sym typeface="Roboto"/>
              </a:rPr>
              <a:t>W dalszych slajdach skupimy się głównie na zadaniu klasyfikacji.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l" sz="27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Jak radzić sobie z ograniczoną ilością danych?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502920" y="1463040"/>
            <a:ext cx="7589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800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  <a:t>Mamy trzy główne strategie:</a:t>
            </a:r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502920" y="2011680"/>
            <a:ext cx="2514600" cy="1737360"/>
          </a:xfrm>
          <a:prstGeom prst="roundRect">
            <a:avLst>
              <a:gd fmla="val 16667" name="adj"/>
            </a:avLst>
          </a:prstGeom>
          <a:solidFill>
            <a:srgbClr val="187C9C"/>
          </a:solidFill>
          <a:ln cap="flat" cmpd="sng" w="20300">
            <a:solidFill>
              <a:srgbClr val="70CF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649224" y="2157984"/>
            <a:ext cx="420624" cy="420624"/>
          </a:xfrm>
          <a:prstGeom prst="ellipse">
            <a:avLst/>
          </a:prstGeom>
          <a:solidFill>
            <a:srgbClr val="70CF9C"/>
          </a:solidFill>
          <a:ln cap="flat" cmpd="sng" w="9525">
            <a:solidFill>
              <a:srgbClr val="70CF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400" u="none" cap="none" strike="noStrike">
                <a:solidFill>
                  <a:srgbClr val="0B2E3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99" name="Google Shape;99;p18"/>
          <p:cNvSpPr txBox="1"/>
          <p:nvPr/>
        </p:nvSpPr>
        <p:spPr>
          <a:xfrm>
            <a:off x="667512" y="2615184"/>
            <a:ext cx="21854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Lepiej wykorzystać</a:t>
            </a:r>
            <a:br>
              <a:rPr b="1" i="0" lang="pl" sz="1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pl" sz="1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dane, które już mamy</a:t>
            </a:r>
            <a:endParaRPr/>
          </a:p>
        </p:txBody>
      </p:sp>
      <p:sp>
        <p:nvSpPr>
          <p:cNvPr id="100" name="Google Shape;100;p18"/>
          <p:cNvSpPr txBox="1"/>
          <p:nvPr/>
        </p:nvSpPr>
        <p:spPr>
          <a:xfrm>
            <a:off x="667512" y="3255264"/>
            <a:ext cx="21854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200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  <a:t>Weak supervision</a:t>
            </a:r>
            <a:br>
              <a:rPr b="0" i="0" lang="pl" sz="1200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pl" sz="1200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  <a:t>Semi-supervised learning</a:t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3264408" y="2011680"/>
            <a:ext cx="2514600" cy="1737360"/>
          </a:xfrm>
          <a:prstGeom prst="roundRect">
            <a:avLst>
              <a:gd fmla="val 16667" name="adj"/>
            </a:avLst>
          </a:prstGeom>
          <a:solidFill>
            <a:srgbClr val="187C9C"/>
          </a:solidFill>
          <a:ln cap="flat" cmpd="sng" w="20300">
            <a:solidFill>
              <a:srgbClr val="FFC7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3410712" y="2157984"/>
            <a:ext cx="420624" cy="420624"/>
          </a:xfrm>
          <a:prstGeom prst="ellipse">
            <a:avLst/>
          </a:prstGeom>
          <a:solidFill>
            <a:srgbClr val="FFC74F"/>
          </a:solidFill>
          <a:ln cap="flat" cmpd="sng" w="9525">
            <a:solidFill>
              <a:srgbClr val="FFC7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400" u="none" cap="none" strike="noStrike">
                <a:solidFill>
                  <a:srgbClr val="0B2E3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3429000" y="2615184"/>
            <a:ext cx="21854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Stworzyć</a:t>
            </a:r>
            <a:br>
              <a:rPr b="1" i="0" lang="pl" sz="1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pl" sz="1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brakujące dane</a:t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3429000" y="3255264"/>
            <a:ext cx="21854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200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  <a:t>Synthetic data</a:t>
            </a:r>
            <a:br>
              <a:rPr b="0" i="0" lang="pl" sz="1200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pl" sz="1200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  <a:t>Modele generatywne</a:t>
            </a:r>
            <a:endParaRPr/>
          </a:p>
        </p:txBody>
      </p:sp>
      <p:sp>
        <p:nvSpPr>
          <p:cNvPr id="105" name="Google Shape;105;p18"/>
          <p:cNvSpPr/>
          <p:nvPr/>
        </p:nvSpPr>
        <p:spPr>
          <a:xfrm>
            <a:off x="6025896" y="2011680"/>
            <a:ext cx="2514600" cy="1737360"/>
          </a:xfrm>
          <a:prstGeom prst="roundRect">
            <a:avLst>
              <a:gd fmla="val 16667" name="adj"/>
            </a:avLst>
          </a:prstGeom>
          <a:solidFill>
            <a:srgbClr val="187C9C"/>
          </a:solidFill>
          <a:ln cap="flat" cmpd="sng" w="20300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6172200" y="2157984"/>
            <a:ext cx="420624" cy="420624"/>
          </a:xfrm>
          <a:prstGeom prst="ellipse">
            <a:avLst/>
          </a:prstGeom>
          <a:solidFill>
            <a:srgbClr val="00B1EB"/>
          </a:solidFill>
          <a:ln cap="flat" cmpd="sng" w="9525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400" u="none" cap="none" strike="noStrike">
                <a:solidFill>
                  <a:srgbClr val="0B2E3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107" name="Google Shape;107;p18"/>
          <p:cNvSpPr txBox="1"/>
          <p:nvPr/>
        </p:nvSpPr>
        <p:spPr>
          <a:xfrm>
            <a:off x="6190488" y="2615184"/>
            <a:ext cx="21854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Zmienić sposób</a:t>
            </a:r>
            <a:br>
              <a:rPr b="1" i="0" lang="pl" sz="1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pl" sz="1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uczenia modelu</a:t>
            </a:r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6190488" y="3255264"/>
            <a:ext cx="21854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200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  <a:t>Domain generalization</a:t>
            </a:r>
            <a:br>
              <a:rPr b="0" i="0" lang="pl" sz="1200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pl" sz="1200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  <a:t>Lepsza optymalizacja</a:t>
            </a:r>
            <a:endParaRPr/>
          </a:p>
        </p:txBody>
      </p:sp>
      <p:cxnSp>
        <p:nvCxnSpPr>
          <p:cNvPr id="109" name="Google Shape;109;p18"/>
          <p:cNvCxnSpPr/>
          <p:nvPr/>
        </p:nvCxnSpPr>
        <p:spPr>
          <a:xfrm>
            <a:off x="3035808" y="2852928"/>
            <a:ext cx="182880" cy="0"/>
          </a:xfrm>
          <a:prstGeom prst="straightConnector1">
            <a:avLst/>
          </a:prstGeom>
          <a:noFill/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0" name="Google Shape;110;p18"/>
          <p:cNvCxnSpPr/>
          <p:nvPr/>
        </p:nvCxnSpPr>
        <p:spPr>
          <a:xfrm>
            <a:off x="5797296" y="2852928"/>
            <a:ext cx="182880" cy="0"/>
          </a:xfrm>
          <a:prstGeom prst="straightConnector1">
            <a:avLst/>
          </a:prstGeom>
          <a:noFill/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1" name="Google Shape;111;p18"/>
          <p:cNvSpPr txBox="1"/>
          <p:nvPr/>
        </p:nvSpPr>
        <p:spPr>
          <a:xfrm>
            <a:off x="822960" y="4096512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500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  <a:t>Cel jest ten sam: dobry wynik na danych, których model wcześniej nie widział.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l" sz="27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1. Lepsze wykorzystanie dostępnych danych</a:t>
            </a:r>
            <a:endParaRPr/>
          </a:p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387900" y="1489825"/>
            <a:ext cx="53463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92513"/>
              <a:buNone/>
            </a:pP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 klasycznym </a:t>
            </a:r>
            <a:r>
              <a:rPr b="1"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supervised learning</a:t>
            </a: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każdy przykład ma przygotowaną przez człowieka etykietę: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92513"/>
              <a:buNone/>
            </a:pPr>
            <a:r>
              <a:rPr b="1"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zdjęcie → pies</a:t>
            </a:r>
            <a:br>
              <a:rPr b="1" lang="pl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zdjęcie → kot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92513"/>
              <a:buNone/>
            </a:pP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Dlatego istnieją też inne podejścia: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Char char="●"/>
            </a:pPr>
            <a:r>
              <a:rPr b="1"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Weak supervision</a:t>
            </a: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- etykiety są tworzone za pomocą prostych reguł, heurystyk lub innych niedoskonałych źródeł.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Char char="●"/>
            </a:pPr>
            <a:r>
              <a:rPr b="1"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Semi-supervised learning</a:t>
            </a: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- mamy </a:t>
            </a:r>
            <a:r>
              <a:rPr b="1"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mało danych z etykietami</a:t>
            </a: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 dużo danych bez etykiet.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Char char="●"/>
            </a:pP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 obu przypadkach próbujemy wykorzystać dane, których człowiek nie musiał dokładnie opisywać ręcznie.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92513"/>
              <a:buNone/>
            </a:pP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 takich podejściach nie każdy przykład treningowy musi być ręcznie opisany przez człowieka!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7"/>
              <a:buNone/>
            </a:pPr>
            <a:r>
              <a:t/>
            </a:r>
            <a:endParaRPr/>
          </a:p>
        </p:txBody>
      </p:sp>
      <p:pic>
        <p:nvPicPr>
          <p:cNvPr id="118" name="Google Shape;118;p19" title="Screenshot 2026-09-22 at 23.18.0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9625" y="1383125"/>
            <a:ext cx="3105000" cy="3092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pl" sz="2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Weak supervision — przykład segmentacji</a:t>
            </a:r>
            <a:endParaRPr/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 zadaniach takich jak wykrywanie anomalii lub segmentacja zmian nowotworowych nie zawsze potrzebujemy dokładnej maski obszaru zmiany.</a:t>
            </a:r>
            <a:br>
              <a:rPr lang="pl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Zamiast tego możemy użyć słabszych adnotacji, takich jak: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pojedyncza kropka,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kilka punktów,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prosty szkic (</a:t>
            </a:r>
            <a:r>
              <a:rPr i="1"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scribble</a:t>
            </a: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),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bounding box,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25" name="Google Shape;125;p20" title="Screenshot 2026-09-22 at 23.20.3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850" y="2314750"/>
            <a:ext cx="6312627" cy="159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pl" sz="2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Weak supervision — przykład Face Anti-Spoofing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87900" y="1489825"/>
            <a:ext cx="45621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pl">
                <a:latin typeface="Roboto"/>
                <a:ea typeface="Roboto"/>
                <a:cs typeface="Roboto"/>
                <a:sym typeface="Roboto"/>
              </a:rPr>
              <a:t>W przypadku klasyfikacji ataków prezentacyjnych na biometrię twarzy możemy wykorzystać weak supervision oparte na typowych scenariuszach ataków. Przykładowo, w przypadku ataku z użyciem wydruku często wycinane są okolice oczu lub ust.</a:t>
            </a:r>
            <a:endParaRPr/>
          </a:p>
        </p:txBody>
      </p:sp>
      <p:pic>
        <p:nvPicPr>
          <p:cNvPr id="132" name="Google Shape;132;p21" title="Screenshot 2026-09-22 at 23.27.1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2818" y="1489825"/>
            <a:ext cx="3733276" cy="226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l">
                <a:latin typeface="Roboto Slab"/>
                <a:ea typeface="Roboto Slab"/>
                <a:cs typeface="Roboto Slab"/>
                <a:sym typeface="Roboto Slab"/>
              </a:rPr>
              <a:t>Semi-supervised learning w praktyce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87900" y="1489825"/>
            <a:ext cx="4033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l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 praktyce często zaczynamy od modelu wytrenowanego na niewielkiej liczbie danych z etykietami.</a:t>
            </a:r>
            <a:endParaRPr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l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Następnie wykorzystujemy ten model do przypisania </a:t>
            </a:r>
            <a:r>
              <a:rPr b="1" lang="pl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pseudo-etykiet</a:t>
            </a:r>
            <a:r>
              <a:rPr lang="pl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danym nieoznaczonym.</a:t>
            </a:r>
            <a:endParaRPr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pl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Tak powiększony zbiór treningowy pozwala dalej ulepszać model, a cały proces można wykonywać iteracyjnie.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22" title="Screenshot 2026-09-22 at 23.29.5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1100" y="1581825"/>
            <a:ext cx="4281450" cy="235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l" sz="25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2. Tworzenie brakujących danych — synthetic data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387900" y="1489825"/>
            <a:ext cx="4821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pl">
                <a:latin typeface="Roboto"/>
                <a:ea typeface="Roboto"/>
                <a:cs typeface="Roboto"/>
                <a:sym typeface="Roboto"/>
              </a:rPr>
              <a:t>Dane sztuczne możemy pozyskiwać na wiele sposobów, np. poprzez algorytmiczne wtapianie odpowiednich fragmentów w istniejące dane lub z wykorzystaniem modeli generatywnych.</a:t>
            </a:r>
            <a:endParaRPr/>
          </a:p>
        </p:txBody>
      </p:sp>
      <p:pic>
        <p:nvPicPr>
          <p:cNvPr id="146" name="Google Shape;146;p23" title="Screenshot 2026-09-22 at 23.38.5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8800" y="2298064"/>
            <a:ext cx="3487302" cy="146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pl" sz="2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Synthetic data w praktyce — generowanie anomalii</a:t>
            </a:r>
            <a:endParaRPr/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pl">
                <a:latin typeface="Roboto"/>
                <a:ea typeface="Roboto"/>
                <a:cs typeface="Roboto"/>
                <a:sym typeface="Roboto"/>
              </a:rPr>
              <a:t>Dla danych z obrazowania endoskopii kapsułkowej możemy próbować generować próbki klas mniejszościowych poprzez odpowiednie wtapianie anomalii w obrazy zdrowe z wykorzystaniem modelu inpaintingu wytrenowanego specjalnie na danych tego typu.</a:t>
            </a:r>
            <a:endParaRPr/>
          </a:p>
        </p:txBody>
      </p:sp>
      <p:pic>
        <p:nvPicPr>
          <p:cNvPr id="153" name="Google Shape;153;p24" title="Screenshot 2026-09-22 at 23.42.2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5675" y="3003625"/>
            <a:ext cx="6063300" cy="190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l" sz="30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Generowanie lokalne vs de novo</a:t>
            </a:r>
            <a:endParaRPr/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60" name="Google Shape;160;p25"/>
          <p:cNvSpPr/>
          <p:nvPr/>
        </p:nvSpPr>
        <p:spPr>
          <a:xfrm>
            <a:off x="502920" y="1417320"/>
            <a:ext cx="3794760" cy="2697480"/>
          </a:xfrm>
          <a:prstGeom prst="roundRect">
            <a:avLst>
              <a:gd fmla="val 16667" name="adj"/>
            </a:avLst>
          </a:prstGeom>
          <a:solidFill>
            <a:srgbClr val="187C9C"/>
          </a:solidFill>
          <a:ln cap="flat" cmpd="sng" w="15225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4526280" y="1417320"/>
            <a:ext cx="3931920" cy="2697480"/>
          </a:xfrm>
          <a:prstGeom prst="roundRect">
            <a:avLst>
              <a:gd fmla="val 16667" name="adj"/>
            </a:avLst>
          </a:prstGeom>
          <a:solidFill>
            <a:srgbClr val="187C9C"/>
          </a:solidFill>
          <a:ln cap="flat" cmpd="sng" w="15225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731520" y="155448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Generowanie de novo</a:t>
            </a:r>
            <a:endParaRPr/>
          </a:p>
        </p:txBody>
      </p:sp>
      <p:sp>
        <p:nvSpPr>
          <p:cNvPr id="163" name="Google Shape;163;p25"/>
          <p:cNvSpPr/>
          <p:nvPr/>
        </p:nvSpPr>
        <p:spPr>
          <a:xfrm>
            <a:off x="896112" y="2011680"/>
            <a:ext cx="1143000" cy="749808"/>
          </a:xfrm>
          <a:prstGeom prst="roundRect">
            <a:avLst>
              <a:gd fmla="val 16667" name="adj"/>
            </a:avLst>
          </a:prstGeom>
          <a:solidFill>
            <a:srgbClr val="DAF0F8"/>
          </a:solidFill>
          <a:ln cap="flat" cmpd="sng" w="12700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200" u="none" cap="none" strike="noStrike">
                <a:solidFill>
                  <a:srgbClr val="0B2E3F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br>
              <a:rPr b="1" i="0" lang="pl" sz="1200" u="none" cap="none" strike="noStrike">
                <a:solidFill>
                  <a:srgbClr val="0B2E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pl" sz="1200" u="none" cap="none" strike="noStrike">
                <a:solidFill>
                  <a:srgbClr val="0B2E3F"/>
                </a:solidFill>
                <a:latin typeface="Roboto"/>
                <a:ea typeface="Roboto"/>
                <a:cs typeface="Roboto"/>
                <a:sym typeface="Roboto"/>
              </a:rPr>
              <a:t>generatywny</a:t>
            </a:r>
            <a:endParaRPr sz="1000"/>
          </a:p>
        </p:txBody>
      </p:sp>
      <p:cxnSp>
        <p:nvCxnSpPr>
          <p:cNvPr id="164" name="Google Shape;164;p25"/>
          <p:cNvCxnSpPr/>
          <p:nvPr/>
        </p:nvCxnSpPr>
        <p:spPr>
          <a:xfrm>
            <a:off x="2176272" y="2377440"/>
            <a:ext cx="731520" cy="0"/>
          </a:xfrm>
          <a:prstGeom prst="straightConnector1">
            <a:avLst/>
          </a:prstGeom>
          <a:noFill/>
          <a:ln cap="flat" cmpd="sng" w="21575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5" name="Google Shape;165;p25"/>
          <p:cNvSpPr/>
          <p:nvPr/>
        </p:nvSpPr>
        <p:spPr>
          <a:xfrm>
            <a:off x="2944368" y="2029968"/>
            <a:ext cx="932688" cy="713232"/>
          </a:xfrm>
          <a:prstGeom prst="roundRect">
            <a:avLst>
              <a:gd fmla="val 16667" name="adj"/>
            </a:avLst>
          </a:prstGeom>
          <a:solidFill>
            <a:srgbClr val="DAF0F8"/>
          </a:solidFill>
          <a:ln cap="flat" cmpd="sng" w="12700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600" u="none" cap="none" strike="noStrike">
                <a:solidFill>
                  <a:srgbClr val="0B2E3F"/>
                </a:solidFill>
                <a:latin typeface="Roboto"/>
                <a:ea typeface="Roboto"/>
                <a:cs typeface="Roboto"/>
                <a:sym typeface="Roboto"/>
              </a:rPr>
              <a:t>Cały</a:t>
            </a:r>
            <a:br>
              <a:rPr b="1" i="0" lang="pl" sz="1600" u="none" cap="none" strike="noStrike">
                <a:solidFill>
                  <a:srgbClr val="0B2E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pl" sz="1600" u="none" cap="none" strike="noStrike">
                <a:solidFill>
                  <a:srgbClr val="0B2E3F"/>
                </a:solidFill>
                <a:latin typeface="Roboto"/>
                <a:ea typeface="Roboto"/>
                <a:cs typeface="Roboto"/>
                <a:sym typeface="Roboto"/>
              </a:rPr>
              <a:t>obraz</a:t>
            </a:r>
            <a:endParaRPr/>
          </a:p>
        </p:txBody>
      </p:sp>
      <p:sp>
        <p:nvSpPr>
          <p:cNvPr id="166" name="Google Shape;166;p25"/>
          <p:cNvSpPr txBox="1"/>
          <p:nvPr/>
        </p:nvSpPr>
        <p:spPr>
          <a:xfrm>
            <a:off x="877824" y="2889504"/>
            <a:ext cx="3017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120" u="none" cap="none" strike="noStrike">
                <a:solidFill>
                  <a:srgbClr val="CBE2EC"/>
                </a:solidFill>
                <a:latin typeface="Roboto"/>
                <a:ea typeface="Roboto"/>
                <a:cs typeface="Roboto"/>
                <a:sym typeface="Roboto"/>
              </a:rPr>
              <a:t>Cała próbka powstaje od zera.</a:t>
            </a:r>
            <a:endParaRPr/>
          </a:p>
        </p:txBody>
      </p:sp>
      <p:sp>
        <p:nvSpPr>
          <p:cNvPr id="167" name="Google Shape;167;p25"/>
          <p:cNvSpPr txBox="1"/>
          <p:nvPr/>
        </p:nvSpPr>
        <p:spPr>
          <a:xfrm>
            <a:off x="841248" y="3255264"/>
            <a:ext cx="1463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570" u="none" cap="none" strike="noStrike">
                <a:solidFill>
                  <a:srgbClr val="F67B7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68" name="Google Shape;168;p25"/>
          <p:cNvSpPr txBox="1"/>
          <p:nvPr/>
        </p:nvSpPr>
        <p:spPr>
          <a:xfrm>
            <a:off x="1005840" y="3255264"/>
            <a:ext cx="29900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27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cały obraz jest syntetyczny</a:t>
            </a:r>
            <a:endParaRPr/>
          </a:p>
        </p:txBody>
      </p:sp>
      <p:sp>
        <p:nvSpPr>
          <p:cNvPr id="169" name="Google Shape;169;p25"/>
          <p:cNvSpPr txBox="1"/>
          <p:nvPr/>
        </p:nvSpPr>
        <p:spPr>
          <a:xfrm>
            <a:off x="841248" y="3566160"/>
            <a:ext cx="1463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570" u="none" cap="none" strike="noStrike">
                <a:solidFill>
                  <a:srgbClr val="F67B7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70" name="Google Shape;170;p25"/>
          <p:cNvSpPr txBox="1"/>
          <p:nvPr/>
        </p:nvSpPr>
        <p:spPr>
          <a:xfrm>
            <a:off x="1005840" y="3566160"/>
            <a:ext cx="29900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27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globalne artefakty mogą stać się shortcutem</a:t>
            </a:r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4736592" y="155448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Generowanie lokalne</a:t>
            </a:r>
            <a:endParaRPr/>
          </a:p>
        </p:txBody>
      </p:sp>
      <p:pic>
        <p:nvPicPr>
          <p:cNvPr descr="image.png" id="172" name="Google Shape;17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4608" y="1847088"/>
            <a:ext cx="3246120" cy="136127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 txBox="1"/>
          <p:nvPr/>
        </p:nvSpPr>
        <p:spPr>
          <a:xfrm>
            <a:off x="4846320" y="3172968"/>
            <a:ext cx="3246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120" u="none" cap="none" strike="noStrike">
                <a:solidFill>
                  <a:srgbClr val="CBE2EC"/>
                </a:solidFill>
                <a:latin typeface="Roboto"/>
                <a:ea typeface="Roboto"/>
                <a:cs typeface="Roboto"/>
                <a:sym typeface="Roboto"/>
              </a:rPr>
              <a:t>prawdziwe tło + lokalnie dodana zmiana</a:t>
            </a:r>
            <a:endParaRPr/>
          </a:p>
        </p:txBody>
      </p:sp>
      <p:sp>
        <p:nvSpPr>
          <p:cNvPr id="174" name="Google Shape;174;p25"/>
          <p:cNvSpPr txBox="1"/>
          <p:nvPr/>
        </p:nvSpPr>
        <p:spPr>
          <a:xfrm>
            <a:off x="4773168" y="3456432"/>
            <a:ext cx="1463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570" u="none" cap="none" strike="noStrike">
                <a:solidFill>
                  <a:srgbClr val="6FCF9C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75" name="Google Shape;175;p25"/>
          <p:cNvSpPr txBox="1"/>
          <p:nvPr/>
        </p:nvSpPr>
        <p:spPr>
          <a:xfrm>
            <a:off x="4937759" y="3456432"/>
            <a:ext cx="31272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27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większość obrazu pozostaje prawdziwa</a:t>
            </a:r>
            <a:endParaRPr/>
          </a:p>
        </p:txBody>
      </p:sp>
      <p:sp>
        <p:nvSpPr>
          <p:cNvPr id="176" name="Google Shape;176;p25"/>
          <p:cNvSpPr txBox="1"/>
          <p:nvPr/>
        </p:nvSpPr>
        <p:spPr>
          <a:xfrm>
            <a:off x="4773168" y="3767328"/>
            <a:ext cx="1463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570" u="none" cap="none" strike="noStrike">
                <a:solidFill>
                  <a:srgbClr val="6FCF9C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77" name="Google Shape;177;p25"/>
          <p:cNvSpPr txBox="1"/>
          <p:nvPr/>
        </p:nvSpPr>
        <p:spPr>
          <a:xfrm>
            <a:off x="4937759" y="3767328"/>
            <a:ext cx="31272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27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syntetyzujemy tylko brakującą cechę / klasę</a:t>
            </a:r>
            <a:endParaRPr/>
          </a:p>
        </p:txBody>
      </p:sp>
      <p:sp>
        <p:nvSpPr>
          <p:cNvPr id="178" name="Google Shape;178;p25"/>
          <p:cNvSpPr txBox="1"/>
          <p:nvPr/>
        </p:nvSpPr>
        <p:spPr>
          <a:xfrm>
            <a:off x="749808" y="4151376"/>
            <a:ext cx="7635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150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  <a:t>Jeżeli brakuje nam lokalnej cechy, zwykle lepiej modyfikować fragment próbki niż generować cały obraz.</a:t>
            </a:r>
            <a:endParaRPr/>
          </a:p>
        </p:txBody>
      </p:sp>
      <p:sp>
        <p:nvSpPr>
          <p:cNvPr id="179" name="Google Shape;179;p25"/>
          <p:cNvSpPr txBox="1"/>
          <p:nvPr/>
        </p:nvSpPr>
        <p:spPr>
          <a:xfrm>
            <a:off x="4892040" y="4462272"/>
            <a:ext cx="3246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819" u="none" cap="none" strike="noStrike">
                <a:solidFill>
                  <a:srgbClr val="CBE2EC"/>
                </a:solidFill>
                <a:latin typeface="Roboto"/>
                <a:ea typeface="Roboto"/>
                <a:cs typeface="Roboto"/>
                <a:sym typeface="Roboto"/>
              </a:rPr>
              <a:t>Źródło: Chłopowiec et al., arXiv:2411.03098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l" sz="30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Pułapka synthetic data</a:t>
            </a:r>
            <a:endParaRPr/>
          </a:p>
        </p:txBody>
      </p:sp>
      <p:sp>
        <p:nvSpPr>
          <p:cNvPr id="185" name="Google Shape;185;p2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86" name="Google Shape;186;p26"/>
          <p:cNvSpPr/>
          <p:nvPr/>
        </p:nvSpPr>
        <p:spPr>
          <a:xfrm>
            <a:off x="502920" y="1417320"/>
            <a:ext cx="3703320" cy="2697480"/>
          </a:xfrm>
          <a:prstGeom prst="roundRect">
            <a:avLst>
              <a:gd fmla="val 16667" name="adj"/>
            </a:avLst>
          </a:prstGeom>
          <a:solidFill>
            <a:srgbClr val="187C9C"/>
          </a:solidFill>
          <a:ln cap="flat" cmpd="sng" w="15225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4526280" y="1417320"/>
            <a:ext cx="3931920" cy="2697480"/>
          </a:xfrm>
          <a:prstGeom prst="roundRect">
            <a:avLst>
              <a:gd fmla="val 16667" name="adj"/>
            </a:avLst>
          </a:prstGeom>
          <a:solidFill>
            <a:srgbClr val="187C9C"/>
          </a:solidFill>
          <a:ln cap="flat" cmpd="sng" w="15225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749808" y="1572768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Więcej ≠ zawsze lepiej</a:t>
            </a:r>
            <a:endParaRPr/>
          </a:p>
        </p:txBody>
      </p:sp>
      <p:cxnSp>
        <p:nvCxnSpPr>
          <p:cNvPr id="189" name="Google Shape;189;p26"/>
          <p:cNvCxnSpPr/>
          <p:nvPr/>
        </p:nvCxnSpPr>
        <p:spPr>
          <a:xfrm>
            <a:off x="1078992" y="2084831"/>
            <a:ext cx="0" cy="1645921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0" name="Google Shape;190;p26"/>
          <p:cNvCxnSpPr/>
          <p:nvPr/>
        </p:nvCxnSpPr>
        <p:spPr>
          <a:xfrm>
            <a:off x="1078992" y="3730752"/>
            <a:ext cx="2624328" cy="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1" name="Google Shape;191;p26"/>
          <p:cNvSpPr txBox="1"/>
          <p:nvPr/>
        </p:nvSpPr>
        <p:spPr>
          <a:xfrm rot="-5401524">
            <a:off x="564770" y="2320581"/>
            <a:ext cx="6768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080" u="none" cap="none" strike="noStrike">
                <a:solidFill>
                  <a:srgbClr val="CBE2EC"/>
                </a:solidFill>
                <a:latin typeface="Roboto"/>
                <a:ea typeface="Roboto"/>
                <a:cs typeface="Roboto"/>
                <a:sym typeface="Roboto"/>
              </a:rPr>
              <a:t>wynik</a:t>
            </a:r>
            <a:br>
              <a:rPr b="0" i="0" lang="pl" sz="1080" u="none" cap="none" strike="noStrike">
                <a:solidFill>
                  <a:srgbClr val="CBE2EC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pl" sz="1080" u="none" cap="none" strike="noStrike">
                <a:solidFill>
                  <a:srgbClr val="CBE2EC"/>
                </a:solidFill>
                <a:latin typeface="Roboto"/>
                <a:ea typeface="Roboto"/>
                <a:cs typeface="Roboto"/>
                <a:sym typeface="Roboto"/>
              </a:rPr>
              <a:t>modelu</a:t>
            </a:r>
            <a:endParaRPr/>
          </a:p>
        </p:txBody>
      </p:sp>
      <p:sp>
        <p:nvSpPr>
          <p:cNvPr id="192" name="Google Shape;192;p26"/>
          <p:cNvSpPr txBox="1"/>
          <p:nvPr/>
        </p:nvSpPr>
        <p:spPr>
          <a:xfrm>
            <a:off x="1938528" y="3739896"/>
            <a:ext cx="1783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010" u="none" cap="none" strike="noStrike">
                <a:solidFill>
                  <a:srgbClr val="CBE2EC"/>
                </a:solidFill>
                <a:latin typeface="Roboto"/>
                <a:ea typeface="Roboto"/>
                <a:cs typeface="Roboto"/>
                <a:sym typeface="Roboto"/>
              </a:rPr>
              <a:t>ilość danych syntetycznych</a:t>
            </a:r>
            <a:endParaRPr/>
          </a:p>
        </p:txBody>
      </p:sp>
      <p:cxnSp>
        <p:nvCxnSpPr>
          <p:cNvPr id="193" name="Google Shape;193;p26"/>
          <p:cNvCxnSpPr/>
          <p:nvPr/>
        </p:nvCxnSpPr>
        <p:spPr>
          <a:xfrm flipH="1" rot="10800000">
            <a:off x="1097280" y="3072384"/>
            <a:ext cx="329184" cy="438912"/>
          </a:xfrm>
          <a:prstGeom prst="straightConnector1">
            <a:avLst/>
          </a:prstGeom>
          <a:noFill/>
          <a:ln cap="flat" cmpd="sng" w="38100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4" name="Google Shape;194;p26"/>
          <p:cNvCxnSpPr/>
          <p:nvPr/>
        </p:nvCxnSpPr>
        <p:spPr>
          <a:xfrm flipH="1" rot="10800000">
            <a:off x="1426464" y="2578608"/>
            <a:ext cx="329184" cy="493776"/>
          </a:xfrm>
          <a:prstGeom prst="straightConnector1">
            <a:avLst/>
          </a:prstGeom>
          <a:noFill/>
          <a:ln cap="flat" cmpd="sng" w="38100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5" name="Google Shape;195;p26"/>
          <p:cNvCxnSpPr/>
          <p:nvPr/>
        </p:nvCxnSpPr>
        <p:spPr>
          <a:xfrm flipH="1" rot="10800000">
            <a:off x="1755648" y="2359152"/>
            <a:ext cx="347472" cy="219456"/>
          </a:xfrm>
          <a:prstGeom prst="straightConnector1">
            <a:avLst/>
          </a:prstGeom>
          <a:noFill/>
          <a:ln cap="flat" cmpd="sng" w="38100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6" name="Google Shape;196;p26"/>
          <p:cNvCxnSpPr/>
          <p:nvPr/>
        </p:nvCxnSpPr>
        <p:spPr>
          <a:xfrm flipH="1" rot="10800000">
            <a:off x="2103120" y="2331720"/>
            <a:ext cx="457200" cy="27432"/>
          </a:xfrm>
          <a:prstGeom prst="straightConnector1">
            <a:avLst/>
          </a:prstGeom>
          <a:noFill/>
          <a:ln cap="flat" cmpd="sng" w="38100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7" name="Google Shape;197;p26"/>
          <p:cNvCxnSpPr/>
          <p:nvPr/>
        </p:nvCxnSpPr>
        <p:spPr>
          <a:xfrm>
            <a:off x="2560320" y="2331720"/>
            <a:ext cx="347472" cy="155448"/>
          </a:xfrm>
          <a:prstGeom prst="straightConnector1">
            <a:avLst/>
          </a:prstGeom>
          <a:noFill/>
          <a:ln cap="flat" cmpd="sng" w="38100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8" name="Google Shape;198;p26"/>
          <p:cNvCxnSpPr/>
          <p:nvPr/>
        </p:nvCxnSpPr>
        <p:spPr>
          <a:xfrm>
            <a:off x="2907792" y="2487168"/>
            <a:ext cx="347472" cy="329184"/>
          </a:xfrm>
          <a:prstGeom prst="straightConnector1">
            <a:avLst/>
          </a:prstGeom>
          <a:noFill/>
          <a:ln cap="flat" cmpd="sng" w="38100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9" name="Google Shape;199;p26"/>
          <p:cNvCxnSpPr/>
          <p:nvPr/>
        </p:nvCxnSpPr>
        <p:spPr>
          <a:xfrm>
            <a:off x="3255264" y="2816352"/>
            <a:ext cx="402336" cy="429768"/>
          </a:xfrm>
          <a:prstGeom prst="straightConnector1">
            <a:avLst/>
          </a:prstGeom>
          <a:noFill/>
          <a:ln cap="flat" cmpd="sng" w="38100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0" name="Google Shape;200;p26"/>
          <p:cNvSpPr/>
          <p:nvPr/>
        </p:nvSpPr>
        <p:spPr>
          <a:xfrm>
            <a:off x="2505456" y="2276856"/>
            <a:ext cx="109728" cy="109728"/>
          </a:xfrm>
          <a:prstGeom prst="ellipse">
            <a:avLst/>
          </a:prstGeom>
          <a:solidFill>
            <a:srgbClr val="6FCF9C"/>
          </a:solidFill>
          <a:ln cap="flat" cmpd="sng" w="9525">
            <a:solidFill>
              <a:srgbClr val="6FCF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3200400" y="2761488"/>
            <a:ext cx="109728" cy="109728"/>
          </a:xfrm>
          <a:prstGeom prst="ellipse">
            <a:avLst/>
          </a:prstGeom>
          <a:solidFill>
            <a:srgbClr val="F67B7B"/>
          </a:solidFill>
          <a:ln cap="flat" cmpd="sng" w="9525">
            <a:solidFill>
              <a:srgbClr val="F67B7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 txBox="1"/>
          <p:nvPr/>
        </p:nvSpPr>
        <p:spPr>
          <a:xfrm>
            <a:off x="1993392" y="1847088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080" u="none" cap="none" strike="noStrike">
                <a:solidFill>
                  <a:srgbClr val="6FCF9C"/>
                </a:solidFill>
                <a:latin typeface="Roboto"/>
                <a:ea typeface="Roboto"/>
                <a:cs typeface="Roboto"/>
                <a:sym typeface="Roboto"/>
              </a:rPr>
              <a:t>najlepszy często</a:t>
            </a:r>
            <a:br>
              <a:rPr b="1" i="0" lang="pl" sz="1080" u="none" cap="none" strike="noStrike">
                <a:solidFill>
                  <a:srgbClr val="6FCF9C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pl" sz="1080" u="none" cap="none" strike="noStrike">
                <a:solidFill>
                  <a:srgbClr val="6FCF9C"/>
                </a:solidFill>
                <a:latin typeface="Roboto"/>
                <a:ea typeface="Roboto"/>
                <a:cs typeface="Roboto"/>
                <a:sym typeface="Roboto"/>
              </a:rPr>
              <a:t>mały / średni set</a:t>
            </a:r>
            <a:endParaRPr/>
          </a:p>
        </p:txBody>
      </p:sp>
      <p:sp>
        <p:nvSpPr>
          <p:cNvPr id="203" name="Google Shape;203;p26"/>
          <p:cNvSpPr txBox="1"/>
          <p:nvPr/>
        </p:nvSpPr>
        <p:spPr>
          <a:xfrm>
            <a:off x="2834640" y="2423160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070" u="none" cap="none" strike="noStrike">
                <a:solidFill>
                  <a:srgbClr val="F67B7B"/>
                </a:solidFill>
                <a:latin typeface="Roboto"/>
                <a:ea typeface="Roboto"/>
                <a:cs typeface="Roboto"/>
                <a:sym typeface="Roboto"/>
              </a:rPr>
              <a:t>za dużo /</a:t>
            </a:r>
            <a:br>
              <a:rPr b="1" i="0" lang="pl" sz="1070" u="none" cap="none" strike="noStrike">
                <a:solidFill>
                  <a:srgbClr val="F67B7B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pl" sz="1070" u="none" cap="none" strike="noStrike">
                <a:solidFill>
                  <a:srgbClr val="F67B7B"/>
                </a:solidFill>
                <a:latin typeface="Roboto"/>
                <a:ea typeface="Roboto"/>
                <a:cs typeface="Roboto"/>
                <a:sym typeface="Roboto"/>
              </a:rPr>
              <a:t>zbyt podobne</a:t>
            </a:r>
            <a:endParaRPr/>
          </a:p>
        </p:txBody>
      </p:sp>
      <p:sp>
        <p:nvSpPr>
          <p:cNvPr id="204" name="Google Shape;204;p26"/>
          <p:cNvSpPr txBox="1"/>
          <p:nvPr/>
        </p:nvSpPr>
        <p:spPr>
          <a:xfrm>
            <a:off x="4736592" y="1572768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Gdzie problem?</a:t>
            </a:r>
            <a:endParaRPr/>
          </a:p>
        </p:txBody>
      </p:sp>
      <p:sp>
        <p:nvSpPr>
          <p:cNvPr id="205" name="Google Shape;205;p26"/>
          <p:cNvSpPr txBox="1"/>
          <p:nvPr/>
        </p:nvSpPr>
        <p:spPr>
          <a:xfrm>
            <a:off x="4828032" y="2029968"/>
            <a:ext cx="3310128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5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Przy zbyt dużej ilości danych syntetycznych model może nauczyć się głównie artefaktów generatora, zamiast rzeczywistych cech danych.</a:t>
            </a:r>
            <a:endParaRPr/>
          </a:p>
        </p:txBody>
      </p:sp>
      <p:sp>
        <p:nvSpPr>
          <p:cNvPr id="206" name="Google Shape;206;p26"/>
          <p:cNvSpPr txBox="1"/>
          <p:nvPr/>
        </p:nvSpPr>
        <p:spPr>
          <a:xfrm>
            <a:off x="4892040" y="3401568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600" u="none" cap="none" strike="noStrike">
                <a:solidFill>
                  <a:srgbClr val="F67B7B"/>
                </a:solidFill>
                <a:latin typeface="Roboto"/>
                <a:ea typeface="Roboto"/>
                <a:cs typeface="Roboto"/>
                <a:sym typeface="Roboto"/>
              </a:rPr>
              <a:t>Uczymy się generatora, a nie problemu.</a:t>
            </a:r>
            <a:endParaRPr/>
          </a:p>
        </p:txBody>
      </p:sp>
      <p:sp>
        <p:nvSpPr>
          <p:cNvPr id="207" name="Google Shape;207;p26"/>
          <p:cNvSpPr txBox="1"/>
          <p:nvPr/>
        </p:nvSpPr>
        <p:spPr>
          <a:xfrm>
            <a:off x="749808" y="4151376"/>
            <a:ext cx="7635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150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  <a:t>Więcej danych syntetycznych nie gwarantuje lepszego modelu — liczy się jakość i brak shortcutów.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pl" sz="24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3. Lepsza generalizacja przez sposób optymalizacji</a:t>
            </a:r>
            <a:endParaRPr/>
          </a:p>
        </p:txBody>
      </p:sp>
      <p:sp>
        <p:nvSpPr>
          <p:cNvPr id="213" name="Google Shape;213;p27"/>
          <p:cNvSpPr txBox="1"/>
          <p:nvPr/>
        </p:nvSpPr>
        <p:spPr>
          <a:xfrm>
            <a:off x="566928" y="1463040"/>
            <a:ext cx="7498079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Jeżeli nie możemy dodać nowych domen do treningu, możemy poprawiać samą regułę optymalizacji.</a:t>
            </a:r>
            <a:endParaRPr/>
          </a:p>
        </p:txBody>
      </p:sp>
      <p:sp>
        <p:nvSpPr>
          <p:cNvPr id="214" name="Google Shape;214;p27"/>
          <p:cNvSpPr txBox="1"/>
          <p:nvPr/>
        </p:nvSpPr>
        <p:spPr>
          <a:xfrm>
            <a:off x="566928" y="1773936"/>
            <a:ext cx="749807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380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  <a:t>Dwa przykłady: SA-FAS (separability + alignment) oraz GAC-FAS (alignment gradientów).</a:t>
            </a:r>
            <a:endParaRPr/>
          </a:p>
        </p:txBody>
      </p:sp>
      <p:sp>
        <p:nvSpPr>
          <p:cNvPr id="215" name="Google Shape;215;p27"/>
          <p:cNvSpPr/>
          <p:nvPr/>
        </p:nvSpPr>
        <p:spPr>
          <a:xfrm>
            <a:off x="749808" y="2240280"/>
            <a:ext cx="3566160" cy="1664208"/>
          </a:xfrm>
          <a:prstGeom prst="roundRect">
            <a:avLst>
              <a:gd fmla="val 16667" name="adj"/>
            </a:avLst>
          </a:prstGeom>
          <a:solidFill>
            <a:srgbClr val="157494"/>
          </a:solidFill>
          <a:ln cap="flat" cmpd="sng" w="15225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7"/>
          <p:cNvSpPr txBox="1"/>
          <p:nvPr/>
        </p:nvSpPr>
        <p:spPr>
          <a:xfrm>
            <a:off x="914400" y="237744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SA-FAS</a:t>
            </a:r>
            <a:endParaRPr/>
          </a:p>
        </p:txBody>
      </p:sp>
      <p:pic>
        <p:nvPicPr>
          <p:cNvPr descr="image.png" id="217" name="Google Shape;2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697480"/>
            <a:ext cx="3063240" cy="77193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7"/>
          <p:cNvSpPr txBox="1"/>
          <p:nvPr/>
        </p:nvSpPr>
        <p:spPr>
          <a:xfrm>
            <a:off x="914400" y="3566160"/>
            <a:ext cx="3063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separability + alignment</a:t>
            </a:r>
            <a:br>
              <a:rPr b="0" i="0" lang="pl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pl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wspólny kierunek live → spoof</a:t>
            </a:r>
            <a:endParaRPr/>
          </a:p>
        </p:txBody>
      </p:sp>
      <p:sp>
        <p:nvSpPr>
          <p:cNvPr id="219" name="Google Shape;219;p27"/>
          <p:cNvSpPr/>
          <p:nvPr/>
        </p:nvSpPr>
        <p:spPr>
          <a:xfrm>
            <a:off x="4617720" y="2240280"/>
            <a:ext cx="3566160" cy="1664208"/>
          </a:xfrm>
          <a:prstGeom prst="roundRect">
            <a:avLst>
              <a:gd fmla="val 16667" name="adj"/>
            </a:avLst>
          </a:prstGeom>
          <a:solidFill>
            <a:srgbClr val="157494"/>
          </a:solidFill>
          <a:ln cap="flat" cmpd="sng" w="15225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7"/>
          <p:cNvSpPr txBox="1"/>
          <p:nvPr/>
        </p:nvSpPr>
        <p:spPr>
          <a:xfrm>
            <a:off x="4782312" y="237744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GAC-FAS</a:t>
            </a:r>
            <a:endParaRPr/>
          </a:p>
        </p:txBody>
      </p:sp>
      <p:pic>
        <p:nvPicPr>
          <p:cNvPr descr="image.png" id="221" name="Google Shape;22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2312" y="2697480"/>
            <a:ext cx="3063240" cy="78418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7"/>
          <p:cNvSpPr txBox="1"/>
          <p:nvPr/>
        </p:nvSpPr>
        <p:spPr>
          <a:xfrm>
            <a:off x="4782312" y="3566160"/>
            <a:ext cx="3063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alignowanie generalization gradients</a:t>
            </a:r>
            <a:br>
              <a:rPr b="0" i="0" lang="pl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pl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z gradientem ERM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pl" sz="2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Jak model aktualizuje swoje wagi?</a:t>
            </a:r>
            <a:endParaRPr/>
          </a:p>
        </p:txBody>
      </p:sp>
      <p:sp>
        <p:nvSpPr>
          <p:cNvPr id="228" name="Google Shape;228;p28"/>
          <p:cNvSpPr/>
          <p:nvPr/>
        </p:nvSpPr>
        <p:spPr>
          <a:xfrm>
            <a:off x="484632" y="1252728"/>
            <a:ext cx="420624" cy="32004"/>
          </a:xfrm>
          <a:prstGeom prst="rect">
            <a:avLst/>
          </a:prstGeom>
          <a:solidFill>
            <a:srgbClr val="00B1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8"/>
          <p:cNvSpPr txBox="1"/>
          <p:nvPr/>
        </p:nvSpPr>
        <p:spPr>
          <a:xfrm>
            <a:off x="594360" y="1417320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Podczas treningu model minimalizuje funkcję straty (loss).</a:t>
            </a:r>
            <a:endParaRPr/>
          </a:p>
        </p:txBody>
      </p:sp>
      <p:sp>
        <p:nvSpPr>
          <p:cNvPr id="230" name="Google Shape;230;p28"/>
          <p:cNvSpPr txBox="1"/>
          <p:nvPr/>
        </p:nvSpPr>
        <p:spPr>
          <a:xfrm>
            <a:off x="594360" y="1709928"/>
            <a:ext cx="7543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600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  <a:t>Gradient mówi nam, w którym kierunku zmienić parametry modelu, aby zmniejszyć błąd.</a:t>
            </a:r>
            <a:endParaRPr/>
          </a:p>
        </p:txBody>
      </p:sp>
      <p:sp>
        <p:nvSpPr>
          <p:cNvPr id="231" name="Google Shape;231;p28"/>
          <p:cNvSpPr/>
          <p:nvPr/>
        </p:nvSpPr>
        <p:spPr>
          <a:xfrm>
            <a:off x="658368" y="2148840"/>
            <a:ext cx="7543800" cy="1024128"/>
          </a:xfrm>
          <a:prstGeom prst="roundRect">
            <a:avLst>
              <a:gd fmla="val 16667" name="adj"/>
            </a:avLst>
          </a:prstGeom>
          <a:solidFill>
            <a:srgbClr val="146F8F"/>
          </a:solidFill>
          <a:ln cap="flat" cmpd="sng" w="15225">
            <a:solidFill>
              <a:srgbClr val="74C1D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8"/>
          <p:cNvSpPr/>
          <p:nvPr/>
        </p:nvSpPr>
        <p:spPr>
          <a:xfrm>
            <a:off x="896112" y="2359152"/>
            <a:ext cx="1298448" cy="585216"/>
          </a:xfrm>
          <a:prstGeom prst="roundRect">
            <a:avLst>
              <a:gd fmla="val 16667" name="adj"/>
            </a:avLst>
          </a:prstGeom>
          <a:solidFill>
            <a:srgbClr val="DAF0F8"/>
          </a:solidFill>
          <a:ln cap="flat" cmpd="sng" w="12700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280" u="none" cap="none" strike="noStrike">
                <a:solidFill>
                  <a:srgbClr val="0A2E40"/>
                </a:solidFill>
                <a:latin typeface="Roboto"/>
                <a:ea typeface="Roboto"/>
                <a:cs typeface="Roboto"/>
                <a:sym typeface="Roboto"/>
              </a:rPr>
              <a:t>Aktualne wagi</a:t>
            </a:r>
            <a:br>
              <a:rPr b="1" i="0" lang="pl" sz="1280" u="none" cap="none" strike="noStrike">
                <a:solidFill>
                  <a:srgbClr val="0A2E4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pl" sz="1280" u="none" cap="none" strike="noStrike">
                <a:solidFill>
                  <a:srgbClr val="0A2E40"/>
                </a:solidFill>
                <a:latin typeface="Roboto"/>
                <a:ea typeface="Roboto"/>
                <a:cs typeface="Roboto"/>
                <a:sym typeface="Roboto"/>
              </a:rPr>
              <a:t>θ</a:t>
            </a:r>
            <a:endParaRPr/>
          </a:p>
        </p:txBody>
      </p:sp>
      <p:cxnSp>
        <p:nvCxnSpPr>
          <p:cNvPr id="233" name="Google Shape;233;p28"/>
          <p:cNvCxnSpPr/>
          <p:nvPr/>
        </p:nvCxnSpPr>
        <p:spPr>
          <a:xfrm>
            <a:off x="2267712" y="2660904"/>
            <a:ext cx="493776" cy="0"/>
          </a:xfrm>
          <a:prstGeom prst="straightConnector1">
            <a:avLst/>
          </a:prstGeom>
          <a:noFill/>
          <a:ln cap="flat" cmpd="sng" w="27925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4" name="Google Shape;234;p28"/>
          <p:cNvSpPr/>
          <p:nvPr/>
        </p:nvSpPr>
        <p:spPr>
          <a:xfrm>
            <a:off x="2807208" y="2359152"/>
            <a:ext cx="1481328" cy="585216"/>
          </a:xfrm>
          <a:prstGeom prst="roundRect">
            <a:avLst>
              <a:gd fmla="val 16667" name="adj"/>
            </a:avLst>
          </a:prstGeom>
          <a:solidFill>
            <a:srgbClr val="DAF0F8"/>
          </a:solidFill>
          <a:ln cap="flat" cmpd="sng" w="12700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280" u="none" cap="none" strike="noStrike">
                <a:solidFill>
                  <a:srgbClr val="0A2E40"/>
                </a:solidFill>
                <a:latin typeface="Roboto"/>
                <a:ea typeface="Roboto"/>
                <a:cs typeface="Roboto"/>
                <a:sym typeface="Roboto"/>
              </a:rPr>
              <a:t>Liczymy gradient</a:t>
            </a:r>
            <a:br>
              <a:rPr b="1" i="0" lang="pl" sz="1280" u="none" cap="none" strike="noStrike">
                <a:solidFill>
                  <a:srgbClr val="0A2E4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pl" sz="1280" u="none" cap="none" strike="noStrike">
                <a:solidFill>
                  <a:srgbClr val="0A2E40"/>
                </a:solidFill>
                <a:latin typeface="Roboto"/>
                <a:ea typeface="Roboto"/>
                <a:cs typeface="Roboto"/>
                <a:sym typeface="Roboto"/>
              </a:rPr>
              <a:t>∇L(θ)</a:t>
            </a:r>
            <a:endParaRPr/>
          </a:p>
        </p:txBody>
      </p:sp>
      <p:cxnSp>
        <p:nvCxnSpPr>
          <p:cNvPr id="235" name="Google Shape;235;p28"/>
          <p:cNvCxnSpPr/>
          <p:nvPr/>
        </p:nvCxnSpPr>
        <p:spPr>
          <a:xfrm>
            <a:off x="4361688" y="2660904"/>
            <a:ext cx="484632" cy="0"/>
          </a:xfrm>
          <a:prstGeom prst="straightConnector1">
            <a:avLst/>
          </a:prstGeom>
          <a:noFill/>
          <a:ln cap="flat" cmpd="sng" w="27925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6" name="Google Shape;236;p28"/>
          <p:cNvSpPr/>
          <p:nvPr/>
        </p:nvSpPr>
        <p:spPr>
          <a:xfrm>
            <a:off x="4892040" y="2359152"/>
            <a:ext cx="1463040" cy="585216"/>
          </a:xfrm>
          <a:prstGeom prst="roundRect">
            <a:avLst>
              <a:gd fmla="val 16667" name="adj"/>
            </a:avLst>
          </a:prstGeom>
          <a:solidFill>
            <a:srgbClr val="DAF0F8"/>
          </a:solidFill>
          <a:ln cap="flat" cmpd="sng" w="12700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280" u="none" cap="none" strike="noStrike">
                <a:solidFill>
                  <a:srgbClr val="0A2E40"/>
                </a:solidFill>
                <a:latin typeface="Roboto"/>
                <a:ea typeface="Roboto"/>
                <a:cs typeface="Roboto"/>
                <a:sym typeface="Roboto"/>
              </a:rPr>
              <a:t>Krok</a:t>
            </a:r>
            <a:br>
              <a:rPr b="1" i="0" lang="pl" sz="1280" u="none" cap="none" strike="noStrike">
                <a:solidFill>
                  <a:srgbClr val="0A2E4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pl" sz="1280" u="none" cap="none" strike="noStrike">
                <a:solidFill>
                  <a:srgbClr val="0A2E40"/>
                </a:solidFill>
                <a:latin typeface="Roboto"/>
                <a:ea typeface="Roboto"/>
                <a:cs typeface="Roboto"/>
                <a:sym typeface="Roboto"/>
              </a:rPr>
              <a:t>optymalizatora</a:t>
            </a:r>
            <a:endParaRPr/>
          </a:p>
        </p:txBody>
      </p:sp>
      <p:cxnSp>
        <p:nvCxnSpPr>
          <p:cNvPr id="237" name="Google Shape;237;p28"/>
          <p:cNvCxnSpPr/>
          <p:nvPr/>
        </p:nvCxnSpPr>
        <p:spPr>
          <a:xfrm>
            <a:off x="6428232" y="2660904"/>
            <a:ext cx="475488" cy="0"/>
          </a:xfrm>
          <a:prstGeom prst="straightConnector1">
            <a:avLst/>
          </a:prstGeom>
          <a:noFill/>
          <a:ln cap="flat" cmpd="sng" w="27925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8" name="Google Shape;238;p28"/>
          <p:cNvSpPr/>
          <p:nvPr/>
        </p:nvSpPr>
        <p:spPr>
          <a:xfrm>
            <a:off x="6949440" y="2359152"/>
            <a:ext cx="1024128" cy="585216"/>
          </a:xfrm>
          <a:prstGeom prst="roundRect">
            <a:avLst>
              <a:gd fmla="val 16667" name="adj"/>
            </a:avLst>
          </a:prstGeom>
          <a:solidFill>
            <a:srgbClr val="DAF0F8"/>
          </a:solidFill>
          <a:ln cap="flat" cmpd="sng" w="12700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280" u="none" cap="none" strike="noStrike">
                <a:solidFill>
                  <a:srgbClr val="0A2E40"/>
                </a:solidFill>
                <a:latin typeface="Roboto"/>
                <a:ea typeface="Roboto"/>
                <a:cs typeface="Roboto"/>
                <a:sym typeface="Roboto"/>
              </a:rPr>
              <a:t>Nowe wagi</a:t>
            </a:r>
            <a:br>
              <a:rPr b="1" i="0" lang="pl" sz="1280" u="none" cap="none" strike="noStrike">
                <a:solidFill>
                  <a:srgbClr val="0A2E4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pl" sz="1280" u="none" cap="none" strike="noStrike">
                <a:solidFill>
                  <a:srgbClr val="0A2E40"/>
                </a:solidFill>
                <a:latin typeface="Roboto"/>
                <a:ea typeface="Roboto"/>
                <a:cs typeface="Roboto"/>
                <a:sym typeface="Roboto"/>
              </a:rPr>
              <a:t>θ'</a:t>
            </a:r>
            <a:endParaRPr/>
          </a:p>
        </p:txBody>
      </p:sp>
      <p:sp>
        <p:nvSpPr>
          <p:cNvPr id="239" name="Google Shape;239;p28"/>
          <p:cNvSpPr txBox="1"/>
          <p:nvPr/>
        </p:nvSpPr>
        <p:spPr>
          <a:xfrm>
            <a:off x="3154680" y="2971800"/>
            <a:ext cx="2788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140" u="none" cap="none" strike="noStrike">
                <a:solidFill>
                  <a:srgbClr val="C7E0EB"/>
                </a:solidFill>
                <a:latin typeface="Roboto"/>
                <a:ea typeface="Roboto"/>
                <a:cs typeface="Roboto"/>
                <a:sym typeface="Roboto"/>
              </a:rPr>
              <a:t>θ' = θ − η · ∇L(θ)</a:t>
            </a:r>
            <a:endParaRPr/>
          </a:p>
        </p:txBody>
      </p:sp>
      <p:sp>
        <p:nvSpPr>
          <p:cNvPr id="240" name="Google Shape;240;p28"/>
          <p:cNvSpPr txBox="1"/>
          <p:nvPr/>
        </p:nvSpPr>
        <p:spPr>
          <a:xfrm>
            <a:off x="713232" y="3383280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42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co, gdy mamy kilka domen?</a:t>
            </a:r>
            <a:endParaRPr/>
          </a:p>
        </p:txBody>
      </p:sp>
      <p:sp>
        <p:nvSpPr>
          <p:cNvPr id="241" name="Google Shape;241;p28"/>
          <p:cNvSpPr/>
          <p:nvPr/>
        </p:nvSpPr>
        <p:spPr>
          <a:xfrm>
            <a:off x="713232" y="3657600"/>
            <a:ext cx="4800600" cy="786384"/>
          </a:xfrm>
          <a:prstGeom prst="roundRect">
            <a:avLst>
              <a:gd fmla="val 16667" name="adj"/>
            </a:avLst>
          </a:prstGeom>
          <a:solidFill>
            <a:srgbClr val="146F8F"/>
          </a:solidFill>
          <a:ln cap="flat" cmpd="sng" w="13950">
            <a:solidFill>
              <a:srgbClr val="74C1D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8"/>
          <p:cNvSpPr txBox="1"/>
          <p:nvPr/>
        </p:nvSpPr>
        <p:spPr>
          <a:xfrm>
            <a:off x="1005840" y="370332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12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Domena 1</a:t>
            </a:r>
            <a:endParaRPr/>
          </a:p>
        </p:txBody>
      </p:sp>
      <p:cxnSp>
        <p:nvCxnSpPr>
          <p:cNvPr id="243" name="Google Shape;243;p28"/>
          <p:cNvCxnSpPr/>
          <p:nvPr/>
        </p:nvCxnSpPr>
        <p:spPr>
          <a:xfrm flipH="1" rot="10800000">
            <a:off x="1097280" y="3867911"/>
            <a:ext cx="640080" cy="219457"/>
          </a:xfrm>
          <a:prstGeom prst="straightConnector1">
            <a:avLst/>
          </a:prstGeom>
          <a:noFill/>
          <a:ln cap="flat" cmpd="sng" w="40625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4" name="Google Shape;244;p28"/>
          <p:cNvSpPr txBox="1"/>
          <p:nvPr/>
        </p:nvSpPr>
        <p:spPr>
          <a:xfrm>
            <a:off x="2331720" y="370332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12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Domena 2</a:t>
            </a:r>
            <a:endParaRPr/>
          </a:p>
        </p:txBody>
      </p:sp>
      <p:cxnSp>
        <p:nvCxnSpPr>
          <p:cNvPr id="245" name="Google Shape;245;p28"/>
          <p:cNvCxnSpPr/>
          <p:nvPr/>
        </p:nvCxnSpPr>
        <p:spPr>
          <a:xfrm>
            <a:off x="2423160" y="4087368"/>
            <a:ext cx="640079" cy="0"/>
          </a:xfrm>
          <a:prstGeom prst="straightConnector1">
            <a:avLst/>
          </a:prstGeom>
          <a:noFill/>
          <a:ln cap="flat" cmpd="sng" w="40625">
            <a:solidFill>
              <a:srgbClr val="FFC9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6" name="Google Shape;246;p28"/>
          <p:cNvSpPr txBox="1"/>
          <p:nvPr/>
        </p:nvSpPr>
        <p:spPr>
          <a:xfrm>
            <a:off x="3657600" y="370332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12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Domena 3</a:t>
            </a:r>
            <a:endParaRPr/>
          </a:p>
        </p:txBody>
      </p:sp>
      <p:cxnSp>
        <p:nvCxnSpPr>
          <p:cNvPr id="247" name="Google Shape;247;p28"/>
          <p:cNvCxnSpPr/>
          <p:nvPr/>
        </p:nvCxnSpPr>
        <p:spPr>
          <a:xfrm>
            <a:off x="3749039" y="4087368"/>
            <a:ext cx="640081" cy="219456"/>
          </a:xfrm>
          <a:prstGeom prst="straightConnector1">
            <a:avLst/>
          </a:prstGeom>
          <a:noFill/>
          <a:ln cap="flat" cmpd="sng" w="40625">
            <a:solidFill>
              <a:srgbClr val="67CD9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8" name="Google Shape;248;p28"/>
          <p:cNvSpPr txBox="1"/>
          <p:nvPr/>
        </p:nvSpPr>
        <p:spPr>
          <a:xfrm>
            <a:off x="4526280" y="3858768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150" u="none" cap="none" strike="noStrike">
                <a:solidFill>
                  <a:srgbClr val="C7E0EB"/>
                </a:solidFill>
                <a:latin typeface="Roboto"/>
                <a:ea typeface="Roboto"/>
                <a:cs typeface="Roboto"/>
                <a:sym typeface="Roboto"/>
              </a:rPr>
              <a:t>różne</a:t>
            </a:r>
            <a:br>
              <a:rPr b="1" i="0" lang="pl" sz="1150" u="none" cap="none" strike="noStrike">
                <a:solidFill>
                  <a:srgbClr val="C7E0EB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pl" sz="1150" u="none" cap="none" strike="noStrike">
                <a:solidFill>
                  <a:srgbClr val="C7E0EB"/>
                </a:solidFill>
                <a:latin typeface="Roboto"/>
                <a:ea typeface="Roboto"/>
                <a:cs typeface="Roboto"/>
                <a:sym typeface="Roboto"/>
              </a:rPr>
              <a:t>gradienty</a:t>
            </a:r>
            <a:endParaRPr/>
          </a:p>
        </p:txBody>
      </p:sp>
      <p:sp>
        <p:nvSpPr>
          <p:cNvPr id="249" name="Google Shape;249;p28"/>
          <p:cNvSpPr/>
          <p:nvPr/>
        </p:nvSpPr>
        <p:spPr>
          <a:xfrm>
            <a:off x="5715000" y="3520440"/>
            <a:ext cx="2423160" cy="1060704"/>
          </a:xfrm>
          <a:prstGeom prst="roundRect">
            <a:avLst>
              <a:gd fmla="val 16667" name="adj"/>
            </a:avLst>
          </a:prstGeom>
          <a:solidFill>
            <a:srgbClr val="8F5358"/>
          </a:solidFill>
          <a:ln cap="flat" cmpd="sng" w="13950">
            <a:solidFill>
              <a:srgbClr val="F46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8"/>
          <p:cNvSpPr txBox="1"/>
          <p:nvPr/>
        </p:nvSpPr>
        <p:spPr>
          <a:xfrm>
            <a:off x="5925312" y="3621024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Problem</a:t>
            </a:r>
            <a:endParaRPr/>
          </a:p>
        </p:txBody>
      </p:sp>
      <p:sp>
        <p:nvSpPr>
          <p:cNvPr id="251" name="Google Shape;251;p28"/>
          <p:cNvSpPr txBox="1"/>
          <p:nvPr/>
        </p:nvSpPr>
        <p:spPr>
          <a:xfrm>
            <a:off x="5897880" y="3904487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2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Aktualizacja dobra dla jednej domeny może być słaba dla innej.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5A84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 txBox="1"/>
          <p:nvPr/>
        </p:nvSpPr>
        <p:spPr>
          <a:xfrm>
            <a:off x="658368" y="384048"/>
            <a:ext cx="749807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28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Dobry wynik overall ≠ dobra generalizacja</a:t>
            </a:r>
            <a:endParaRPr/>
          </a:p>
        </p:txBody>
      </p:sp>
      <p:sp>
        <p:nvSpPr>
          <p:cNvPr id="257" name="Google Shape;257;p29"/>
          <p:cNvSpPr/>
          <p:nvPr/>
        </p:nvSpPr>
        <p:spPr>
          <a:xfrm>
            <a:off x="676656" y="1024128"/>
            <a:ext cx="384048" cy="36576"/>
          </a:xfrm>
          <a:prstGeom prst="rect">
            <a:avLst/>
          </a:prstGeom>
          <a:solidFill>
            <a:srgbClr val="00B1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9"/>
          <p:cNvSpPr txBox="1"/>
          <p:nvPr/>
        </p:nvSpPr>
        <p:spPr>
          <a:xfrm>
            <a:off x="841248" y="1152144"/>
            <a:ext cx="7223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b="1" i="0" lang="pl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ynik globalny może wyglądać dobrze, choć mniejsza domena jest źle ułożona w feature space.</a:t>
            </a:r>
            <a:endParaRPr/>
          </a:p>
        </p:txBody>
      </p:sp>
      <p:pic>
        <p:nvPicPr>
          <p:cNvPr id="259" name="Google Shape;259;p29" title="Screenshot 2026-09-23 at 18.04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27744"/>
            <a:ext cx="8839204" cy="2516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l" sz="30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SA-FAS — projected gradients</a:t>
            </a:r>
            <a:endParaRPr/>
          </a:p>
        </p:txBody>
      </p:sp>
      <p:sp>
        <p:nvSpPr>
          <p:cNvPr id="265" name="Google Shape;265;p30"/>
          <p:cNvSpPr txBox="1"/>
          <p:nvPr/>
        </p:nvSpPr>
        <p:spPr>
          <a:xfrm>
            <a:off x="566928" y="1389888"/>
            <a:ext cx="7452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63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SA-FAS zachowuje domeny w feature space, ale chce, aby relacja live → spoof była zgodna między domenami.</a:t>
            </a:r>
            <a:endParaRPr/>
          </a:p>
        </p:txBody>
      </p:sp>
      <p:pic>
        <p:nvPicPr>
          <p:cNvPr descr="web_image_da1fb1b6b50b.png" id="266" name="Google Shape;26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136" y="1942990"/>
            <a:ext cx="6812280" cy="171669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0"/>
          <p:cNvSpPr/>
          <p:nvPr/>
        </p:nvSpPr>
        <p:spPr>
          <a:xfrm>
            <a:off x="863980" y="3847032"/>
            <a:ext cx="2030100" cy="658500"/>
          </a:xfrm>
          <a:prstGeom prst="roundRect">
            <a:avLst>
              <a:gd fmla="val 16667" name="adj"/>
            </a:avLst>
          </a:prstGeom>
          <a:solidFill>
            <a:srgbClr val="157494"/>
          </a:solidFill>
          <a:ln cap="flat" cmpd="sng" w="15225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0"/>
          <p:cNvSpPr txBox="1"/>
          <p:nvPr/>
        </p:nvSpPr>
        <p:spPr>
          <a:xfrm>
            <a:off x="909700" y="3901896"/>
            <a:ext cx="19386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1. Separability</a:t>
            </a:r>
            <a:endParaRPr/>
          </a:p>
        </p:txBody>
      </p:sp>
      <p:sp>
        <p:nvSpPr>
          <p:cNvPr id="269" name="Google Shape;269;p30"/>
          <p:cNvSpPr txBox="1"/>
          <p:nvPr/>
        </p:nvSpPr>
        <p:spPr>
          <a:xfrm>
            <a:off x="937132" y="4093920"/>
            <a:ext cx="18837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019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  <a:t>domeny i klasy są rozdzielone</a:t>
            </a:r>
            <a:endParaRPr/>
          </a:p>
        </p:txBody>
      </p:sp>
      <p:sp>
        <p:nvSpPr>
          <p:cNvPr id="270" name="Google Shape;270;p30"/>
          <p:cNvSpPr/>
          <p:nvPr/>
        </p:nvSpPr>
        <p:spPr>
          <a:xfrm>
            <a:off x="3168268" y="3847032"/>
            <a:ext cx="2030100" cy="658500"/>
          </a:xfrm>
          <a:prstGeom prst="roundRect">
            <a:avLst>
              <a:gd fmla="val 16667" name="adj"/>
            </a:avLst>
          </a:prstGeom>
          <a:solidFill>
            <a:srgbClr val="157494"/>
          </a:solidFill>
          <a:ln cap="flat" cmpd="sng" w="15225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0"/>
          <p:cNvSpPr txBox="1"/>
          <p:nvPr/>
        </p:nvSpPr>
        <p:spPr>
          <a:xfrm>
            <a:off x="3213988" y="3901896"/>
            <a:ext cx="19386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2. Alignment</a:t>
            </a:r>
            <a:endParaRPr/>
          </a:p>
        </p:txBody>
      </p:sp>
      <p:sp>
        <p:nvSpPr>
          <p:cNvPr id="272" name="Google Shape;272;p30"/>
          <p:cNvSpPr txBox="1"/>
          <p:nvPr/>
        </p:nvSpPr>
        <p:spPr>
          <a:xfrm>
            <a:off x="3241420" y="4093920"/>
            <a:ext cx="18837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019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  <a:t>przejście live → spoof ma podobny kierunek</a:t>
            </a:r>
            <a:endParaRPr/>
          </a:p>
        </p:txBody>
      </p:sp>
      <p:sp>
        <p:nvSpPr>
          <p:cNvPr id="273" name="Google Shape;273;p30"/>
          <p:cNvSpPr/>
          <p:nvPr/>
        </p:nvSpPr>
        <p:spPr>
          <a:xfrm>
            <a:off x="5463412" y="3847032"/>
            <a:ext cx="2030100" cy="658500"/>
          </a:xfrm>
          <a:prstGeom prst="roundRect">
            <a:avLst>
              <a:gd fmla="val 16667" name="adj"/>
            </a:avLst>
          </a:prstGeom>
          <a:solidFill>
            <a:srgbClr val="157494"/>
          </a:solidFill>
          <a:ln cap="flat" cmpd="sng" w="15225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0"/>
          <p:cNvSpPr txBox="1"/>
          <p:nvPr/>
        </p:nvSpPr>
        <p:spPr>
          <a:xfrm>
            <a:off x="5509132" y="3901896"/>
            <a:ext cx="19386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3. PG-IRM</a:t>
            </a:r>
            <a:endParaRPr/>
          </a:p>
        </p:txBody>
      </p:sp>
      <p:sp>
        <p:nvSpPr>
          <p:cNvPr id="275" name="Google Shape;275;p30"/>
          <p:cNvSpPr txBox="1"/>
          <p:nvPr/>
        </p:nvSpPr>
        <p:spPr>
          <a:xfrm>
            <a:off x="5536564" y="4093920"/>
            <a:ext cx="1883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919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  <a:t>po SGD klasyfikatory domenowe są projekcyjnie przybliżane</a:t>
            </a:r>
            <a:endParaRPr sz="13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l" sz="30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GAC-FAS — alignowanie gradientów</a:t>
            </a:r>
            <a:endParaRPr/>
          </a:p>
        </p:txBody>
      </p:sp>
      <p:sp>
        <p:nvSpPr>
          <p:cNvPr id="281" name="Google Shape;281;p31"/>
          <p:cNvSpPr txBox="1"/>
          <p:nvPr/>
        </p:nvSpPr>
        <p:spPr>
          <a:xfrm>
            <a:off x="566928" y="1389888"/>
            <a:ext cx="7452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GAC-FAS patrzy na geometrię lossu i reguluje gradienty tak, aby aktualizacje z różnych domen wskazywały spójny kierunek.</a:t>
            </a:r>
            <a:endParaRPr/>
          </a:p>
        </p:txBody>
      </p:sp>
      <p:pic>
        <p:nvPicPr>
          <p:cNvPr descr="web_image_fcee5b2de272.png" id="282" name="Google Shape;28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086" y="1891477"/>
            <a:ext cx="7269480" cy="1860987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1"/>
          <p:cNvSpPr/>
          <p:nvPr/>
        </p:nvSpPr>
        <p:spPr>
          <a:xfrm>
            <a:off x="872587" y="3888308"/>
            <a:ext cx="2084700" cy="786300"/>
          </a:xfrm>
          <a:prstGeom prst="roundRect">
            <a:avLst>
              <a:gd fmla="val 16667" name="adj"/>
            </a:avLst>
          </a:prstGeom>
          <a:solidFill>
            <a:srgbClr val="157494"/>
          </a:solidFill>
          <a:ln cap="flat" cmpd="sng" w="15225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1"/>
          <p:cNvSpPr txBox="1"/>
          <p:nvPr/>
        </p:nvSpPr>
        <p:spPr>
          <a:xfrm>
            <a:off x="927451" y="3943172"/>
            <a:ext cx="19752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26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1. Ascending point</a:t>
            </a:r>
            <a:endParaRPr/>
          </a:p>
        </p:txBody>
      </p:sp>
      <p:sp>
        <p:nvSpPr>
          <p:cNvPr id="285" name="Google Shape;285;p31"/>
          <p:cNvSpPr txBox="1"/>
          <p:nvPr/>
        </p:nvSpPr>
        <p:spPr>
          <a:xfrm>
            <a:off x="964027" y="4126052"/>
            <a:ext cx="19020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000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  <a:t>dla każdej domeny liczymy własny „trudny” punkt θ+εᵢ</a:t>
            </a:r>
            <a:endParaRPr/>
          </a:p>
        </p:txBody>
      </p:sp>
      <p:sp>
        <p:nvSpPr>
          <p:cNvPr id="286" name="Google Shape;286;p31"/>
          <p:cNvSpPr/>
          <p:nvPr/>
        </p:nvSpPr>
        <p:spPr>
          <a:xfrm>
            <a:off x="3268315" y="3888308"/>
            <a:ext cx="2084700" cy="786300"/>
          </a:xfrm>
          <a:prstGeom prst="roundRect">
            <a:avLst>
              <a:gd fmla="val 16667" name="adj"/>
            </a:avLst>
          </a:prstGeom>
          <a:solidFill>
            <a:srgbClr val="157494"/>
          </a:solidFill>
          <a:ln cap="flat" cmpd="sng" w="15225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1"/>
          <p:cNvSpPr txBox="1"/>
          <p:nvPr/>
        </p:nvSpPr>
        <p:spPr>
          <a:xfrm>
            <a:off x="3323179" y="3943172"/>
            <a:ext cx="19752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26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2. Gradient w tym punkcie</a:t>
            </a:r>
            <a:endParaRPr/>
          </a:p>
        </p:txBody>
      </p:sp>
      <p:sp>
        <p:nvSpPr>
          <p:cNvPr id="288" name="Google Shape;288;p31"/>
          <p:cNvSpPr txBox="1"/>
          <p:nvPr/>
        </p:nvSpPr>
        <p:spPr>
          <a:xfrm>
            <a:off x="3359755" y="4126052"/>
            <a:ext cx="19020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000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  <a:t>sprawdzamy, jak wygląda aktualizacja wynikająca z perturbacji tej domeny</a:t>
            </a:r>
            <a:endParaRPr/>
          </a:p>
        </p:txBody>
      </p:sp>
      <p:sp>
        <p:nvSpPr>
          <p:cNvPr id="289" name="Google Shape;289;p31"/>
          <p:cNvSpPr/>
          <p:nvPr/>
        </p:nvSpPr>
        <p:spPr>
          <a:xfrm>
            <a:off x="5664043" y="3888308"/>
            <a:ext cx="2084700" cy="786300"/>
          </a:xfrm>
          <a:prstGeom prst="roundRect">
            <a:avLst>
              <a:gd fmla="val 16667" name="adj"/>
            </a:avLst>
          </a:prstGeom>
          <a:solidFill>
            <a:srgbClr val="157494"/>
          </a:solidFill>
          <a:ln cap="flat" cmpd="sng" w="15225">
            <a:solidFill>
              <a:srgbClr val="00B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1"/>
          <p:cNvSpPr txBox="1"/>
          <p:nvPr/>
        </p:nvSpPr>
        <p:spPr>
          <a:xfrm>
            <a:off x="5718906" y="3943172"/>
            <a:ext cx="19752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26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3. Alignment z ERM</a:t>
            </a:r>
            <a:endParaRPr/>
          </a:p>
        </p:txBody>
      </p:sp>
      <p:sp>
        <p:nvSpPr>
          <p:cNvPr id="291" name="Google Shape;291;p31"/>
          <p:cNvSpPr txBox="1"/>
          <p:nvPr/>
        </p:nvSpPr>
        <p:spPr>
          <a:xfrm>
            <a:off x="5755482" y="4126052"/>
            <a:ext cx="19020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000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  <a:t>gradient jest regulowany tak, aby był zgodny z kierunkiem gERM</a:t>
            </a:r>
            <a:endParaRPr/>
          </a:p>
        </p:txBody>
      </p:sp>
      <p:sp>
        <p:nvSpPr>
          <p:cNvPr id="292" name="Google Shape;292;p31"/>
          <p:cNvSpPr txBox="1"/>
          <p:nvPr/>
        </p:nvSpPr>
        <p:spPr>
          <a:xfrm>
            <a:off x="726283" y="4692980"/>
            <a:ext cx="7479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" sz="1100" u="none" cap="none" strike="noStrike">
                <a:solidFill>
                  <a:srgbClr val="DAF0F8"/>
                </a:solidFill>
                <a:latin typeface="Roboto"/>
                <a:ea typeface="Roboto"/>
                <a:cs typeface="Roboto"/>
                <a:sym typeface="Roboto"/>
              </a:rPr>
              <a:t>Cel: nie tylko niski loss, ale też płaski i stabilny region, w którym aktualizacje z różnych domen nie są ze sobą sprzeczne.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5A84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/>
          <p:nvPr/>
        </p:nvSpPr>
        <p:spPr>
          <a:xfrm>
            <a:off x="868680" y="1325880"/>
            <a:ext cx="502920" cy="45720"/>
          </a:xfrm>
          <a:prstGeom prst="rect">
            <a:avLst/>
          </a:prstGeom>
          <a:solidFill>
            <a:srgbClr val="00B1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2"/>
          <p:cNvSpPr txBox="1"/>
          <p:nvPr/>
        </p:nvSpPr>
        <p:spPr>
          <a:xfrm>
            <a:off x="822960" y="914400"/>
            <a:ext cx="749807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30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Dziękuję za uwagę!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